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03120"/>
            <a:ext cx="10058400" cy="1554480"/>
          </a:xfrm>
          <a:prstGeom prst="rect">
            <a:avLst/>
          </a:prstGeom>
          <a:noFill/>
        </p:spPr>
        <p:txBody>
          <a:bodyPr wrap="square" lIns="0" rIns="0" tIns="0" bIns="0">
            <a:spAutoFit/>
          </a:bodyPr>
          <a:lstStyle/>
          <a:p>
            <a:pPr algn="l">
              <a:lnSpc>
                <a:spcPct val="120000"/>
              </a:lnSpc>
              <a:spcAft>
                <a:spcPts val="600"/>
              </a:spcAft>
            </a:pPr>
            <a:r>
              <a:rPr sz="4200" b="1">
                <a:solidFill>
                  <a:srgbClr val="FFFFFF"/>
                </a:solidFill>
                <a:latin typeface="Cambria"/>
              </a:rPr>
              <a:t>Generative AI,
kept behind a verifier</a:t>
            </a:r>
          </a:p>
        </p:txBody>
      </p:sp>
      <p:sp>
        <p:nvSpPr>
          <p:cNvPr id="4" name="TextBox 3"/>
          <p:cNvSpPr txBox="1"/>
          <p:nvPr/>
        </p:nvSpPr>
        <p:spPr>
          <a:xfrm>
            <a:off x="566928" y="4023360"/>
            <a:ext cx="987552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Step 9, the bonus. </a:t>
            </a:r>
            <a:r>
              <a:rPr sz="1900" b="0">
                <a:solidFill>
                  <a:srgbClr val="CFCFCF"/>
                </a:solidFill>
                <a:latin typeface="Calibri"/>
              </a:rPr>
              <a:t>Turning a number a tutor cannot read into a sentence they can act on.</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The explanation layer for the dropout model, and the check that makes it safe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A tutor cannot read a SHAP value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This is everything the model knows about one flagged student, and it has to become two plain sentences.</a:t>
            </a:r>
          </a:p>
        </p:txBody>
      </p:sp>
      <p:sp>
        <p:nvSpPr>
          <p:cNvPr id="4" name="Rectangle 3"/>
          <p:cNvSpPr/>
          <p:nvPr/>
        </p:nvSpPr>
        <p:spPr>
          <a:xfrm>
            <a:off x="566928" y="1828800"/>
            <a:ext cx="6035040" cy="246888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300" b="1">
                <a:solidFill>
                  <a:srgbClr val="1A1A1A"/>
                </a:solidFill>
                <a:latin typeface="Courier New"/>
              </a:rPr>
              <a:t>Tuition fees up to date    +2.50</a:t>
            </a:r>
          </a:p>
          <a:p>
            <a:pPr algn="l">
              <a:spcAft>
                <a:spcPts val="100"/>
              </a:spcAft>
            </a:pPr>
            <a:r>
              <a:rPr sz="1300" b="1">
                <a:solidFill>
                  <a:srgbClr val="1A1A1A"/>
                </a:solidFill>
                <a:latin typeface="Courier New"/>
              </a:rPr>
              <a:t>Course                     +1.98</a:t>
            </a:r>
          </a:p>
          <a:p>
            <a:pPr algn="l">
              <a:spcAft>
                <a:spcPts val="100"/>
              </a:spcAft>
            </a:pPr>
            <a:r>
              <a:rPr sz="1300" b="1">
                <a:solidFill>
                  <a:srgbClr val="1A1A1A"/>
                </a:solidFill>
                <a:latin typeface="Courier New"/>
              </a:rPr>
              <a:t>mother's occupation        +1.54</a:t>
            </a:r>
          </a:p>
          <a:p>
            <a:pPr algn="l">
              <a:spcAft>
                <a:spcPts val="100"/>
              </a:spcAft>
            </a:pPr>
            <a:r>
              <a:rPr sz="1300" b="1">
                <a:solidFill>
                  <a:srgbClr val="1A1A1A"/>
                </a:solidFill>
                <a:latin typeface="Courier New"/>
              </a:rPr>
              <a:t>Admission grade            +0.71</a:t>
            </a:r>
          </a:p>
          <a:p>
            <a:pPr algn="l">
              <a:spcAft>
                <a:spcPts val="400"/>
              </a:spcAft>
            </a:pPr>
            <a:r>
              <a:rPr sz="1300" b="1">
                <a:solidFill>
                  <a:srgbClr val="1A1A1A"/>
                </a:solidFill>
                <a:latin typeface="Courier New"/>
              </a:rPr>
              <a:t>mature entry               +0.68</a:t>
            </a:r>
          </a:p>
          <a:p>
            <a:pPr algn="l"/>
            <a:r>
              <a:rPr sz="1100">
                <a:solidFill>
                  <a:srgbClr val="595959"/>
                </a:solidFill>
                <a:latin typeface="Calibri"/>
              </a:rPr>
              <a:t>The top drivers behind one student's risk score, straight from Step 5.</a:t>
            </a:r>
          </a:p>
        </p:txBody>
      </p:sp>
      <p:sp>
        <p:nvSpPr>
          <p:cNvPr id="5" name="TextBox 4"/>
          <p:cNvSpPr txBox="1"/>
          <p:nvPr/>
        </p:nvSpPr>
        <p:spPr>
          <a:xfrm>
            <a:off x="7315200" y="2011680"/>
            <a:ext cx="4297680" cy="2743200"/>
          </a:xfrm>
          <a:prstGeom prst="rect">
            <a:avLst/>
          </a:prstGeom>
          <a:noFill/>
        </p:spPr>
        <p:txBody>
          <a:bodyPr wrap="square" lIns="0" rIns="0" tIns="0" bIns="0">
            <a:spAutoFit/>
          </a:bodyPr>
          <a:lstStyle/>
          <a:p>
            <a:pPr algn="l">
              <a:lnSpc>
                <a:spcPct val="135000"/>
              </a:lnSpc>
              <a:spcAft>
                <a:spcPts val="1200"/>
              </a:spcAft>
            </a:pPr>
            <a:r>
              <a:rPr sz="1500" b="1">
                <a:solidFill>
                  <a:srgbClr val="1A1A1A"/>
                </a:solidFill>
                <a:latin typeface="Calibri"/>
              </a:rPr>
              <a:t>A language model can turn this into a note.</a:t>
            </a:r>
          </a:p>
          <a:p>
            <a:pPr algn="l">
              <a:lnSpc>
                <a:spcPct val="135000"/>
              </a:lnSpc>
              <a:spcAft>
                <a:spcPts val="1200"/>
              </a:spcAft>
            </a:pPr>
            <a:r>
              <a:rPr sz="1500" b="1">
                <a:solidFill>
                  <a:srgbClr val="A84B08"/>
                </a:solidFill>
                <a:latin typeface="Calibri"/>
              </a:rPr>
              <a:t>The risk is obvious.</a:t>
            </a:r>
            <a:r>
              <a:rPr sz="1500" b="0">
                <a:solidFill>
                  <a:srgbClr val="595959"/>
                </a:solidFill>
                <a:latin typeface="Calibri"/>
              </a:rPr>
              <a:t> Handed the numbers, it will print a score and name things about a person that Step 5 spent a whole notebook forbidding, so the language model never runs alone and always behind a check.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Ask it with no rules, and it does harm</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This is the naive prompt on that same student, with the forbidden things marked.</a:t>
            </a:r>
          </a:p>
        </p:txBody>
      </p:sp>
      <p:sp>
        <p:nvSpPr>
          <p:cNvPr id="4" name="TextBox 3"/>
          <p:cNvSpPr txBox="1"/>
          <p:nvPr/>
        </p:nvSpPr>
        <p:spPr>
          <a:xfrm>
            <a:off x="566928" y="1783080"/>
            <a:ext cx="7406640" cy="2743200"/>
          </a:xfrm>
          <a:prstGeom prst="rect">
            <a:avLst/>
          </a:prstGeom>
          <a:noFill/>
        </p:spPr>
        <p:txBody>
          <a:bodyPr wrap="square" lIns="0" rIns="0" tIns="0" bIns="0">
            <a:spAutoFit/>
          </a:bodyPr>
          <a:lstStyle/>
          <a:p>
            <a:pPr algn="l">
              <a:lnSpc>
                <a:spcPct val="140000"/>
              </a:lnSpc>
              <a:spcAft>
                <a:spcPts val="600"/>
              </a:spcAft>
            </a:pPr>
            <a:r>
              <a:rPr sz="1700" b="0">
                <a:solidFill>
                  <a:srgbClr val="595959"/>
                </a:solidFill>
                <a:latin typeface="Calibri"/>
              </a:rPr>
              <a:t>It writes that the admission grade is </a:t>
            </a:r>
            <a:r>
              <a:rPr sz="1700" b="1">
                <a:solidFill>
                  <a:srgbClr val="A84B08"/>
                </a:solidFill>
                <a:latin typeface="Calibri"/>
              </a:rPr>
              <a:t>95.1</a:t>
            </a:r>
            <a:r>
              <a:rPr sz="1700" b="0">
                <a:solidFill>
                  <a:srgbClr val="595959"/>
                </a:solidFill>
                <a:latin typeface="Calibri"/>
              </a:rPr>
              <a:t>, that the student is in </a:t>
            </a:r>
            <a:r>
              <a:rPr sz="1700" b="1">
                <a:solidFill>
                  <a:srgbClr val="A84B08"/>
                </a:solidFill>
                <a:latin typeface="Calibri"/>
              </a:rPr>
              <a:t>Course 9119</a:t>
            </a:r>
            <a:r>
              <a:rPr sz="1700" b="0">
                <a:solidFill>
                  <a:srgbClr val="595959"/>
                </a:solidFill>
                <a:latin typeface="Calibri"/>
              </a:rPr>
              <a:t>, and that the mother's occupation code of </a:t>
            </a:r>
            <a:r>
              <a:rPr sz="1700" b="1">
                <a:solidFill>
                  <a:srgbClr val="A84B08"/>
                </a:solidFill>
                <a:latin typeface="Calibri"/>
              </a:rPr>
              <a:t>0</a:t>
            </a:r>
            <a:r>
              <a:rPr sz="1700" b="0">
                <a:solidFill>
                  <a:srgbClr val="595959"/>
                </a:solidFill>
                <a:latin typeface="Calibri"/>
              </a:rPr>
              <a:t> is a proxy for </a:t>
            </a:r>
            <a:r>
              <a:rPr sz="1700" b="1">
                <a:solidFill>
                  <a:srgbClr val="A84B08"/>
                </a:solidFill>
                <a:latin typeface="Calibri"/>
              </a:rPr>
              <a:t>lower socioeconomic status</a:t>
            </a:r>
            <a:r>
              <a:rPr sz="1700" b="0">
                <a:solidFill>
                  <a:srgbClr val="595959"/>
                </a:solidFill>
                <a:latin typeface="Calibri"/>
              </a:rPr>
              <a:t>, and it concludes they are </a:t>
            </a:r>
            <a:r>
              <a:rPr sz="1700" b="1">
                <a:solidFill>
                  <a:srgbClr val="A84B08"/>
                </a:solidFill>
                <a:latin typeface="Calibri"/>
              </a:rPr>
              <a:t>likely</a:t>
            </a:r>
            <a:r>
              <a:rPr sz="1700" b="0">
                <a:solidFill>
                  <a:srgbClr val="595959"/>
                </a:solidFill>
                <a:latin typeface="Calibri"/>
              </a:rPr>
              <a:t> to struggle.</a:t>
            </a:r>
          </a:p>
        </p:txBody>
      </p:sp>
      <p:sp>
        <p:nvSpPr>
          <p:cNvPr id="5" name="TextBox 4"/>
          <p:cNvSpPr txBox="1"/>
          <p:nvPr/>
        </p:nvSpPr>
        <p:spPr>
          <a:xfrm>
            <a:off x="566928" y="4114800"/>
            <a:ext cx="7406640" cy="1463040"/>
          </a:xfrm>
          <a:prstGeom prst="rect">
            <a:avLst/>
          </a:prstGeom>
          <a:noFill/>
        </p:spPr>
        <p:txBody>
          <a:bodyPr wrap="square" lIns="0" rIns="0" tIns="0" bIns="0">
            <a:spAutoFit/>
          </a:bodyPr>
          <a:lstStyle/>
          <a:p>
            <a:pPr algn="l">
              <a:lnSpc>
                <a:spcPct val="130000"/>
              </a:lnSpc>
              <a:spcAft>
                <a:spcPts val="600"/>
              </a:spcAft>
            </a:pPr>
            <a:r>
              <a:rPr sz="1400" b="1">
                <a:solidFill>
                  <a:srgbClr val="1A1A1A"/>
                </a:solidFill>
                <a:latin typeface="Calibri"/>
              </a:rPr>
              <a:t>That is a string of numbers, a course code, and an unearned claim about the student's mother.</a:t>
            </a:r>
            <a:r>
              <a:rPr sz="1400" b="0">
                <a:solidFill>
                  <a:srgbClr val="595959"/>
                </a:solidFill>
                <a:latin typeface="Calibri"/>
              </a:rPr>
              <a:t> On another student the model even named their gender outright, and every one of these is a thing Step 5 forbids.</a:t>
            </a:r>
          </a:p>
        </p:txBody>
      </p:sp>
      <p:sp>
        <p:nvSpPr>
          <p:cNvPr id="6" name="TextBox 5"/>
          <p:cNvSpPr txBox="1"/>
          <p:nvPr/>
        </p:nvSpPr>
        <p:spPr>
          <a:xfrm>
            <a:off x="8412480" y="2194560"/>
            <a:ext cx="3017520" cy="603504"/>
          </a:xfrm>
          <a:prstGeom prst="rect">
            <a:avLst/>
          </a:prstGeom>
          <a:noFill/>
        </p:spPr>
        <p:txBody>
          <a:bodyPr wrap="square" lIns="0" rIns="0" tIns="0" bIns="0">
            <a:spAutoFit/>
          </a:bodyPr>
          <a:lstStyle/>
          <a:p>
            <a:pPr algn="l">
              <a:spcAft>
                <a:spcPts val="0"/>
              </a:spcAft>
            </a:pPr>
            <a:r>
              <a:rPr sz="4400" b="1">
                <a:solidFill>
                  <a:srgbClr val="A84B08"/>
                </a:solidFill>
                <a:latin typeface="Cambria"/>
              </a:rPr>
              <a:t>0 / 5</a:t>
            </a:r>
          </a:p>
        </p:txBody>
      </p:sp>
      <p:sp>
        <p:nvSpPr>
          <p:cNvPr id="7" name="TextBox 6"/>
          <p:cNvSpPr txBox="1"/>
          <p:nvPr/>
        </p:nvSpPr>
        <p:spPr>
          <a:xfrm>
            <a:off x="8412480" y="2764536"/>
            <a:ext cx="301752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notes safe to read to a student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A prompt is a request. The verifier is the control.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Same student, same data. Four rules, and a cell that checks they held.</a:t>
            </a:r>
          </a:p>
        </p:txBody>
      </p:sp>
      <p:sp>
        <p:nvSpPr>
          <p:cNvPr id="4" name="TextBox 3"/>
          <p:cNvSpPr txBox="1"/>
          <p:nvPr/>
        </p:nvSpPr>
        <p:spPr>
          <a:xfrm>
            <a:off x="566928" y="1783080"/>
            <a:ext cx="7406640" cy="1920240"/>
          </a:xfrm>
          <a:prstGeom prst="rect">
            <a:avLst/>
          </a:prstGeom>
          <a:noFill/>
        </p:spPr>
        <p:txBody>
          <a:bodyPr wrap="square" lIns="0" rIns="0" tIns="0" bIns="0">
            <a:spAutoFit/>
          </a:bodyPr>
          <a:lstStyle/>
          <a:p>
            <a:pPr algn="l">
              <a:lnSpc>
                <a:spcPct val="140000"/>
              </a:lnSpc>
              <a:spcAft>
                <a:spcPts val="600"/>
              </a:spcAft>
            </a:pPr>
            <a:r>
              <a:rPr sz="1800" b="0">
                <a:solidFill>
                  <a:srgbClr val="1A1A1A"/>
                </a:solidFill>
                <a:latin typeface="Calibri"/>
              </a:rPr>
              <a:t>This student is facing some pressure due to outstanding tuition fees and may need extra support navigating their course. A warm check-in to see how they are settling in.</a:t>
            </a:r>
          </a:p>
        </p:txBody>
      </p:sp>
      <p:sp>
        <p:nvSpPr>
          <p:cNvPr id="5" name="TextBox 4"/>
          <p:cNvSpPr txBox="1"/>
          <p:nvPr/>
        </p:nvSpPr>
        <p:spPr>
          <a:xfrm>
            <a:off x="566928" y="3840480"/>
            <a:ext cx="7406640" cy="1828800"/>
          </a:xfrm>
          <a:prstGeom prst="rect">
            <a:avLst/>
          </a:prstGeom>
          <a:noFill/>
        </p:spPr>
        <p:txBody>
          <a:bodyPr wrap="square" lIns="0" rIns="0" tIns="0" bIns="0">
            <a:spAutoFit/>
          </a:bodyPr>
          <a:lstStyle/>
          <a:p>
            <a:pPr algn="l">
              <a:lnSpc>
                <a:spcPct val="130000"/>
              </a:lnSpc>
              <a:spcAft>
                <a:spcPts val="600"/>
              </a:spcAft>
            </a:pPr>
            <a:r>
              <a:rPr sz="1400" b="1">
                <a:solidFill>
                  <a:srgbClr val="1A1A1A"/>
                </a:solidFill>
                <a:latin typeface="Calibri"/>
              </a:rPr>
              <a:t>The four rules are simple.</a:t>
            </a:r>
            <a:r>
              <a:rPr sz="1400" b="0">
                <a:solidFill>
                  <a:srgbClr val="595959"/>
                </a:solidFill>
                <a:latin typeface="Calibri"/>
              </a:rPr>
              <a:t> The model uses no numbers and no scoring words, names no driver that is not in this student's own list, and never mentions gender even though it leans on it. The rules-engine baseline needs none of them, because it can only say what the table already holds.</a:t>
            </a:r>
          </a:p>
        </p:txBody>
      </p:sp>
      <p:sp>
        <p:nvSpPr>
          <p:cNvPr id="6" name="TextBox 5"/>
          <p:cNvSpPr txBox="1"/>
          <p:nvPr/>
        </p:nvSpPr>
        <p:spPr>
          <a:xfrm>
            <a:off x="8412480" y="2194560"/>
            <a:ext cx="301752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5 / 5</a:t>
            </a:r>
          </a:p>
        </p:txBody>
      </p:sp>
      <p:sp>
        <p:nvSpPr>
          <p:cNvPr id="7" name="TextBox 6"/>
          <p:cNvSpPr txBox="1"/>
          <p:nvPr/>
        </p:nvSpPr>
        <p:spPr>
          <a:xfrm>
            <a:off x="8412480" y="2764536"/>
            <a:ext cx="301752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notes safe to read to a student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Point it at any student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explain_student(582). The rules-engine note and the language-model note, side by side.</a:t>
            </a:r>
          </a:p>
        </p:txBody>
      </p:sp>
      <p:sp>
        <p:nvSpPr>
          <p:cNvPr id="4" name="Rectangle 3"/>
          <p:cNvSpPr/>
          <p:nvPr/>
        </p:nvSpPr>
        <p:spPr>
          <a:xfrm>
            <a:off x="566928" y="1828800"/>
            <a:ext cx="11064240" cy="310896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200" b="1">
                <a:solidFill>
                  <a:srgbClr val="1A1A1A"/>
                </a:solidFill>
                <a:latin typeface="Courier New"/>
              </a:rPr>
              <a:t>student 582   (actually dropped out)</a:t>
            </a:r>
          </a:p>
          <a:p>
            <a:pPr algn="l">
              <a:spcAft>
                <a:spcPts val="100"/>
              </a:spcAft>
            </a:pPr>
            <a:r>
              <a:rPr sz="1200" b="1">
                <a:solidFill>
                  <a:srgbClr val="1A1A1A"/>
                </a:solidFill>
                <a:latin typeface="Courier New"/>
              </a:rPr>
              <a:t/>
            </a:r>
          </a:p>
          <a:p>
            <a:pPr algn="l">
              <a:spcAft>
                <a:spcPts val="100"/>
              </a:spcAft>
            </a:pPr>
            <a:r>
              <a:rPr sz="1200" b="1">
                <a:solidFill>
                  <a:srgbClr val="1A1A1A"/>
                </a:solidFill>
                <a:latin typeface="Courier New"/>
              </a:rPr>
              <a:t>rules-engine note:</a:t>
            </a:r>
          </a:p>
          <a:p>
            <a:pPr algn="l">
              <a:spcAft>
                <a:spcPts val="100"/>
              </a:spcAft>
            </a:pPr>
            <a:r>
              <a:rPr sz="1200" b="1">
                <a:solidFill>
                  <a:srgbClr val="1A1A1A"/>
                </a:solidFill>
                <a:latin typeface="Courier New"/>
              </a:rPr>
              <a:t>  Behind on tuition fees, and came in through the mature-entry route. Ask whether the</a:t>
            </a:r>
          </a:p>
          <a:p>
            <a:pPr algn="l">
              <a:spcAft>
                <a:spcPts val="100"/>
              </a:spcAft>
            </a:pPr>
            <a:r>
              <a:rPr sz="1200" b="1">
                <a:solidFill>
                  <a:srgbClr val="1A1A1A"/>
                </a:solidFill>
                <a:latin typeface="Courier New"/>
              </a:rPr>
              <a:t>  payment schedule is workable, and check they know the hardship fund exists.</a:t>
            </a:r>
          </a:p>
          <a:p>
            <a:pPr algn="l">
              <a:spcAft>
                <a:spcPts val="100"/>
              </a:spcAft>
            </a:pPr>
            <a:r>
              <a:rPr sz="1200" b="1">
                <a:solidFill>
                  <a:srgbClr val="1A1A1A"/>
                </a:solidFill>
                <a:latin typeface="Courier New"/>
              </a:rPr>
              <a:t/>
            </a:r>
          </a:p>
          <a:p>
            <a:pPr algn="l">
              <a:spcAft>
                <a:spcPts val="100"/>
              </a:spcAft>
            </a:pPr>
            <a:r>
              <a:rPr sz="1200" b="1">
                <a:solidFill>
                  <a:srgbClr val="1A1A1A"/>
                </a:solidFill>
                <a:latin typeface="Courier New"/>
              </a:rPr>
              <a:t>guarded language-model note:</a:t>
            </a:r>
          </a:p>
          <a:p>
            <a:pPr algn="l">
              <a:spcAft>
                <a:spcPts val="400"/>
              </a:spcAft>
            </a:pPr>
            <a:r>
              <a:rPr sz="1200" b="1">
                <a:solidFill>
                  <a:srgbClr val="1A1A1A"/>
                </a:solidFill>
                <a:latin typeface="Courier New"/>
              </a:rPr>
              <a:t>  Facing some pressure from outstanding tuition fees, and may need extra support</a:t>
            </a:r>
          </a:p>
          <a:p>
            <a:pPr algn="l"/>
            <a:r>
              <a:rPr sz="1100">
                <a:solidFill>
                  <a:srgbClr val="595959"/>
                </a:solidFill>
                <a:latin typeface="Calibri"/>
              </a:rPr>
              <a:t>A tutor names a student, and gets a sentence they can act on. It runs off a committed cache, so a grader needs no key.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it bought, and what it did not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context is the work. The generation is the easy part.</a:t>
            </a:r>
          </a:p>
        </p:txBody>
      </p:sp>
      <p:sp>
        <p:nvSpPr>
          <p:cNvPr id="4" name="TextBox 3"/>
          <p:cNvSpPr txBox="1"/>
          <p:nvPr/>
        </p:nvSpPr>
        <p:spPr>
          <a:xfrm>
            <a:off x="566928" y="1828800"/>
            <a:ext cx="10881360" cy="3291840"/>
          </a:xfrm>
          <a:prstGeom prst="rect">
            <a:avLst/>
          </a:prstGeom>
          <a:noFill/>
        </p:spPr>
        <p:txBody>
          <a:bodyPr wrap="square" lIns="0" rIns="0" tIns="0" bIns="0">
            <a:spAutoFit/>
          </a:bodyPr>
          <a:lstStyle/>
          <a:p>
            <a:pPr algn="l">
              <a:lnSpc>
                <a:spcPct val="140000"/>
              </a:lnSpc>
              <a:spcAft>
                <a:spcPts val="1300"/>
              </a:spcAft>
            </a:pPr>
            <a:r>
              <a:rPr sz="1600" b="1">
                <a:solidFill>
                  <a:srgbClr val="1A1A1A"/>
                </a:solidFill>
                <a:latin typeface="Calibri"/>
              </a:rPr>
              <a:t>It bought fluency</a:t>
            </a:r>
            <a:r>
              <a:rPr sz="1600" b="0">
                <a:solidFill>
                  <a:srgbClr val="595959"/>
                </a:solidFill>
                <a:latin typeface="Calibri"/>
              </a:rPr>
              <a:t>, and words for the course code and the parent's occupation the table refuses to touch.</a:t>
            </a:r>
          </a:p>
          <a:p>
            <a:pPr algn="l">
              <a:lnSpc>
                <a:spcPct val="140000"/>
              </a:lnSpc>
              <a:spcAft>
                <a:spcPts val="1300"/>
              </a:spcAft>
            </a:pPr>
            <a:r>
              <a:rPr sz="1600" b="1">
                <a:solidFill>
                  <a:srgbClr val="A84B08"/>
                </a:solidFill>
                <a:latin typeface="Calibri"/>
              </a:rPr>
              <a:t>It also bought one note that over-reached</a:t>
            </a:r>
            <a:r>
              <a:rPr sz="1600" b="0">
                <a:solidFill>
                  <a:srgbClr val="595959"/>
                </a:solidFill>
                <a:latin typeface="Calibri"/>
              </a:rPr>
              <a:t>, turning a parent's occupation into a claim about their schooling. The table declined to make it, and the verifier is not built to catch it. So the verifier is necessary, not sufficient.</a:t>
            </a:r>
          </a:p>
          <a:p>
            <a:pPr algn="l">
              <a:lnSpc>
                <a:spcPct val="140000"/>
              </a:lnSpc>
              <a:spcAft>
                <a:spcPts val="1300"/>
              </a:spcAft>
            </a:pPr>
            <a:r>
              <a:rPr sz="1600" b="1">
                <a:solidFill>
                  <a:srgbClr val="1A1A1A"/>
                </a:solidFill>
                <a:latin typeface="Calibri"/>
              </a:rPr>
              <a:t>Everything the model knows about which number matters, it knows because it was told</a:t>
            </a:r>
            <a:r>
              <a:rPr sz="1600" b="0">
                <a:solidFill>
                  <a:srgbClr val="595959"/>
                </a:solidFill>
                <a:latin typeface="Calibri"/>
              </a:rPr>
              <a:t>, in a context block that took the rest of the project to earn.</a:t>
            </a:r>
          </a:p>
        </p:txBody>
      </p:sp>
      <p:sp>
        <p:nvSpPr>
          <p:cNvPr id="5" name="TextBox 4"/>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Generative AI did not replace the fairness audit. It sits on top of it, and it is only trustworthy because that came first.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6</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Generative AI, kept behind a verifier</dc:title>
  <dc:subject>PGD AI/ML capstone, Pillar 5. Step 9 bonus deck.</dc:subject>
  <dc:creator>jeryl.elixir.dev@outlook.com</dc:creator>
  <cp:keywords/>
  <dc:description/>
  <cp:lastModifiedBy>jeryl.elixir.dev@outlook.com</cp:lastModifiedBy>
  <cp:revision>1</cp:revision>
  <dcterms:created xsi:type="dcterms:W3CDTF">2026-07-15T22:53:38Z</dcterms:created>
  <dcterms:modified xsi:type="dcterms:W3CDTF">2026-07-15T22:53:38Z</dcterms:modified>
  <cp:category/>
  <cp:contentStatus/>
  <dc:identifier/>
  <dc:language>en-US</dc:language>
</cp:coreProperties>
</file>