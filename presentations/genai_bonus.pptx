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103120"/>
            <a:ext cx="100584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4200" b="1">
                <a:solidFill>
                  <a:srgbClr val="FFFFFF"/>
                </a:solidFill>
                <a:latin typeface="Cambria"/>
              </a:rPr>
              <a:t>Generative AI,
kept behind a verifier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0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FFCC2A"/>
                </a:solidFill>
                <a:latin typeface="Calibri"/>
              </a:rPr>
              <a:t>Step 9, the bonus. </a:t>
            </a:r>
            <a:r>
              <a:rPr sz="1900" b="0">
                <a:solidFill>
                  <a:srgbClr val="CFCFCF"/>
                </a:solidFill>
                <a:latin typeface="Calibri"/>
              </a:rPr>
              <a:t>SHAP values a tutor cannot read, turned into a note a tutor can act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3949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Jeryl Donato Estopace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521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CFCFCF"/>
                </a:solidFill>
                <a:latin typeface="Calibri"/>
              </a:rPr>
              <a:t>PGD AI/ML capstone, Pillar 5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CFCFCF"/>
                </a:solidFill>
                <a:latin typeface="Calibri"/>
              </a:rPr>
              <a:t>The explanation layer for the dropout model, built against a baseline and behind a check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A1A1A"/>
                </a:solidFill>
                <a:latin typeface="Cambria"/>
              </a:rPr>
              <a:t>SHAP values a tutor cannot read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33271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The one thing a language model is genuinely good for here, done the way the rest of the project works.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45920"/>
            <a:ext cx="64922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Step 5 produces a SHAP value like </a:t>
            </a:r>
            <a:r>
              <a:rPr sz="1400" b="1">
                <a:solidFill>
                  <a:srgbClr val="1A1A1A"/>
                </a:solidFill>
                <a:latin typeface="Calibri"/>
              </a:rPr>
              <a:t>Tuition fees up to date: +0.68</a:t>
            </a:r>
            <a:r>
              <a:rPr sz="1400" b="0">
                <a:solidFill>
                  <a:srgbClr val="595959"/>
                </a:solidFill>
                <a:latin typeface="Calibri"/>
              </a:rPr>
              <a:t>. True, and useless to the tutor who picks up the phone. So a language model turns a student's top drivers into two plain sentences.</a:t>
            </a:r>
          </a:p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Two ways to do it, and both get built.</a:t>
            </a:r>
            <a:r>
              <a:rPr sz="1400" b="0">
                <a:solidFill>
                  <a:srgbClr val="595959"/>
                </a:solidFill>
                <a:latin typeface="Calibri"/>
              </a:rPr>
              <a:t> A rules engine, a lookup table from each feature to a clause and an action, deterministic and unable to invent anything. And the language model. The honest question is what the model bought that the table did not.</a:t>
            </a:r>
          </a:p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The table stays silent where it should.</a:t>
            </a:r>
            <a:r>
              <a:rPr sz="1400" b="0">
                <a:solidFill>
                  <a:srgbClr val="595959"/>
                </a:solidFill>
                <a:latin typeface="Calibri"/>
              </a:rPr>
              <a:t> It has no row for a course code or a parent's occupation, because neither is a fact a tutor can act on. That silence is the gap the model has to earn its place by filling.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011680"/>
            <a:ext cx="356616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1A1A1A"/>
                </a:solidFill>
                <a:latin typeface="Cambria"/>
              </a:rPr>
              <a:t>56%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2581656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767676"/>
                </a:solidFill>
                <a:latin typeface="Calibri"/>
              </a:rPr>
              <a:t>of driver slots the rules table can voice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3794760"/>
            <a:ext cx="35661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The rest is Course and a parent's occupation, the model's strongest and least sayable signals. Fill them with something true, or invent.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A1A1A"/>
                </a:solidFill>
                <a:latin typeface="Cambria"/>
              </a:rPr>
              <a:t>A prompt is a request. The verifier is the control.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33271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The guardrail is the deliverable, not the API call.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45920"/>
            <a:ext cx="64922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The guarded prompt bans four things</a:t>
            </a:r>
            <a:r>
              <a:rPr sz="1400" b="0">
                <a:solidFill>
                  <a:srgbClr val="595959"/>
                </a:solidFill>
                <a:latin typeface="Calibri"/>
              </a:rPr>
              <a:t>: numbers, scoring words, any driver not in the student's own list, and gender, though the model leans on it at SHAP 0.301. Then a cell checks the prompt actually held.</a:t>
            </a:r>
          </a:p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To prove the check does something, the task runs twice.</a:t>
            </a:r>
            <a:r>
              <a:rPr sz="1400" b="0">
                <a:solidFill>
                  <a:srgbClr val="595959"/>
                </a:solidFill>
                <a:latin typeface="Calibri"/>
              </a:rPr>
              <a:t> A naive prompt, and the guarded one. The naive prompt printed probabilities and admission scores, read a mother's occupation as low status, and named the student's gender. The guarded prompt did none of it.</a:t>
            </a:r>
          </a:p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The rules-engine baseline passes by construction</a:t>
            </a:r>
            <a:r>
              <a:rPr sz="1400" b="0">
                <a:solidFill>
                  <a:srgbClr val="595959"/>
                </a:solidFill>
                <a:latin typeface="Calibri"/>
              </a:rPr>
              <a:t>. It has no mechanism for saying a thing it was not given. The language model has to be watched.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1965960"/>
            <a:ext cx="18288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1A1A1A"/>
                </a:solidFill>
                <a:latin typeface="Cambria"/>
              </a:rPr>
              <a:t>0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2535936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767676"/>
                </a:solidFill>
                <a:latin typeface="Calibri"/>
              </a:rPr>
              <a:t>naive prompt safe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1965960"/>
            <a:ext cx="18288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F6861F"/>
                </a:solidFill>
                <a:latin typeface="Cambria"/>
              </a:rPr>
              <a:t>5 /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2535936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767676"/>
                </a:solidFill>
                <a:latin typeface="Calibri"/>
              </a:rPr>
              <a:t>guarded prompt safe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236208"/>
            <a:ext cx="110578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Calibri"/>
              </a:rPr>
              <a:t>If the guarded prompt regressed tomorrow, the verifier fails loudly instead of quietly shipping a sentence with a number in it. That is the difference between using a language model and deploying 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A1A1A"/>
                </a:solidFill>
                <a:latin typeface="Cambria"/>
              </a:rPr>
              <a:t>What it bought, and what it did not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33271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The context is the work. The generation is the easy part.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45920"/>
            <a:ext cx="108813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It bought fluency</a:t>
            </a:r>
            <a:r>
              <a:rPr sz="1400" b="0">
                <a:solidFill>
                  <a:srgbClr val="595959"/>
                </a:solidFill>
                <a:latin typeface="Calibri"/>
              </a:rPr>
              <a:t>, and words for the course code and the parent's occupation the table refuses to touch.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It also bought one note that over-reached.</a:t>
            </a:r>
            <a:r>
              <a:rPr sz="1400" b="0">
                <a:solidFill>
                  <a:srgbClr val="595959"/>
                </a:solidFill>
                <a:latin typeface="Calibri"/>
              </a:rPr>
              <a:t> A guarded note turned a parent's occupation into 'less familiarity with higher education', an inference the table declined to make and one the verifier is not built to catch. The verifier is necessary, not sufficient.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Everything the model knows about which number matters, it knows because it was told</a:t>
            </a:r>
            <a:r>
              <a:rPr sz="1400" b="0">
                <a:solidFill>
                  <a:srgbClr val="595959"/>
                </a:solidFill>
                <a:latin typeface="Calibri"/>
              </a:rPr>
              <a:t>, in a context block that took the rest of the project to earn. And the whole notebook runs, and renders, for a grader with no key, off a committed cache of every prompt and every response.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36208"/>
            <a:ext cx="110578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Calibri"/>
              </a:rPr>
              <a:t>Generative AI did not replace Step 5. It sits on top of it, and it is only trustworthy because Step 5 came first.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Microsoft Office PowerPoint</Application>
  <DocSecurity>0</DocSecurity>
  <PresentationFormat>Widescreen</PresentationFormat>
  <Slides>4</Slides>
  <Notes>0</Notes>
  <HiddenSlides>0</HiddenSlides>
  <MMClips>0</MMClips>
  <ScaleCrop>false</ScaleCrop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Generative AI, kept behind a verifier</dc:title>
  <dc:subject>PGD AI/ML capstone, Pillar 5. Step 9 bonus deck.</dc:subject>
  <dc:creator>jeryl.elixir.dev@outlook.com</dc:creator>
  <cp:keywords/>
  <dc:description/>
  <cp:lastModifiedBy>jeryl.elixir.dev@outlook.com</cp:lastModifiedBy>
  <cp:revision>1</cp:revision>
  <dcterms:created xsi:type="dcterms:W3CDTF">2026-07-15T14:36:04Z</dcterms:created>
  <dcterms:modified xsi:type="dcterms:W3CDTF">2026-07-15T14:36:04Z</dcterms:modified>
  <cp:category/>
  <cp:contentStatus/>
  <dc:identifier/>
  <dc:language>en-US</dc:language>
</cp:coreProperties>
</file>