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2057400"/>
            <a:ext cx="10058400" cy="1645920"/>
          </a:xfrm>
          <a:prstGeom prst="rect">
            <a:avLst/>
          </a:prstGeom>
          <a:noFill/>
        </p:spPr>
        <p:txBody>
          <a:bodyPr wrap="square" lIns="0" tIns="0" rIns="0" bIns="0">
            <a:spAutoFit/>
          </a:bodyPr>
          <a:lstStyle/>
          <a:p>
            <a:pPr algn="l">
              <a:lnSpc>
                <a:spcPct val="120000"/>
              </a:lnSpc>
              <a:spcAft>
                <a:spcPts val="600"/>
              </a:spcAft>
            </a:pPr>
            <a:r>
              <a:rPr sz="4000" b="1">
                <a:solidFill>
                  <a:srgbClr val="FFFFFF"/>
                </a:solidFill>
                <a:latin typeface="Cambria"/>
              </a:rPr>
              <a:t>Finding the students who will leave,
while there is still time to help</a:t>
            </a:r>
          </a:p>
        </p:txBody>
      </p:sp>
      <p:sp>
        <p:nvSpPr>
          <p:cNvPr id="4" name="TextBox 3"/>
          <p:cNvSpPr txBox="1"/>
          <p:nvPr/>
        </p:nvSpPr>
        <p:spPr>
          <a:xfrm>
            <a:off x="566928" y="4069080"/>
            <a:ext cx="9601200" cy="457200"/>
          </a:xfrm>
          <a:prstGeom prst="rect">
            <a:avLst/>
          </a:prstGeom>
          <a:noFill/>
        </p:spPr>
        <p:txBody>
          <a:bodyPr wrap="square" lIns="0" tIns="0" rIns="0" bIns="0">
            <a:spAutoFit/>
          </a:bodyPr>
          <a:lstStyle/>
          <a:p>
            <a:pPr algn="l">
              <a:spcAft>
                <a:spcPts val="600"/>
              </a:spcAft>
            </a:pPr>
            <a:r>
              <a:rPr sz="1900" b="1">
                <a:solidFill>
                  <a:srgbClr val="FFCC2A"/>
                </a:solidFill>
                <a:latin typeface="Calibri"/>
              </a:rPr>
              <a:t>An early warning on day one. </a:t>
            </a:r>
            <a:r>
              <a:rPr sz="1900" b="0">
                <a:solidFill>
                  <a:srgbClr val="CFCFCF"/>
                </a:solidFill>
                <a:latin typeface="Calibri"/>
              </a:rPr>
              <a:t>And one decision only the school can make.</a:t>
            </a:r>
          </a:p>
        </p:txBody>
      </p:sp>
      <p:sp>
        <p:nvSpPr>
          <p:cNvPr id="5" name="TextBox 4"/>
          <p:cNvSpPr txBox="1"/>
          <p:nvPr/>
        </p:nvSpPr>
        <p:spPr>
          <a:xfrm>
            <a:off x="566928" y="5394960"/>
            <a:ext cx="10515600" cy="365760"/>
          </a:xfrm>
          <a:prstGeom prst="rect">
            <a:avLst/>
          </a:prstGeom>
          <a:noFill/>
        </p:spPr>
        <p:txBody>
          <a:bodyPr wrap="square" lIns="0" tIns="0" r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tIns="0" r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Built on 4,424 student records from Instituto Politecnico de Portalegre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391 students in every 1,000 leave before they finish</a:t>
            </a:r>
          </a:p>
        </p:txBody>
      </p:sp>
      <p:sp>
        <p:nvSpPr>
          <p:cNvPr id="3" name="Oval 2"/>
          <p:cNvSpPr/>
          <p:nvPr/>
        </p:nvSpPr>
        <p:spPr>
          <a:xfrm>
            <a:off x="56692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0858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45023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89189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233354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277520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321685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65851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10016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454182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498348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542513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586679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0844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675010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719175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763341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7506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51672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895837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940003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984168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Oval 24"/>
          <p:cNvSpPr/>
          <p:nvPr/>
        </p:nvSpPr>
        <p:spPr>
          <a:xfrm>
            <a:off x="1028334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1072499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1116665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56692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100858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145023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189189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233354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277520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321685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365851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410016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Oval 36"/>
          <p:cNvSpPr/>
          <p:nvPr/>
        </p:nvSpPr>
        <p:spPr>
          <a:xfrm>
            <a:off x="454182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Oval 37"/>
          <p:cNvSpPr/>
          <p:nvPr/>
        </p:nvSpPr>
        <p:spPr>
          <a:xfrm>
            <a:off x="498348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Oval 38"/>
          <p:cNvSpPr/>
          <p:nvPr/>
        </p:nvSpPr>
        <p:spPr>
          <a:xfrm>
            <a:off x="542513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586679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630844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6750100"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Oval 42"/>
          <p:cNvSpPr/>
          <p:nvPr/>
        </p:nvSpPr>
        <p:spPr>
          <a:xfrm>
            <a:off x="719175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763341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Oval 44"/>
          <p:cNvSpPr/>
          <p:nvPr/>
        </p:nvSpPr>
        <p:spPr>
          <a:xfrm>
            <a:off x="807506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Oval 45"/>
          <p:cNvSpPr/>
          <p:nvPr/>
        </p:nvSpPr>
        <p:spPr>
          <a:xfrm>
            <a:off x="851672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895837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Oval 47"/>
          <p:cNvSpPr/>
          <p:nvPr/>
        </p:nvSpPr>
        <p:spPr>
          <a:xfrm>
            <a:off x="940003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8"/>
          <p:cNvSpPr/>
          <p:nvPr/>
        </p:nvSpPr>
        <p:spPr>
          <a:xfrm>
            <a:off x="984168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Oval 49"/>
          <p:cNvSpPr/>
          <p:nvPr/>
        </p:nvSpPr>
        <p:spPr>
          <a:xfrm>
            <a:off x="1028334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Oval 50"/>
          <p:cNvSpPr/>
          <p:nvPr/>
        </p:nvSpPr>
        <p:spPr>
          <a:xfrm>
            <a:off x="1072499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Oval 51"/>
          <p:cNvSpPr/>
          <p:nvPr/>
        </p:nvSpPr>
        <p:spPr>
          <a:xfrm>
            <a:off x="1116665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Oval 52"/>
          <p:cNvSpPr/>
          <p:nvPr/>
        </p:nvSpPr>
        <p:spPr>
          <a:xfrm>
            <a:off x="56692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Oval 53"/>
          <p:cNvSpPr/>
          <p:nvPr/>
        </p:nvSpPr>
        <p:spPr>
          <a:xfrm>
            <a:off x="100858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Oval 54"/>
          <p:cNvSpPr/>
          <p:nvPr/>
        </p:nvSpPr>
        <p:spPr>
          <a:xfrm>
            <a:off x="145023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Oval 55"/>
          <p:cNvSpPr/>
          <p:nvPr/>
        </p:nvSpPr>
        <p:spPr>
          <a:xfrm>
            <a:off x="189189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Oval 56"/>
          <p:cNvSpPr/>
          <p:nvPr/>
        </p:nvSpPr>
        <p:spPr>
          <a:xfrm>
            <a:off x="233354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Oval 57"/>
          <p:cNvSpPr/>
          <p:nvPr/>
        </p:nvSpPr>
        <p:spPr>
          <a:xfrm>
            <a:off x="277520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Oval 58"/>
          <p:cNvSpPr/>
          <p:nvPr/>
        </p:nvSpPr>
        <p:spPr>
          <a:xfrm>
            <a:off x="321685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Oval 59"/>
          <p:cNvSpPr/>
          <p:nvPr/>
        </p:nvSpPr>
        <p:spPr>
          <a:xfrm>
            <a:off x="365851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Oval 60"/>
          <p:cNvSpPr/>
          <p:nvPr/>
        </p:nvSpPr>
        <p:spPr>
          <a:xfrm>
            <a:off x="410016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Oval 61"/>
          <p:cNvSpPr/>
          <p:nvPr/>
        </p:nvSpPr>
        <p:spPr>
          <a:xfrm>
            <a:off x="454182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Oval 62"/>
          <p:cNvSpPr/>
          <p:nvPr/>
        </p:nvSpPr>
        <p:spPr>
          <a:xfrm>
            <a:off x="498348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Oval 63"/>
          <p:cNvSpPr/>
          <p:nvPr/>
        </p:nvSpPr>
        <p:spPr>
          <a:xfrm>
            <a:off x="542513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Oval 64"/>
          <p:cNvSpPr/>
          <p:nvPr/>
        </p:nvSpPr>
        <p:spPr>
          <a:xfrm>
            <a:off x="586679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Oval 65"/>
          <p:cNvSpPr/>
          <p:nvPr/>
        </p:nvSpPr>
        <p:spPr>
          <a:xfrm>
            <a:off x="630844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Oval 66"/>
          <p:cNvSpPr/>
          <p:nvPr/>
        </p:nvSpPr>
        <p:spPr>
          <a:xfrm>
            <a:off x="675010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Oval 67"/>
          <p:cNvSpPr/>
          <p:nvPr/>
        </p:nvSpPr>
        <p:spPr>
          <a:xfrm>
            <a:off x="719175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Oval 68"/>
          <p:cNvSpPr/>
          <p:nvPr/>
        </p:nvSpPr>
        <p:spPr>
          <a:xfrm>
            <a:off x="763341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807506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Oval 70"/>
          <p:cNvSpPr/>
          <p:nvPr/>
        </p:nvSpPr>
        <p:spPr>
          <a:xfrm>
            <a:off x="851672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Oval 71"/>
          <p:cNvSpPr/>
          <p:nvPr/>
        </p:nvSpPr>
        <p:spPr>
          <a:xfrm>
            <a:off x="895837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Oval 72"/>
          <p:cNvSpPr/>
          <p:nvPr/>
        </p:nvSpPr>
        <p:spPr>
          <a:xfrm>
            <a:off x="940003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Oval 73"/>
          <p:cNvSpPr/>
          <p:nvPr/>
        </p:nvSpPr>
        <p:spPr>
          <a:xfrm>
            <a:off x="984168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Oval 74"/>
          <p:cNvSpPr/>
          <p:nvPr/>
        </p:nvSpPr>
        <p:spPr>
          <a:xfrm>
            <a:off x="1028334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Oval 75"/>
          <p:cNvSpPr/>
          <p:nvPr/>
        </p:nvSpPr>
        <p:spPr>
          <a:xfrm>
            <a:off x="1072499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Oval 76"/>
          <p:cNvSpPr/>
          <p:nvPr/>
        </p:nvSpPr>
        <p:spPr>
          <a:xfrm>
            <a:off x="1116665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Oval 77"/>
          <p:cNvSpPr/>
          <p:nvPr/>
        </p:nvSpPr>
        <p:spPr>
          <a:xfrm>
            <a:off x="56692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Oval 78"/>
          <p:cNvSpPr/>
          <p:nvPr/>
        </p:nvSpPr>
        <p:spPr>
          <a:xfrm>
            <a:off x="100858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Oval 79"/>
          <p:cNvSpPr/>
          <p:nvPr/>
        </p:nvSpPr>
        <p:spPr>
          <a:xfrm>
            <a:off x="145023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Oval 80"/>
          <p:cNvSpPr/>
          <p:nvPr/>
        </p:nvSpPr>
        <p:spPr>
          <a:xfrm>
            <a:off x="189189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Oval 81"/>
          <p:cNvSpPr/>
          <p:nvPr/>
        </p:nvSpPr>
        <p:spPr>
          <a:xfrm>
            <a:off x="233354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Oval 82"/>
          <p:cNvSpPr/>
          <p:nvPr/>
        </p:nvSpPr>
        <p:spPr>
          <a:xfrm>
            <a:off x="277520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Oval 83"/>
          <p:cNvSpPr/>
          <p:nvPr/>
        </p:nvSpPr>
        <p:spPr>
          <a:xfrm>
            <a:off x="321685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Oval 84"/>
          <p:cNvSpPr/>
          <p:nvPr/>
        </p:nvSpPr>
        <p:spPr>
          <a:xfrm>
            <a:off x="365851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Oval 85"/>
          <p:cNvSpPr/>
          <p:nvPr/>
        </p:nvSpPr>
        <p:spPr>
          <a:xfrm>
            <a:off x="410016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Oval 86"/>
          <p:cNvSpPr/>
          <p:nvPr/>
        </p:nvSpPr>
        <p:spPr>
          <a:xfrm>
            <a:off x="454182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Oval 87"/>
          <p:cNvSpPr/>
          <p:nvPr/>
        </p:nvSpPr>
        <p:spPr>
          <a:xfrm>
            <a:off x="498348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Oval 88"/>
          <p:cNvSpPr/>
          <p:nvPr/>
        </p:nvSpPr>
        <p:spPr>
          <a:xfrm>
            <a:off x="542513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Oval 89"/>
          <p:cNvSpPr/>
          <p:nvPr/>
        </p:nvSpPr>
        <p:spPr>
          <a:xfrm>
            <a:off x="586679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Oval 90"/>
          <p:cNvSpPr/>
          <p:nvPr/>
        </p:nvSpPr>
        <p:spPr>
          <a:xfrm>
            <a:off x="630844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Oval 91"/>
          <p:cNvSpPr/>
          <p:nvPr/>
        </p:nvSpPr>
        <p:spPr>
          <a:xfrm>
            <a:off x="675010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Oval 92"/>
          <p:cNvSpPr/>
          <p:nvPr/>
        </p:nvSpPr>
        <p:spPr>
          <a:xfrm>
            <a:off x="719175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Oval 93"/>
          <p:cNvSpPr/>
          <p:nvPr/>
        </p:nvSpPr>
        <p:spPr>
          <a:xfrm>
            <a:off x="763341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Oval 94"/>
          <p:cNvSpPr/>
          <p:nvPr/>
        </p:nvSpPr>
        <p:spPr>
          <a:xfrm>
            <a:off x="807506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Oval 95"/>
          <p:cNvSpPr/>
          <p:nvPr/>
        </p:nvSpPr>
        <p:spPr>
          <a:xfrm>
            <a:off x="851672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Oval 96"/>
          <p:cNvSpPr/>
          <p:nvPr/>
        </p:nvSpPr>
        <p:spPr>
          <a:xfrm>
            <a:off x="895837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Oval 97"/>
          <p:cNvSpPr/>
          <p:nvPr/>
        </p:nvSpPr>
        <p:spPr>
          <a:xfrm>
            <a:off x="940003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Oval 98"/>
          <p:cNvSpPr/>
          <p:nvPr/>
        </p:nvSpPr>
        <p:spPr>
          <a:xfrm>
            <a:off x="984168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Oval 99"/>
          <p:cNvSpPr/>
          <p:nvPr/>
        </p:nvSpPr>
        <p:spPr>
          <a:xfrm>
            <a:off x="1028334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Oval 100"/>
          <p:cNvSpPr/>
          <p:nvPr/>
        </p:nvSpPr>
        <p:spPr>
          <a:xfrm>
            <a:off x="1072499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Oval 101"/>
          <p:cNvSpPr/>
          <p:nvPr/>
        </p:nvSpPr>
        <p:spPr>
          <a:xfrm>
            <a:off x="1116665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566928" y="3566160"/>
            <a:ext cx="11057839" cy="274320"/>
          </a:xfrm>
          <a:prstGeom prst="rect">
            <a:avLst/>
          </a:prstGeom>
          <a:noFill/>
        </p:spPr>
        <p:txBody>
          <a:bodyPr wrap="square" lIns="0" tIns="0" rIns="0" bIns="0">
            <a:spAutoFit/>
          </a:bodyPr>
          <a:lstStyle/>
          <a:p>
            <a:pPr algn="l">
              <a:spcAft>
                <a:spcPts val="600"/>
              </a:spcAft>
            </a:pPr>
            <a:r>
              <a:rPr sz="1000" b="0">
                <a:solidFill>
                  <a:srgbClr val="767676"/>
                </a:solidFill>
                <a:latin typeface="Calibri"/>
              </a:rPr>
              <a:t>Each dot is ten students, and the filled ones are the ones who do not graduate. The rate is 391 in every 1,000 among the 3,630 whose outcome is settled, once the 794 still enrolled are set aside.</a:t>
            </a:r>
          </a:p>
        </p:txBody>
      </p:sp>
      <p:sp>
        <p:nvSpPr>
          <p:cNvPr id="104" name="TextBox 103"/>
          <p:cNvSpPr txBox="1"/>
          <p:nvPr/>
        </p:nvSpPr>
        <p:spPr>
          <a:xfrm>
            <a:off x="566928" y="4114800"/>
            <a:ext cx="5852160" cy="2194560"/>
          </a:xfrm>
          <a:prstGeom prst="rect">
            <a:avLst/>
          </a:prstGeom>
          <a:noFill/>
        </p:spPr>
        <p:txBody>
          <a:bodyPr wrap="square" lIns="0" tIns="0" rIns="0" bIns="0">
            <a:spAutoFit/>
          </a:bodyPr>
          <a:lstStyle/>
          <a:p>
            <a:pPr algn="l">
              <a:lnSpc>
                <a:spcPct val="130000"/>
              </a:lnSpc>
              <a:spcAft>
                <a:spcPts val="1000"/>
              </a:spcAft>
            </a:pPr>
            <a:r>
              <a:rPr sz="1400" b="0">
                <a:solidFill>
                  <a:srgbClr val="595959"/>
                </a:solidFill>
                <a:latin typeface="Calibri"/>
              </a:rPr>
              <a:t>Every dropout costs three parties at once, because the student loses years and fees while the school loses tuition and the country loses a graduate it had already half paid for.</a:t>
            </a:r>
          </a:p>
          <a:p>
            <a:pPr algn="l">
              <a:lnSpc>
                <a:spcPct val="130000"/>
              </a:lnSpc>
              <a:spcAft>
                <a:spcPts val="1000"/>
              </a:spcAft>
            </a:pPr>
            <a:r>
              <a:rPr sz="1400" b="0">
                <a:solidFill>
                  <a:srgbClr val="595959"/>
                </a:solidFill>
                <a:latin typeface="Calibri"/>
              </a:rPr>
              <a:t>The school knows this is happening, and what it cannot see is which students, because that only becomes clear when the first exams come back, by which time half the year is gone and so, usually, is the student.</a:t>
            </a:r>
          </a:p>
        </p:txBody>
      </p:sp>
      <p:sp>
        <p:nvSpPr>
          <p:cNvPr id="105" name="TextBox 104"/>
          <p:cNvSpPr txBox="1"/>
          <p:nvPr/>
        </p:nvSpPr>
        <p:spPr>
          <a:xfrm>
            <a:off x="6949440" y="4114800"/>
            <a:ext cx="4663440" cy="603504"/>
          </a:xfrm>
          <a:prstGeom prst="rect">
            <a:avLst/>
          </a:prstGeom>
          <a:noFill/>
        </p:spPr>
        <p:txBody>
          <a:bodyPr wrap="square" lIns="0" tIns="0" rIns="0" bIns="0">
            <a:spAutoFit/>
          </a:bodyPr>
          <a:lstStyle/>
          <a:p>
            <a:pPr algn="l">
              <a:spcAft>
                <a:spcPts val="0"/>
              </a:spcAft>
            </a:pPr>
            <a:r>
              <a:rPr sz="3800" b="1">
                <a:solidFill>
                  <a:srgbClr val="1A1A1A"/>
                </a:solidFill>
                <a:latin typeface="Cambria"/>
              </a:rPr>
              <a:t>2,100 EUR</a:t>
            </a:r>
          </a:p>
        </p:txBody>
      </p:sp>
      <p:sp>
        <p:nvSpPr>
          <p:cNvPr id="106" name="TextBox 105"/>
          <p:cNvSpPr txBox="1"/>
          <p:nvPr/>
        </p:nvSpPr>
        <p:spPr>
          <a:xfrm>
            <a:off x="6949440" y="4607052"/>
            <a:ext cx="4663440" cy="457200"/>
          </a:xfrm>
          <a:prstGeom prst="rect">
            <a:avLst/>
          </a:prstGeom>
          <a:noFill/>
        </p:spPr>
        <p:txBody>
          <a:bodyPr wrap="square" lIns="0" tIns="0" rIns="0" bIns="0">
            <a:spAutoFit/>
          </a:bodyPr>
          <a:lstStyle/>
          <a:p>
            <a:pPr algn="l">
              <a:lnSpc>
                <a:spcPct val="115000"/>
              </a:lnSpc>
              <a:spcAft>
                <a:spcPts val="600"/>
              </a:spcAft>
            </a:pPr>
            <a:r>
              <a:rPr sz="1200" b="0">
                <a:solidFill>
                  <a:srgbClr val="767676"/>
                </a:solidFill>
                <a:latin typeface="Calibri"/>
              </a:rPr>
              <a:t>the tuition that one saved student pays back over a three-year degree, which is a deliberately low estimate because the real loss is larger.</a:t>
            </a:r>
          </a:p>
        </p:txBody>
      </p:sp>
      <p:sp>
        <p:nvSpPr>
          <p:cNvPr id="107" name="TextBox 106"/>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question is not whether to help, but who to help first, and when.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What the tool does, on the day a student enrolls</a:t>
            </a:r>
          </a:p>
        </p:txBody>
      </p:sp>
      <p:sp>
        <p:nvSpPr>
          <p:cNvPr id="3" name="TextBox 2"/>
          <p:cNvSpPr txBox="1"/>
          <p:nvPr/>
        </p:nvSpPr>
        <p:spPr>
          <a:xfrm>
            <a:off x="566928" y="1600200"/>
            <a:ext cx="6949440" cy="3108960"/>
          </a:xfrm>
          <a:prstGeom prst="rect">
            <a:avLst/>
          </a:prstGeom>
          <a:noFill/>
        </p:spPr>
        <p:txBody>
          <a:bodyPr wrap="square" lIns="0" tIns="0" rIns="0" bIns="0">
            <a:spAutoFit/>
          </a:bodyPr>
          <a:lstStyle/>
          <a:p>
            <a:pPr algn="l">
              <a:lnSpc>
                <a:spcPct val="130000"/>
              </a:lnSpc>
              <a:spcAft>
                <a:spcPts val="900"/>
              </a:spcAft>
            </a:pPr>
            <a:r>
              <a:rPr sz="1400" b="1">
                <a:solidFill>
                  <a:srgbClr val="1A1A1A"/>
                </a:solidFill>
                <a:latin typeface="Calibri"/>
              </a:rPr>
              <a:t>It reads the enrollment form, and nothing else.</a:t>
            </a:r>
          </a:p>
          <a:p>
            <a:pPr algn="l">
              <a:lnSpc>
                <a:spcPct val="130000"/>
              </a:lnSpc>
              <a:spcAft>
                <a:spcPts val="900"/>
              </a:spcAft>
            </a:pPr>
            <a:r>
              <a:rPr sz="1400" b="0">
                <a:solidFill>
                  <a:srgbClr val="595959"/>
                </a:solidFill>
                <a:latin typeface="Calibri"/>
              </a:rPr>
              <a:t>It knows the student's age and course, whether they hold a scholarship, whether the fees are paid, and what a parent does, and all of it is known before the first class.</a:t>
            </a:r>
          </a:p>
          <a:p>
            <a:pPr algn="l">
              <a:lnSpc>
                <a:spcPct val="130000"/>
              </a:lnSpc>
              <a:spcAft>
                <a:spcPts val="900"/>
              </a:spcAft>
            </a:pPr>
            <a:r>
              <a:rPr sz="1400" b="1">
                <a:solidFill>
                  <a:srgbClr val="1A1A1A"/>
                </a:solidFill>
                <a:latin typeface="Calibri"/>
              </a:rPr>
              <a:t>It does not look at grades, attendance, or coursework.</a:t>
            </a:r>
          </a:p>
          <a:p>
            <a:pPr algn="l">
              <a:lnSpc>
                <a:spcPct val="130000"/>
              </a:lnSpc>
              <a:spcAft>
                <a:spcPts val="900"/>
              </a:spcAft>
            </a:pPr>
            <a:r>
              <a:rPr sz="1400" b="0">
                <a:solidFill>
                  <a:srgbClr val="595959"/>
                </a:solidFill>
                <a:latin typeface="Calibri"/>
              </a:rPr>
              <a:t>That was on purpose and it costs some accuracy, because a tool that waited for first-term results would be more certain and also useless, since by then the student has already decided.</a:t>
            </a:r>
          </a:p>
          <a:p>
            <a:pPr algn="l">
              <a:lnSpc>
                <a:spcPct val="130000"/>
              </a:lnSpc>
              <a:spcAft>
                <a:spcPts val="900"/>
              </a:spcAft>
            </a:pPr>
            <a:r>
              <a:rPr sz="1400" b="1">
                <a:solidFill>
                  <a:srgbClr val="1A1A1A"/>
                </a:solidFill>
                <a:latin typeface="Calibri"/>
              </a:rPr>
              <a:t>It hands the tutoring team a ranked list.</a:t>
            </a:r>
          </a:p>
          <a:p>
            <a:pPr algn="l">
              <a:lnSpc>
                <a:spcPct val="130000"/>
              </a:lnSpc>
              <a:spcAft>
                <a:spcPts val="900"/>
              </a:spcAft>
            </a:pPr>
            <a:r>
              <a:rPr sz="1400" b="0">
                <a:solidFill>
                  <a:srgbClr val="595959"/>
                </a:solidFill>
                <a:latin typeface="Calibri"/>
              </a:rPr>
              <a:t>The students most at risk sit at the top, and it is a starting point for a conversation twelve months early rather than a number ever shown to a student.</a:t>
            </a:r>
          </a:p>
        </p:txBody>
      </p:sp>
      <p:sp>
        <p:nvSpPr>
          <p:cNvPr id="4" name="TextBox 3"/>
          <p:cNvSpPr txBox="1"/>
          <p:nvPr/>
        </p:nvSpPr>
        <p:spPr>
          <a:xfrm>
            <a:off x="7863840" y="1737360"/>
            <a:ext cx="3749039" cy="603504"/>
          </a:xfrm>
          <a:prstGeom prst="rect">
            <a:avLst/>
          </a:prstGeom>
          <a:noFill/>
        </p:spPr>
        <p:txBody>
          <a:bodyPr wrap="square" lIns="0" tIns="0" rIns="0" bIns="0">
            <a:spAutoFit/>
          </a:bodyPr>
          <a:lstStyle/>
          <a:p>
            <a:pPr algn="l">
              <a:spcAft>
                <a:spcPts val="0"/>
              </a:spcAft>
            </a:pPr>
            <a:r>
              <a:rPr sz="4000" b="1">
                <a:solidFill>
                  <a:srgbClr val="1A1A1A"/>
                </a:solidFill>
                <a:latin typeface="Cambria"/>
              </a:rPr>
              <a:t>12 months</a:t>
            </a:r>
          </a:p>
        </p:txBody>
      </p:sp>
      <p:sp>
        <p:nvSpPr>
          <p:cNvPr id="5" name="TextBox 4"/>
          <p:cNvSpPr txBox="1"/>
          <p:nvPr/>
        </p:nvSpPr>
        <p:spPr>
          <a:xfrm>
            <a:off x="7863840" y="2255520"/>
            <a:ext cx="3749039" cy="457200"/>
          </a:xfrm>
          <a:prstGeom prst="rect">
            <a:avLst/>
          </a:prstGeom>
          <a:noFill/>
        </p:spPr>
        <p:txBody>
          <a:bodyPr wrap="square" lIns="0" tIns="0" rIns="0" bIns="0">
            <a:spAutoFit/>
          </a:bodyPr>
          <a:lstStyle/>
          <a:p>
            <a:pPr algn="l">
              <a:lnSpc>
                <a:spcPct val="115000"/>
              </a:lnSpc>
              <a:spcAft>
                <a:spcPts val="600"/>
              </a:spcAft>
            </a:pPr>
            <a:r>
              <a:rPr sz="1200" b="0">
                <a:solidFill>
                  <a:srgbClr val="767676"/>
                </a:solidFill>
                <a:latin typeface="Calibri"/>
              </a:rPr>
              <a:t>of warning, instead of none</a:t>
            </a:r>
          </a:p>
        </p:txBody>
      </p:sp>
      <p:sp>
        <p:nvSpPr>
          <p:cNvPr id="6" name="TextBox 5"/>
          <p:cNvSpPr txBox="1"/>
          <p:nvPr/>
        </p:nvSpPr>
        <p:spPr>
          <a:xfrm>
            <a:off x="7863840" y="3200400"/>
            <a:ext cx="3749039" cy="603504"/>
          </a:xfrm>
          <a:prstGeom prst="rect">
            <a:avLst/>
          </a:prstGeom>
          <a:noFill/>
        </p:spPr>
        <p:txBody>
          <a:bodyPr wrap="square" lIns="0" tIns="0" rIns="0" bIns="0">
            <a:spAutoFit/>
          </a:bodyPr>
          <a:lstStyle/>
          <a:p>
            <a:pPr algn="l">
              <a:spcAft>
                <a:spcPts val="0"/>
              </a:spcAft>
            </a:pPr>
            <a:r>
              <a:rPr sz="4000" b="1">
                <a:solidFill>
                  <a:srgbClr val="1A1A1A"/>
                </a:solidFill>
                <a:latin typeface="Cambria"/>
              </a:rPr>
              <a:t>8 in 10</a:t>
            </a:r>
          </a:p>
        </p:txBody>
      </p:sp>
      <p:sp>
        <p:nvSpPr>
          <p:cNvPr id="7" name="TextBox 6"/>
          <p:cNvSpPr txBox="1"/>
          <p:nvPr/>
        </p:nvSpPr>
        <p:spPr>
          <a:xfrm>
            <a:off x="7863840" y="3718560"/>
            <a:ext cx="3749039" cy="457200"/>
          </a:xfrm>
          <a:prstGeom prst="rect">
            <a:avLst/>
          </a:prstGeom>
          <a:noFill/>
        </p:spPr>
        <p:txBody>
          <a:bodyPr wrap="square" lIns="0" tIns="0" rIns="0" bIns="0">
            <a:spAutoFit/>
          </a:bodyPr>
          <a:lstStyle/>
          <a:p>
            <a:pPr algn="l">
              <a:lnSpc>
                <a:spcPct val="115000"/>
              </a:lnSpc>
              <a:spcAft>
                <a:spcPts val="600"/>
              </a:spcAft>
            </a:pPr>
            <a:r>
              <a:rPr sz="1200" b="0">
                <a:solidFill>
                  <a:srgbClr val="767676"/>
                </a:solidFill>
                <a:latin typeface="Calibri"/>
              </a:rPr>
              <a:t>of the students who go on to leave are on the list</a:t>
            </a:r>
          </a:p>
        </p:txBody>
      </p:sp>
      <p:sp>
        <p:nvSpPr>
          <p:cNvPr id="8" name="TextBox 7"/>
          <p:cNvSpPr txBox="1"/>
          <p:nvPr/>
        </p:nvSpPr>
        <p:spPr>
          <a:xfrm>
            <a:off x="7863840" y="4663440"/>
            <a:ext cx="3749039" cy="603504"/>
          </a:xfrm>
          <a:prstGeom prst="rect">
            <a:avLst/>
          </a:prstGeom>
          <a:noFill/>
        </p:spPr>
        <p:txBody>
          <a:bodyPr wrap="square" lIns="0" tIns="0" rIns="0" bIns="0">
            <a:spAutoFit/>
          </a:bodyPr>
          <a:lstStyle/>
          <a:p>
            <a:pPr algn="l">
              <a:spcAft>
                <a:spcPts val="0"/>
              </a:spcAft>
            </a:pPr>
            <a:r>
              <a:rPr sz="4000" b="1">
                <a:solidFill>
                  <a:srgbClr val="1A1A1A"/>
                </a:solidFill>
                <a:latin typeface="Cambria"/>
              </a:rPr>
              <a:t>1 in 2</a:t>
            </a:r>
          </a:p>
        </p:txBody>
      </p:sp>
      <p:sp>
        <p:nvSpPr>
          <p:cNvPr id="9" name="TextBox 8"/>
          <p:cNvSpPr txBox="1"/>
          <p:nvPr/>
        </p:nvSpPr>
        <p:spPr>
          <a:xfrm>
            <a:off x="7863840" y="5181600"/>
            <a:ext cx="3749039" cy="457200"/>
          </a:xfrm>
          <a:prstGeom prst="rect">
            <a:avLst/>
          </a:prstGeom>
          <a:noFill/>
        </p:spPr>
        <p:txBody>
          <a:bodyPr wrap="square" lIns="0" tIns="0" rIns="0" bIns="0">
            <a:spAutoFit/>
          </a:bodyPr>
          <a:lstStyle/>
          <a:p>
            <a:pPr algn="l">
              <a:lnSpc>
                <a:spcPct val="115000"/>
              </a:lnSpc>
              <a:spcAft>
                <a:spcPts val="600"/>
              </a:spcAft>
            </a:pPr>
            <a:r>
              <a:rPr sz="1200" b="0">
                <a:solidFill>
                  <a:srgbClr val="767676"/>
                </a:solidFill>
                <a:latin typeface="Calibri"/>
              </a:rPr>
              <a:t>students are flagged, sized against what the tutoring team can handle</a:t>
            </a:r>
          </a:p>
        </p:txBody>
      </p:sp>
      <p:sp>
        <p:nvSpPr>
          <p:cNvPr id="10" name="TextBox 9"/>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tool does not decide anything, and all it does is decide what a person looks at first.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Out of every 1,000 students</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Scaled from 726 real students the tool had never seen. It was tested once, on data held back from the start.</a:t>
            </a:r>
          </a:p>
        </p:txBody>
      </p:sp>
      <p:sp>
        <p:nvSpPr>
          <p:cNvPr id="4" name="Rectangle 3"/>
          <p:cNvSpPr/>
          <p:nvPr/>
        </p:nvSpPr>
        <p:spPr>
          <a:xfrm>
            <a:off x="566928" y="1920240"/>
            <a:ext cx="3438987" cy="868680"/>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66928" y="2029968"/>
            <a:ext cx="3438987" cy="457200"/>
          </a:xfrm>
          <a:prstGeom prst="rect">
            <a:avLst/>
          </a:prstGeom>
          <a:noFill/>
        </p:spPr>
        <p:txBody>
          <a:bodyPr wrap="square" lIns="36576" rIns="36576">
            <a:spAutoFit/>
          </a:bodyPr>
          <a:lstStyle/>
          <a:p>
            <a:pPr algn="ctr"/>
            <a:r>
              <a:rPr sz="1700" b="1">
                <a:solidFill>
                  <a:srgbClr val="FFFFFF"/>
                </a:solidFill>
                <a:latin typeface="Cambria"/>
              </a:rPr>
              <a:t>311</a:t>
            </a:r>
          </a:p>
        </p:txBody>
      </p:sp>
      <p:sp>
        <p:nvSpPr>
          <p:cNvPr id="6" name="Rectangle 5"/>
          <p:cNvSpPr/>
          <p:nvPr/>
        </p:nvSpPr>
        <p:spPr>
          <a:xfrm>
            <a:off x="4005915" y="1920240"/>
            <a:ext cx="884627" cy="86868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005915" y="2029968"/>
            <a:ext cx="884627" cy="457200"/>
          </a:xfrm>
          <a:prstGeom prst="rect">
            <a:avLst/>
          </a:prstGeom>
          <a:noFill/>
        </p:spPr>
        <p:txBody>
          <a:bodyPr wrap="square" lIns="36576" rIns="36576">
            <a:spAutoFit/>
          </a:bodyPr>
          <a:lstStyle/>
          <a:p>
            <a:pPr algn="ctr"/>
            <a:r>
              <a:rPr sz="1700" b="1">
                <a:solidFill>
                  <a:srgbClr val="FFFFFF"/>
                </a:solidFill>
                <a:latin typeface="Cambria"/>
              </a:rPr>
              <a:t>80</a:t>
            </a:r>
          </a:p>
        </p:txBody>
      </p:sp>
      <p:sp>
        <p:nvSpPr>
          <p:cNvPr id="8" name="Rectangle 7"/>
          <p:cNvSpPr/>
          <p:nvPr/>
        </p:nvSpPr>
        <p:spPr>
          <a:xfrm>
            <a:off x="4890542" y="1920240"/>
            <a:ext cx="1901948" cy="868680"/>
          </a:xfrm>
          <a:prstGeom prst="rect">
            <a:avLst/>
          </a:prstGeom>
          <a:solidFill>
            <a:srgbClr val="F9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890542" y="2029968"/>
            <a:ext cx="1901948" cy="457200"/>
          </a:xfrm>
          <a:prstGeom prst="rect">
            <a:avLst/>
          </a:prstGeom>
          <a:noFill/>
        </p:spPr>
        <p:txBody>
          <a:bodyPr wrap="square" lIns="36576" rIns="36576">
            <a:spAutoFit/>
          </a:bodyPr>
          <a:lstStyle/>
          <a:p>
            <a:pPr algn="ctr"/>
            <a:r>
              <a:rPr sz="1700" b="1">
                <a:solidFill>
                  <a:srgbClr val="1A1A1A"/>
                </a:solidFill>
                <a:latin typeface="Cambria"/>
              </a:rPr>
              <a:t>172</a:t>
            </a:r>
          </a:p>
        </p:txBody>
      </p:sp>
      <p:sp>
        <p:nvSpPr>
          <p:cNvPr id="10" name="Rectangle 9"/>
          <p:cNvSpPr/>
          <p:nvPr/>
        </p:nvSpPr>
        <p:spPr>
          <a:xfrm>
            <a:off x="6792490" y="1920240"/>
            <a:ext cx="4832275" cy="868680"/>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792490" y="2029968"/>
            <a:ext cx="4832275" cy="457200"/>
          </a:xfrm>
          <a:prstGeom prst="rect">
            <a:avLst/>
          </a:prstGeom>
          <a:noFill/>
        </p:spPr>
        <p:txBody>
          <a:bodyPr wrap="square" lIns="36576" rIns="36576">
            <a:spAutoFit/>
          </a:bodyPr>
          <a:lstStyle/>
          <a:p>
            <a:pPr algn="ctr"/>
            <a:r>
              <a:rPr sz="1700" b="1">
                <a:solidFill>
                  <a:srgbClr val="1A1A1A"/>
                </a:solidFill>
                <a:latin typeface="Cambria"/>
              </a:rPr>
              <a:t>437</a:t>
            </a:r>
          </a:p>
        </p:txBody>
      </p:sp>
      <p:sp>
        <p:nvSpPr>
          <p:cNvPr id="12" name="TextBox 11"/>
          <p:cNvSpPr txBox="1"/>
          <p:nvPr/>
        </p:nvSpPr>
        <p:spPr>
          <a:xfrm>
            <a:off x="566928" y="2862072"/>
            <a:ext cx="3438987" cy="548640"/>
          </a:xfrm>
          <a:prstGeom prst="rect">
            <a:avLst/>
          </a:prstGeom>
          <a:noFill/>
        </p:spPr>
        <p:txBody>
          <a:bodyPr wrap="square" lIns="0" tIns="0" rIns="0" bIns="0">
            <a:spAutoFit/>
          </a:bodyPr>
          <a:lstStyle/>
          <a:p>
            <a:pPr algn="ctr">
              <a:lnSpc>
                <a:spcPct val="115000"/>
              </a:lnSpc>
              <a:spcAft>
                <a:spcPts val="0"/>
              </a:spcAft>
            </a:pPr>
            <a:r>
              <a:rPr sz="900" b="0">
                <a:solidFill>
                  <a:srgbClr val="595959"/>
                </a:solidFill>
                <a:latin typeface="Calibri"/>
              </a:rPr>
              <a:t>caught</a:t>
            </a:r>
          </a:p>
          <a:p>
            <a:pPr algn="ctr">
              <a:lnSpc>
                <a:spcPct val="115000"/>
              </a:lnSpc>
              <a:spcAft>
                <a:spcPts val="0"/>
              </a:spcAft>
            </a:pPr>
            <a:r>
              <a:rPr sz="900" b="0">
                <a:solidFill>
                  <a:srgbClr val="595959"/>
                </a:solidFill>
                <a:latin typeface="Calibri"/>
              </a:rPr>
              <a:t>leavers the team reaches in time</a:t>
            </a:r>
          </a:p>
        </p:txBody>
      </p:sp>
      <p:sp>
        <p:nvSpPr>
          <p:cNvPr id="13" name="TextBox 12"/>
          <p:cNvSpPr txBox="1"/>
          <p:nvPr/>
        </p:nvSpPr>
        <p:spPr>
          <a:xfrm>
            <a:off x="4005915" y="2862072"/>
            <a:ext cx="884627" cy="548640"/>
          </a:xfrm>
          <a:prstGeom prst="rect">
            <a:avLst/>
          </a:prstGeom>
          <a:noFill/>
        </p:spPr>
        <p:txBody>
          <a:bodyPr wrap="square" lIns="0" tIns="0" rIns="0" bIns="0">
            <a:spAutoFit/>
          </a:bodyPr>
          <a:lstStyle/>
          <a:p>
            <a:pPr algn="ctr">
              <a:lnSpc>
                <a:spcPct val="115000"/>
              </a:lnSpc>
              <a:spcAft>
                <a:spcPts val="0"/>
              </a:spcAft>
            </a:pPr>
            <a:r>
              <a:rPr sz="900" b="0">
                <a:solidFill>
                  <a:srgbClr val="595959"/>
                </a:solidFill>
                <a:latin typeface="Calibri"/>
              </a:rPr>
              <a:t>missed</a:t>
            </a:r>
          </a:p>
          <a:p>
            <a:pPr algn="ctr">
              <a:lnSpc>
                <a:spcPct val="115000"/>
              </a:lnSpc>
              <a:spcAft>
                <a:spcPts val="0"/>
              </a:spcAft>
            </a:pPr>
            <a:r>
              <a:rPr sz="900" b="0">
                <a:solidFill>
                  <a:srgbClr val="595959"/>
                </a:solidFill>
                <a:latin typeface="Calibri"/>
              </a:rPr>
              <a:t>leavers the tool does not find</a:t>
            </a:r>
          </a:p>
        </p:txBody>
      </p:sp>
      <p:sp>
        <p:nvSpPr>
          <p:cNvPr id="14" name="TextBox 13"/>
          <p:cNvSpPr txBox="1"/>
          <p:nvPr/>
        </p:nvSpPr>
        <p:spPr>
          <a:xfrm>
            <a:off x="4890542" y="2862072"/>
            <a:ext cx="1901948" cy="548640"/>
          </a:xfrm>
          <a:prstGeom prst="rect">
            <a:avLst/>
          </a:prstGeom>
          <a:noFill/>
        </p:spPr>
        <p:txBody>
          <a:bodyPr wrap="square" lIns="0" tIns="0" rIns="0" bIns="0">
            <a:spAutoFit/>
          </a:bodyPr>
          <a:lstStyle/>
          <a:p>
            <a:pPr algn="ctr">
              <a:lnSpc>
                <a:spcPct val="115000"/>
              </a:lnSpc>
              <a:spcAft>
                <a:spcPts val="0"/>
              </a:spcAft>
            </a:pPr>
            <a:r>
              <a:rPr sz="900" b="0">
                <a:solidFill>
                  <a:srgbClr val="595959"/>
                </a:solidFill>
                <a:latin typeface="Calibri"/>
              </a:rPr>
              <a:t>contacted for nothing</a:t>
            </a:r>
          </a:p>
          <a:p>
            <a:pPr algn="ctr">
              <a:lnSpc>
                <a:spcPct val="115000"/>
              </a:lnSpc>
              <a:spcAft>
                <a:spcPts val="0"/>
              </a:spcAft>
            </a:pPr>
            <a:r>
              <a:rPr sz="900" b="0">
                <a:solidFill>
                  <a:srgbClr val="595959"/>
                </a:solidFill>
                <a:latin typeface="Calibri"/>
              </a:rPr>
              <a:t>graduates who were never leaving</a:t>
            </a:r>
          </a:p>
        </p:txBody>
      </p:sp>
      <p:sp>
        <p:nvSpPr>
          <p:cNvPr id="15" name="TextBox 14"/>
          <p:cNvSpPr txBox="1"/>
          <p:nvPr/>
        </p:nvSpPr>
        <p:spPr>
          <a:xfrm>
            <a:off x="6792490" y="2862072"/>
            <a:ext cx="4832275" cy="548640"/>
          </a:xfrm>
          <a:prstGeom prst="rect">
            <a:avLst/>
          </a:prstGeom>
          <a:noFill/>
        </p:spPr>
        <p:txBody>
          <a:bodyPr wrap="square" lIns="0" tIns="0" rIns="0" bIns="0">
            <a:spAutoFit/>
          </a:bodyPr>
          <a:lstStyle/>
          <a:p>
            <a:pPr algn="ctr">
              <a:lnSpc>
                <a:spcPct val="115000"/>
              </a:lnSpc>
              <a:spcAft>
                <a:spcPts val="0"/>
              </a:spcAft>
            </a:pPr>
            <a:r>
              <a:rPr sz="900" b="0">
                <a:solidFill>
                  <a:srgbClr val="595959"/>
                </a:solidFill>
                <a:latin typeface="Calibri"/>
              </a:rPr>
              <a:t>correctly left alone</a:t>
            </a:r>
          </a:p>
          <a:p>
            <a:pPr algn="ctr">
              <a:lnSpc>
                <a:spcPct val="115000"/>
              </a:lnSpc>
              <a:spcAft>
                <a:spcPts val="0"/>
              </a:spcAft>
            </a:pPr>
            <a:r>
              <a:rPr sz="900" b="0">
                <a:solidFill>
                  <a:srgbClr val="595959"/>
                </a:solidFill>
                <a:latin typeface="Calibri"/>
              </a:rPr>
              <a:t>the team never hears about them</a:t>
            </a:r>
          </a:p>
        </p:txBody>
      </p:sp>
      <p:sp>
        <p:nvSpPr>
          <p:cNvPr id="16" name="TextBox 15"/>
          <p:cNvSpPr txBox="1"/>
          <p:nvPr/>
        </p:nvSpPr>
        <p:spPr>
          <a:xfrm>
            <a:off x="566928" y="3977639"/>
            <a:ext cx="6949440" cy="1828800"/>
          </a:xfrm>
          <a:prstGeom prst="rect">
            <a:avLst/>
          </a:prstGeom>
          <a:noFill/>
        </p:spPr>
        <p:txBody>
          <a:bodyPr wrap="square" lIns="0" tIns="0" rIns="0" bIns="0">
            <a:spAutoFit/>
          </a:bodyPr>
          <a:lstStyle/>
          <a:p>
            <a:pPr algn="l">
              <a:lnSpc>
                <a:spcPct val="130000"/>
              </a:lnSpc>
              <a:spcAft>
                <a:spcPts val="900"/>
              </a:spcAft>
            </a:pPr>
            <a:r>
              <a:rPr sz="1400" b="1">
                <a:solidFill>
                  <a:srgbClr val="1A1A1A"/>
                </a:solidFill>
                <a:latin typeface="Calibri"/>
              </a:rPr>
              <a:t>Of the 391 who leave, the tool finds 311.</a:t>
            </a:r>
          </a:p>
          <a:p>
            <a:pPr algn="l">
              <a:lnSpc>
                <a:spcPct val="130000"/>
              </a:lnSpc>
              <a:spcAft>
                <a:spcPts val="900"/>
              </a:spcAft>
            </a:pPr>
            <a:r>
              <a:rPr sz="1400" b="0">
                <a:solidFill>
                  <a:srgbClr val="595959"/>
                </a:solidFill>
                <a:latin typeface="Calibri"/>
              </a:rPr>
              <a:t>Eighty are missed, which is the honest number and will never be zero, because no tool that runs on an enrollment form finds everyone.</a:t>
            </a:r>
          </a:p>
          <a:p>
            <a:pPr algn="l">
              <a:lnSpc>
                <a:spcPct val="130000"/>
              </a:lnSpc>
              <a:spcAft>
                <a:spcPts val="900"/>
              </a:spcAft>
            </a:pPr>
            <a:r>
              <a:rPr sz="1400" b="0">
                <a:solidFill>
                  <a:srgbClr val="595959"/>
                </a:solidFill>
                <a:latin typeface="Calibri"/>
              </a:rPr>
              <a:t>The 172 contacted for nothing is the cost worth arguing about, and slide 6 does.</a:t>
            </a:r>
          </a:p>
        </p:txBody>
      </p:sp>
      <p:sp>
        <p:nvSpPr>
          <p:cNvPr id="17" name="TextBox 16"/>
          <p:cNvSpPr txBox="1"/>
          <p:nvPr/>
        </p:nvSpPr>
        <p:spPr>
          <a:xfrm>
            <a:off x="8138160" y="4114800"/>
            <a:ext cx="3474720" cy="603504"/>
          </a:xfrm>
          <a:prstGeom prst="rect">
            <a:avLst/>
          </a:prstGeom>
          <a:noFill/>
        </p:spPr>
        <p:txBody>
          <a:bodyPr wrap="square" lIns="0" tIns="0" rIns="0" bIns="0">
            <a:spAutoFit/>
          </a:bodyPr>
          <a:lstStyle/>
          <a:p>
            <a:pPr algn="l">
              <a:spcAft>
                <a:spcPts val="0"/>
              </a:spcAft>
            </a:pPr>
            <a:r>
              <a:rPr sz="4400" b="1">
                <a:solidFill>
                  <a:srgbClr val="1A1A1A"/>
                </a:solidFill>
                <a:latin typeface="Cambria"/>
              </a:rPr>
              <a:t>483</a:t>
            </a:r>
          </a:p>
        </p:txBody>
      </p:sp>
      <p:sp>
        <p:nvSpPr>
          <p:cNvPr id="18" name="TextBox 17"/>
          <p:cNvSpPr txBox="1"/>
          <p:nvPr/>
        </p:nvSpPr>
        <p:spPr>
          <a:xfrm>
            <a:off x="8138160" y="4684776"/>
            <a:ext cx="3474720" cy="457200"/>
          </a:xfrm>
          <a:prstGeom prst="rect">
            <a:avLst/>
          </a:prstGeom>
          <a:noFill/>
        </p:spPr>
        <p:txBody>
          <a:bodyPr wrap="square" lIns="0" tIns="0" rIns="0" bIns="0">
            <a:spAutoFit/>
          </a:bodyPr>
          <a:lstStyle/>
          <a:p>
            <a:pPr algn="l">
              <a:lnSpc>
                <a:spcPct val="115000"/>
              </a:lnSpc>
              <a:spcAft>
                <a:spcPts val="600"/>
              </a:spcAft>
            </a:pPr>
            <a:r>
              <a:rPr sz="1200" b="0">
                <a:solidFill>
                  <a:srgbClr val="767676"/>
                </a:solidFill>
                <a:latin typeface="Calibri"/>
              </a:rPr>
              <a:t>students flagged, about one in two, which is more than the team can staff, and the fairness fix on slide 8 is what brings the list back within reach.</a:t>
            </a:r>
          </a:p>
        </p:txBody>
      </p:sp>
      <p:sp>
        <p:nvSpPr>
          <p:cNvPr id="19" name="TextBox 18"/>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Every number on this slide came from students the tool had never seen.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return</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Three assumptions, all stated, all careful. Change any one and the answer moves. That is why the curve is here, not just the number.</a:t>
            </a:r>
          </a:p>
        </p:txBody>
      </p:sp>
      <p:pic>
        <p:nvPicPr>
          <p:cNvPr id="4" name="Picture 3" descr="expected_value.png"/>
          <p:cNvPicPr>
            <a:picLocks noChangeAspect="1"/>
          </p:cNvPicPr>
          <p:nvPr/>
        </p:nvPicPr>
        <p:blipFill>
          <a:blip r:embed="rId2"/>
          <a:stretch>
            <a:fillRect/>
          </a:stretch>
        </p:blipFill>
        <p:spPr>
          <a:xfrm>
            <a:off x="6309360" y="1691640"/>
            <a:ext cx="5394960" cy="2538805"/>
          </a:xfrm>
          <a:prstGeom prst="rect">
            <a:avLst/>
          </a:prstGeom>
        </p:spPr>
      </p:pic>
      <p:sp>
        <p:nvSpPr>
          <p:cNvPr id="5" name="TextBox 4"/>
          <p:cNvSpPr txBox="1"/>
          <p:nvPr/>
        </p:nvSpPr>
        <p:spPr>
          <a:xfrm>
            <a:off x="566928" y="1691640"/>
            <a:ext cx="5394960" cy="2103120"/>
          </a:xfrm>
          <a:prstGeom prst="rect">
            <a:avLst/>
          </a:prstGeom>
          <a:noFill/>
        </p:spPr>
        <p:txBody>
          <a:bodyPr wrap="square" lIns="0" tIns="0" rIns="0" bIns="0">
            <a:spAutoFit/>
          </a:bodyPr>
          <a:lstStyle/>
          <a:p>
            <a:pPr algn="l">
              <a:lnSpc>
                <a:spcPct val="125000"/>
              </a:lnSpc>
              <a:spcAft>
                <a:spcPts val="700"/>
              </a:spcAft>
            </a:pPr>
            <a:r>
              <a:rPr sz="1300" b="1">
                <a:solidFill>
                  <a:srgbClr val="1A1A1A"/>
                </a:solidFill>
                <a:latin typeface="Calibri"/>
              </a:rPr>
              <a:t>A saved student is worth about 2,100 EUR.</a:t>
            </a:r>
          </a:p>
          <a:p>
            <a:pPr algn="l">
              <a:lnSpc>
                <a:spcPct val="125000"/>
              </a:lnSpc>
              <a:spcAft>
                <a:spcPts val="700"/>
              </a:spcAft>
            </a:pPr>
            <a:r>
              <a:rPr sz="1300" b="0">
                <a:solidFill>
                  <a:srgbClr val="595959"/>
                </a:solidFill>
                <a:latin typeface="Calibri"/>
              </a:rPr>
              <a:t>Three years of public tuition, and nothing else counted.</a:t>
            </a:r>
          </a:p>
          <a:p>
            <a:pPr algn="l">
              <a:lnSpc>
                <a:spcPct val="125000"/>
              </a:lnSpc>
              <a:spcAft>
                <a:spcPts val="700"/>
              </a:spcAft>
            </a:pPr>
            <a:r>
              <a:rPr sz="1300" b="1">
                <a:solidFill>
                  <a:srgbClr val="1A1A1A"/>
                </a:solidFill>
                <a:latin typeface="Calibri"/>
              </a:rPr>
              <a:t>Reaching out works about three times in ten.</a:t>
            </a:r>
          </a:p>
          <a:p>
            <a:pPr algn="l">
              <a:lnSpc>
                <a:spcPct val="125000"/>
              </a:lnSpc>
              <a:spcAft>
                <a:spcPts val="700"/>
              </a:spcAft>
            </a:pPr>
            <a:r>
              <a:rPr sz="1300" b="0">
                <a:solidFill>
                  <a:srgbClr val="595959"/>
                </a:solidFill>
                <a:latin typeface="Calibri"/>
              </a:rPr>
              <a:t>So a student the tool finds is worth about 630 EUR on average rather than 2,100.</a:t>
            </a:r>
          </a:p>
          <a:p>
            <a:pPr algn="l">
              <a:lnSpc>
                <a:spcPct val="125000"/>
              </a:lnSpc>
              <a:spcAft>
                <a:spcPts val="700"/>
              </a:spcAft>
            </a:pPr>
            <a:r>
              <a:rPr sz="1300" b="1">
                <a:solidFill>
                  <a:srgbClr val="1A1A1A"/>
                </a:solidFill>
                <a:latin typeface="Calibri"/>
              </a:rPr>
              <a:t>A conversation costs somewhere between 50 and 300 EUR.</a:t>
            </a:r>
          </a:p>
          <a:p>
            <a:pPr algn="l">
              <a:lnSpc>
                <a:spcPct val="125000"/>
              </a:lnSpc>
              <a:spcAft>
                <a:spcPts val="700"/>
              </a:spcAft>
            </a:pPr>
            <a:r>
              <a:rPr sz="1300" b="0">
                <a:solidFill>
                  <a:srgbClr val="595959"/>
                </a:solidFill>
                <a:latin typeface="Calibri"/>
              </a:rPr>
              <a:t>The school knows this number and I do not, so all three are shown.</a:t>
            </a:r>
          </a:p>
        </p:txBody>
      </p:sp>
      <p:graphicFrame>
        <p:nvGraphicFramePr>
          <p:cNvPr id="6" name="Table 5"/>
          <p:cNvGraphicFramePr>
            <a:graphicFrameLocks noGrp="1"/>
          </p:cNvGraphicFramePr>
          <p:nvPr/>
        </p:nvGraphicFramePr>
        <p:xfrm>
          <a:off x="566928" y="4114800"/>
          <a:ext cx="5394960" cy="1463040"/>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pPr algn="l"/>
                      <a:r>
                        <a:rPr sz="1000" b="1">
                          <a:solidFill>
                            <a:srgbClr val="FFFFFF"/>
                          </a:solidFill>
                          <a:latin typeface="Calibri"/>
                        </a:rPr>
                        <a:t>A conversation costs</a:t>
                      </a:r>
                    </a:p>
                  </a:txBody>
                  <a:tcPr marL="64008" marR="64008" marT="9144" marB="9144" anchor="ctr">
                    <a:solidFill>
                      <a:srgbClr val="1A1A1A"/>
                    </a:solidFill>
                  </a:tcPr>
                </a:tc>
                <a:tc>
                  <a:txBody>
                    <a:bodyPr/>
                    <a:lstStyle/>
                    <a:p>
                      <a:pPr algn="r"/>
                      <a:r>
                        <a:rPr sz="1000" b="1">
                          <a:solidFill>
                            <a:srgbClr val="FFFFFF"/>
                          </a:solidFill>
                          <a:latin typeface="Calibri"/>
                        </a:rPr>
                        <a:t>Best case</a:t>
                      </a:r>
                    </a:p>
                  </a:txBody>
                  <a:tcPr marL="64008" marR="64008" marT="9144" marB="9144" anchor="ctr">
                    <a:solidFill>
                      <a:srgbClr val="1A1A1A"/>
                    </a:solidFill>
                  </a:tcPr>
                </a:tc>
                <a:tc>
                  <a:txBody>
                    <a:bodyPr/>
                    <a:lstStyle/>
                    <a:p>
                      <a:pPr algn="r"/>
                      <a:r>
                        <a:rPr sz="1000" b="1">
                          <a:solidFill>
                            <a:srgbClr val="FFFFFF"/>
                          </a:solidFill>
                          <a:latin typeface="Calibri"/>
                        </a:rPr>
                        <a:t>At 1 in 2</a:t>
                      </a:r>
                    </a:p>
                  </a:txBody>
                  <a:tcPr marL="64008" marR="64008" marT="9144" marB="9144" anchor="ctr">
                    <a:solidFill>
                      <a:srgbClr val="1A1A1A"/>
                    </a:solidFill>
                  </a:tcPr>
                </a:tc>
                <a:extLst>
                  <a:ext uri="{0D108BD9-81ED-4DB2-BD59-A6C34878D82A}">
                    <a16:rowId xmlns:a16="http://schemas.microsoft.com/office/drawing/2014/main" val="10000"/>
                  </a:ext>
                </a:extLst>
              </a:tr>
              <a:tr h="365760">
                <a:tc>
                  <a:txBody>
                    <a:bodyPr/>
                    <a:lstStyle/>
                    <a:p>
                      <a:pPr algn="l"/>
                      <a:r>
                        <a:rPr sz="1100" b="0">
                          <a:solidFill>
                            <a:srgbClr val="1A1A1A"/>
                          </a:solidFill>
                          <a:latin typeface="Calibri"/>
                        </a:rPr>
                        <a:t>50 EUR</a:t>
                      </a:r>
                    </a:p>
                  </a:txBody>
                  <a:tcPr marL="64008" marR="64008" marT="9144" marB="9144" anchor="ctr">
                    <a:solidFill>
                      <a:srgbClr val="FFFFFF"/>
                    </a:solidFill>
                  </a:tcPr>
                </a:tc>
                <a:tc>
                  <a:txBody>
                    <a:bodyPr/>
                    <a:lstStyle/>
                    <a:p>
                      <a:pPr algn="r"/>
                      <a:r>
                        <a:rPr sz="1100" b="0">
                          <a:solidFill>
                            <a:srgbClr val="595959"/>
                          </a:solidFill>
                          <a:latin typeface="Calibri"/>
                        </a:rPr>
                        <a:t>199,022 EUR</a:t>
                      </a:r>
                    </a:p>
                  </a:txBody>
                  <a:tcPr marL="64008" marR="64008" marT="9144" marB="9144" anchor="ctr">
                    <a:solidFill>
                      <a:srgbClr val="FFFFFF"/>
                    </a:solidFill>
                  </a:tcPr>
                </a:tc>
                <a:tc>
                  <a:txBody>
                    <a:bodyPr/>
                    <a:lstStyle/>
                    <a:p>
                      <a:pPr algn="r"/>
                      <a:r>
                        <a:rPr sz="1100" b="0">
                          <a:solidFill>
                            <a:srgbClr val="595959"/>
                          </a:solidFill>
                          <a:latin typeface="Calibri"/>
                        </a:rPr>
                        <a:t>171,942 EUR</a:t>
                      </a:r>
                    </a:p>
                  </a:txBody>
                  <a:tcPr marL="64008" marR="64008" marT="9144" marB="9144" anchor="ctr">
                    <a:solidFill>
                      <a:srgbClr val="FFFFFF"/>
                    </a:solidFill>
                  </a:tcPr>
                </a:tc>
                <a:extLst>
                  <a:ext uri="{0D108BD9-81ED-4DB2-BD59-A6C34878D82A}">
                    <a16:rowId xmlns:a16="http://schemas.microsoft.com/office/drawing/2014/main" val="10001"/>
                  </a:ext>
                </a:extLst>
              </a:tr>
              <a:tr h="365760">
                <a:tc>
                  <a:txBody>
                    <a:bodyPr/>
                    <a:lstStyle/>
                    <a:p>
                      <a:pPr algn="l"/>
                      <a:r>
                        <a:rPr sz="1100" b="1">
                          <a:solidFill>
                            <a:srgbClr val="1A1A1A"/>
                          </a:solidFill>
                          <a:latin typeface="Calibri"/>
                        </a:rPr>
                        <a:t>150 EUR</a:t>
                      </a:r>
                    </a:p>
                  </a:txBody>
                  <a:tcPr marL="64008" marR="64008" marT="9144" marB="9144" anchor="ctr">
                    <a:solidFill>
                      <a:srgbClr val="FFF3CC"/>
                    </a:solidFill>
                  </a:tcPr>
                </a:tc>
                <a:tc>
                  <a:txBody>
                    <a:bodyPr/>
                    <a:lstStyle/>
                    <a:p>
                      <a:pPr algn="r"/>
                      <a:r>
                        <a:rPr sz="1100" b="1">
                          <a:solidFill>
                            <a:srgbClr val="1A1A1A"/>
                          </a:solidFill>
                          <a:latin typeface="Calibri"/>
                        </a:rPr>
                        <a:t>125,289 EUR</a:t>
                      </a:r>
                    </a:p>
                  </a:txBody>
                  <a:tcPr marL="64008" marR="64008" marT="9144" marB="9144" anchor="ctr">
                    <a:solidFill>
                      <a:srgbClr val="FFF3CC"/>
                    </a:solidFill>
                  </a:tcPr>
                </a:tc>
                <a:tc>
                  <a:txBody>
                    <a:bodyPr/>
                    <a:lstStyle/>
                    <a:p>
                      <a:pPr algn="r"/>
                      <a:r>
                        <a:rPr sz="1100" b="1">
                          <a:solidFill>
                            <a:srgbClr val="1A1A1A"/>
                          </a:solidFill>
                          <a:latin typeface="Calibri"/>
                        </a:rPr>
                        <a:t>123,595 EUR</a:t>
                      </a:r>
                    </a:p>
                  </a:txBody>
                  <a:tcPr marL="64008" marR="64008" marT="9144" marB="9144" anchor="ctr">
                    <a:solidFill>
                      <a:srgbClr val="FFF3CC"/>
                    </a:solidFill>
                  </a:tcPr>
                </a:tc>
                <a:extLst>
                  <a:ext uri="{0D108BD9-81ED-4DB2-BD59-A6C34878D82A}">
                    <a16:rowId xmlns:a16="http://schemas.microsoft.com/office/drawing/2014/main" val="10002"/>
                  </a:ext>
                </a:extLst>
              </a:tr>
              <a:tr h="365760">
                <a:tc>
                  <a:txBody>
                    <a:bodyPr/>
                    <a:lstStyle/>
                    <a:p>
                      <a:pPr algn="l"/>
                      <a:r>
                        <a:rPr sz="1100" b="0">
                          <a:solidFill>
                            <a:srgbClr val="1A1A1A"/>
                          </a:solidFill>
                          <a:latin typeface="Calibri"/>
                        </a:rPr>
                        <a:t>300 EUR</a:t>
                      </a:r>
                    </a:p>
                  </a:txBody>
                  <a:tcPr marL="64008" marR="64008" marT="9144" marB="9144" anchor="ctr">
                    <a:solidFill>
                      <a:srgbClr val="FFFFFF"/>
                    </a:solidFill>
                  </a:tcPr>
                </a:tc>
                <a:tc>
                  <a:txBody>
                    <a:bodyPr/>
                    <a:lstStyle/>
                    <a:p>
                      <a:pPr algn="r"/>
                      <a:r>
                        <a:rPr sz="1100" b="0">
                          <a:solidFill>
                            <a:srgbClr val="595959"/>
                          </a:solidFill>
                          <a:latin typeface="Calibri"/>
                        </a:rPr>
                        <a:t>58,967 EUR</a:t>
                      </a:r>
                    </a:p>
                  </a:txBody>
                  <a:tcPr marL="64008" marR="64008" marT="9144" marB="9144" anchor="ctr">
                    <a:solidFill>
                      <a:srgbClr val="FFFFFF"/>
                    </a:solidFill>
                  </a:tcPr>
                </a:tc>
                <a:tc>
                  <a:txBody>
                    <a:bodyPr/>
                    <a:lstStyle/>
                    <a:p>
                      <a:pPr algn="r"/>
                      <a:r>
                        <a:rPr sz="1100" b="0">
                          <a:solidFill>
                            <a:srgbClr val="595959"/>
                          </a:solidFill>
                          <a:latin typeface="Calibri"/>
                        </a:rPr>
                        <a:t>51,074 EUR</a:t>
                      </a:r>
                    </a:p>
                  </a:txBody>
                  <a:tcPr marL="64008" marR="64008" marT="9144" marB="9144"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66928" y="5669280"/>
            <a:ext cx="5394960" cy="640080"/>
          </a:xfrm>
          <a:prstGeom prst="rect">
            <a:avLst/>
          </a:prstGeom>
          <a:noFill/>
        </p:spPr>
        <p:txBody>
          <a:bodyPr wrap="square" lIns="0" tIns="0" rIns="0" bIns="0">
            <a:spAutoFit/>
          </a:bodyPr>
          <a:lstStyle/>
          <a:p>
            <a:pPr algn="l">
              <a:lnSpc>
                <a:spcPct val="120000"/>
              </a:lnSpc>
              <a:spcAft>
                <a:spcPts val="600"/>
              </a:spcAft>
            </a:pPr>
            <a:r>
              <a:rPr sz="1100" b="0">
                <a:solidFill>
                  <a:srgbClr val="767676"/>
                </a:solidFill>
                <a:latin typeface="Calibri"/>
              </a:rPr>
              <a:t>Value per 1,000 students. Aiming at the team's capacity instead of the most profitable cutoff costs only about 1,700 EUR at a 150 EUR contact, so it is nearly free, and slide 8 is the thing that is not.</a:t>
            </a:r>
          </a:p>
        </p:txBody>
      </p:sp>
      <p:sp>
        <p:nvSpPr>
          <p:cNvPr id="8" name="TextBox 7"/>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At 150 EUR a conversation, a save returns about four times what a contact costs, so the money says reach out broadly and there is barely any sorting left to do.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price, and who pays it</a:t>
            </a:r>
          </a:p>
        </p:txBody>
      </p:sp>
      <p:sp>
        <p:nvSpPr>
          <p:cNvPr id="3" name="Rectangle 2"/>
          <p:cNvSpPr/>
          <p:nvPr/>
        </p:nvSpPr>
        <p:spPr>
          <a:xfrm>
            <a:off x="7223760" y="2148840"/>
            <a:ext cx="2194560" cy="1325880"/>
          </a:xfrm>
          <a:prstGeom prst="rect">
            <a:avLst/>
          </a:prstGeom>
          <a:solidFill>
            <a:srgbClr val="D4D4D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223760" y="2350008"/>
            <a:ext cx="2194560" cy="548640"/>
          </a:xfrm>
          <a:prstGeom prst="rect">
            <a:avLst/>
          </a:prstGeom>
          <a:noFill/>
        </p:spPr>
        <p:txBody>
          <a:bodyPr wrap="square" lIns="0" tIns="0" rIns="0" bIns="0">
            <a:spAutoFit/>
          </a:bodyPr>
          <a:lstStyle/>
          <a:p>
            <a:pPr algn="ctr">
              <a:spcAft>
                <a:spcPts val="0"/>
              </a:spcAft>
            </a:pPr>
            <a:r>
              <a:rPr sz="3200" b="1">
                <a:solidFill>
                  <a:srgbClr val="1A1A1A"/>
                </a:solidFill>
                <a:latin typeface="Cambria"/>
              </a:rPr>
              <a:t>437</a:t>
            </a:r>
          </a:p>
        </p:txBody>
      </p:sp>
      <p:sp>
        <p:nvSpPr>
          <p:cNvPr id="5" name="TextBox 4"/>
          <p:cNvSpPr txBox="1"/>
          <p:nvPr/>
        </p:nvSpPr>
        <p:spPr>
          <a:xfrm>
            <a:off x="7223760" y="2898648"/>
            <a:ext cx="2194560" cy="365760"/>
          </a:xfrm>
          <a:prstGeom prst="rect">
            <a:avLst/>
          </a:prstGeom>
          <a:noFill/>
        </p:spPr>
        <p:txBody>
          <a:bodyPr wrap="square" lIns="0" tIns="0" rIns="0" bIns="0">
            <a:spAutoFit/>
          </a:bodyPr>
          <a:lstStyle/>
          <a:p>
            <a:pPr algn="ctr">
              <a:spcAft>
                <a:spcPts val="0"/>
              </a:spcAft>
            </a:pPr>
            <a:r>
              <a:rPr sz="1000" b="0">
                <a:solidFill>
                  <a:srgbClr val="1A1A1A"/>
                </a:solidFill>
                <a:latin typeface="Calibri"/>
              </a:rPr>
              <a:t>correctly left alone</a:t>
            </a:r>
          </a:p>
        </p:txBody>
      </p:sp>
      <p:sp>
        <p:nvSpPr>
          <p:cNvPr id="6" name="Rectangle 5"/>
          <p:cNvSpPr/>
          <p:nvPr/>
        </p:nvSpPr>
        <p:spPr>
          <a:xfrm>
            <a:off x="9418320" y="2148840"/>
            <a:ext cx="2194560" cy="1325880"/>
          </a:xfrm>
          <a:prstGeom prst="rect">
            <a:avLst/>
          </a:prstGeom>
          <a:solidFill>
            <a:srgbClr val="F9C99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418320" y="2350008"/>
            <a:ext cx="2194560" cy="548640"/>
          </a:xfrm>
          <a:prstGeom prst="rect">
            <a:avLst/>
          </a:prstGeom>
          <a:noFill/>
        </p:spPr>
        <p:txBody>
          <a:bodyPr wrap="square" lIns="0" tIns="0" rIns="0" bIns="0">
            <a:spAutoFit/>
          </a:bodyPr>
          <a:lstStyle/>
          <a:p>
            <a:pPr algn="ctr">
              <a:spcAft>
                <a:spcPts val="0"/>
              </a:spcAft>
            </a:pPr>
            <a:r>
              <a:rPr sz="3200" b="1">
                <a:solidFill>
                  <a:srgbClr val="1A1A1A"/>
                </a:solidFill>
                <a:latin typeface="Cambria"/>
              </a:rPr>
              <a:t>172</a:t>
            </a:r>
          </a:p>
        </p:txBody>
      </p:sp>
      <p:sp>
        <p:nvSpPr>
          <p:cNvPr id="8" name="TextBox 7"/>
          <p:cNvSpPr txBox="1"/>
          <p:nvPr/>
        </p:nvSpPr>
        <p:spPr>
          <a:xfrm>
            <a:off x="9418320" y="2898648"/>
            <a:ext cx="2194560" cy="365760"/>
          </a:xfrm>
          <a:prstGeom prst="rect">
            <a:avLst/>
          </a:prstGeom>
          <a:noFill/>
        </p:spPr>
        <p:txBody>
          <a:bodyPr wrap="square" lIns="0" tIns="0" rIns="0" bIns="0">
            <a:spAutoFit/>
          </a:bodyPr>
          <a:lstStyle/>
          <a:p>
            <a:pPr algn="ctr">
              <a:spcAft>
                <a:spcPts val="0"/>
              </a:spcAft>
            </a:pPr>
            <a:r>
              <a:rPr sz="1000" b="0">
                <a:solidFill>
                  <a:srgbClr val="1A1A1A"/>
                </a:solidFill>
                <a:latin typeface="Calibri"/>
              </a:rPr>
              <a:t>contacted for nothing</a:t>
            </a:r>
          </a:p>
        </p:txBody>
      </p:sp>
      <p:sp>
        <p:nvSpPr>
          <p:cNvPr id="9" name="Rectangle 8"/>
          <p:cNvSpPr/>
          <p:nvPr/>
        </p:nvSpPr>
        <p:spPr>
          <a:xfrm>
            <a:off x="7223760" y="3474720"/>
            <a:ext cx="2194560" cy="1325880"/>
          </a:xfrm>
          <a:prstGeom prst="rect">
            <a:avLst/>
          </a:prstGeom>
          <a:solidFill>
            <a:srgbClr val="0076C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223760" y="3675888"/>
            <a:ext cx="2194560" cy="548640"/>
          </a:xfrm>
          <a:prstGeom prst="rect">
            <a:avLst/>
          </a:prstGeom>
          <a:noFill/>
        </p:spPr>
        <p:txBody>
          <a:bodyPr wrap="square" lIns="0" tIns="0" rIns="0" bIns="0">
            <a:spAutoFit/>
          </a:bodyPr>
          <a:lstStyle/>
          <a:p>
            <a:pPr algn="ctr">
              <a:spcAft>
                <a:spcPts val="0"/>
              </a:spcAft>
            </a:pPr>
            <a:r>
              <a:rPr sz="3200" b="1">
                <a:solidFill>
                  <a:srgbClr val="FFFFFF"/>
                </a:solidFill>
                <a:latin typeface="Cambria"/>
              </a:rPr>
              <a:t>80</a:t>
            </a:r>
          </a:p>
        </p:txBody>
      </p:sp>
      <p:sp>
        <p:nvSpPr>
          <p:cNvPr id="11" name="TextBox 10"/>
          <p:cNvSpPr txBox="1"/>
          <p:nvPr/>
        </p:nvSpPr>
        <p:spPr>
          <a:xfrm>
            <a:off x="7223760" y="4224528"/>
            <a:ext cx="2194560" cy="365760"/>
          </a:xfrm>
          <a:prstGeom prst="rect">
            <a:avLst/>
          </a:prstGeom>
          <a:noFill/>
        </p:spPr>
        <p:txBody>
          <a:bodyPr wrap="square" lIns="0" tIns="0" rIns="0" bIns="0">
            <a:spAutoFit/>
          </a:bodyPr>
          <a:lstStyle/>
          <a:p>
            <a:pPr algn="ctr">
              <a:spcAft>
                <a:spcPts val="0"/>
              </a:spcAft>
            </a:pPr>
            <a:r>
              <a:rPr sz="1000" b="0">
                <a:solidFill>
                  <a:srgbClr val="FFFFFF"/>
                </a:solidFill>
                <a:latin typeface="Calibri"/>
              </a:rPr>
              <a:t>missed</a:t>
            </a:r>
          </a:p>
        </p:txBody>
      </p:sp>
      <p:sp>
        <p:nvSpPr>
          <p:cNvPr id="12" name="Rectangle 11"/>
          <p:cNvSpPr/>
          <p:nvPr/>
        </p:nvSpPr>
        <p:spPr>
          <a:xfrm>
            <a:off x="9418320" y="3474720"/>
            <a:ext cx="2194560" cy="1325880"/>
          </a:xfrm>
          <a:prstGeom prst="rect">
            <a:avLst/>
          </a:prstGeom>
          <a:solidFill>
            <a:srgbClr val="F6861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418320" y="3675888"/>
            <a:ext cx="2194560" cy="548640"/>
          </a:xfrm>
          <a:prstGeom prst="rect">
            <a:avLst/>
          </a:prstGeom>
          <a:noFill/>
        </p:spPr>
        <p:txBody>
          <a:bodyPr wrap="square" lIns="0" tIns="0" rIns="0" bIns="0">
            <a:spAutoFit/>
          </a:bodyPr>
          <a:lstStyle/>
          <a:p>
            <a:pPr algn="ctr">
              <a:spcAft>
                <a:spcPts val="0"/>
              </a:spcAft>
            </a:pPr>
            <a:r>
              <a:rPr sz="3200" b="1">
                <a:solidFill>
                  <a:srgbClr val="FFFFFF"/>
                </a:solidFill>
                <a:latin typeface="Cambria"/>
              </a:rPr>
              <a:t>311</a:t>
            </a:r>
          </a:p>
        </p:txBody>
      </p:sp>
      <p:sp>
        <p:nvSpPr>
          <p:cNvPr id="14" name="TextBox 13"/>
          <p:cNvSpPr txBox="1"/>
          <p:nvPr/>
        </p:nvSpPr>
        <p:spPr>
          <a:xfrm>
            <a:off x="9418320" y="4224528"/>
            <a:ext cx="2194560" cy="365760"/>
          </a:xfrm>
          <a:prstGeom prst="rect">
            <a:avLst/>
          </a:prstGeom>
          <a:noFill/>
        </p:spPr>
        <p:txBody>
          <a:bodyPr wrap="square" lIns="0" tIns="0" rIns="0" bIns="0">
            <a:spAutoFit/>
          </a:bodyPr>
          <a:lstStyle/>
          <a:p>
            <a:pPr algn="ctr">
              <a:spcAft>
                <a:spcPts val="0"/>
              </a:spcAft>
            </a:pPr>
            <a:r>
              <a:rPr sz="1000" b="0">
                <a:solidFill>
                  <a:srgbClr val="FFFFFF"/>
                </a:solidFill>
                <a:latin typeface="Calibri"/>
              </a:rPr>
              <a:t>caught</a:t>
            </a:r>
          </a:p>
        </p:txBody>
      </p:sp>
      <p:sp>
        <p:nvSpPr>
          <p:cNvPr id="15" name="TextBox 14"/>
          <p:cNvSpPr txBox="1"/>
          <p:nvPr/>
        </p:nvSpPr>
        <p:spPr>
          <a:xfrm>
            <a:off x="7223760" y="1892808"/>
            <a:ext cx="4389120" cy="228600"/>
          </a:xfrm>
          <a:prstGeom prst="rect">
            <a:avLst/>
          </a:prstGeom>
          <a:noFill/>
        </p:spPr>
        <p:txBody>
          <a:bodyPr wrap="square" lIns="0" tIns="0" rIns="0" bIns="0">
            <a:spAutoFit/>
          </a:bodyPr>
          <a:lstStyle/>
          <a:p>
            <a:pPr algn="ctr">
              <a:spcAft>
                <a:spcPts val="0"/>
              </a:spcAft>
            </a:pPr>
            <a:r>
              <a:rPr sz="900" b="0">
                <a:solidFill>
                  <a:srgbClr val="767676"/>
                </a:solidFill>
                <a:latin typeface="Calibri"/>
              </a:rPr>
              <a:t>not flagged                    flagged</a:t>
            </a:r>
          </a:p>
        </p:txBody>
      </p:sp>
      <p:sp>
        <p:nvSpPr>
          <p:cNvPr id="16" name="TextBox 15"/>
          <p:cNvSpPr txBox="1"/>
          <p:nvPr/>
        </p:nvSpPr>
        <p:spPr>
          <a:xfrm>
            <a:off x="566928" y="1600200"/>
            <a:ext cx="6309360" cy="2194560"/>
          </a:xfrm>
          <a:prstGeom prst="rect">
            <a:avLst/>
          </a:prstGeom>
          <a:noFill/>
        </p:spPr>
        <p:txBody>
          <a:bodyPr wrap="square" lIns="0" tIns="0" rIns="0" bIns="0">
            <a:spAutoFit/>
          </a:bodyPr>
          <a:lstStyle/>
          <a:p>
            <a:pPr algn="l">
              <a:lnSpc>
                <a:spcPct val="130000"/>
              </a:lnSpc>
              <a:spcAft>
                <a:spcPts val="900"/>
              </a:spcAft>
            </a:pPr>
            <a:r>
              <a:rPr sz="1400" b="1">
                <a:solidFill>
                  <a:srgbClr val="1A1A1A"/>
                </a:solidFill>
                <a:latin typeface="Calibri"/>
              </a:rPr>
              <a:t>172 in every 1,000 are contacted who were never going to leave.</a:t>
            </a:r>
          </a:p>
          <a:p>
            <a:pPr algn="l">
              <a:lnSpc>
                <a:spcPct val="130000"/>
              </a:lnSpc>
              <a:spcAft>
                <a:spcPts val="900"/>
              </a:spcAft>
            </a:pPr>
            <a:r>
              <a:rPr sz="1400" b="0">
                <a:solidFill>
                  <a:srgbClr val="595959"/>
                </a:solidFill>
                <a:latin typeface="Calibri"/>
              </a:rPr>
              <a:t>The cost is not paid in euros but in a student pulled into a conversation they did not need, and told in effect that a system thinks they are failing.</a:t>
            </a:r>
          </a:p>
          <a:p>
            <a:pPr algn="l">
              <a:lnSpc>
                <a:spcPct val="130000"/>
              </a:lnSpc>
              <a:spcAft>
                <a:spcPts val="900"/>
              </a:spcAft>
            </a:pPr>
            <a:r>
              <a:rPr sz="1400" b="0">
                <a:solidFill>
                  <a:srgbClr val="595959"/>
                </a:solidFill>
                <a:latin typeface="Calibri"/>
              </a:rPr>
              <a:t>If the tool flags fewer students then fewer graduates get bothered, but every student it cuts is also a leaver the team never reaches, so the 80 missed today becomes 120.</a:t>
            </a:r>
          </a:p>
        </p:txBody>
      </p:sp>
      <p:sp>
        <p:nvSpPr>
          <p:cNvPr id="17" name="TextBox 16"/>
          <p:cNvSpPr txBox="1"/>
          <p:nvPr/>
        </p:nvSpPr>
        <p:spPr>
          <a:xfrm>
            <a:off x="566928" y="4480560"/>
            <a:ext cx="6309360" cy="1554480"/>
          </a:xfrm>
          <a:prstGeom prst="rect">
            <a:avLst/>
          </a:prstGeom>
          <a:noFill/>
        </p:spPr>
        <p:txBody>
          <a:bodyPr wrap="square" lIns="0" tIns="0" rIns="0" bIns="0">
            <a:spAutoFit/>
          </a:bodyPr>
          <a:lstStyle/>
          <a:p>
            <a:pPr algn="l">
              <a:lnSpc>
                <a:spcPct val="125000"/>
              </a:lnSpc>
              <a:spcAft>
                <a:spcPts val="700"/>
              </a:spcAft>
            </a:pPr>
            <a:r>
              <a:rPr sz="1300" b="1">
                <a:solidFill>
                  <a:srgbClr val="1A1A1A"/>
                </a:solidFill>
                <a:latin typeface="Calibri"/>
              </a:rPr>
              <a:t>This is the trade, and it does not go away.</a:t>
            </a:r>
          </a:p>
          <a:p>
            <a:pPr algn="l">
              <a:lnSpc>
                <a:spcPct val="125000"/>
              </a:lnSpc>
              <a:spcAft>
                <a:spcPts val="700"/>
              </a:spcAft>
            </a:pPr>
            <a:r>
              <a:rPr sz="1300" b="0">
                <a:solidFill>
                  <a:srgbClr val="595959"/>
                </a:solidFill>
                <a:latin typeface="Calibri"/>
              </a:rPr>
              <a:t>Finding more leavers always means bothering more graduates, and bothering fewer always means finding fewer, so where the school sits is a judgement about students rather than a calculation.</a:t>
            </a:r>
          </a:p>
        </p:txBody>
      </p:sp>
      <p:sp>
        <p:nvSpPr>
          <p:cNvPr id="18" name="TextBox 17"/>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That is why the list goes to a person, and the person decides who to call.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tool is worse at its job for women</a:t>
            </a:r>
          </a:p>
        </p:txBody>
      </p:sp>
      <p:sp>
        <p:nvSpPr>
          <p:cNvPr id="3" name="TextBox 2"/>
          <p:cNvSpPr txBox="1"/>
          <p:nvPr/>
        </p:nvSpPr>
        <p:spPr>
          <a:xfrm>
            <a:off x="566928" y="1554480"/>
            <a:ext cx="6400800" cy="1097280"/>
          </a:xfrm>
          <a:prstGeom prst="rect">
            <a:avLst/>
          </a:prstGeom>
          <a:noFill/>
        </p:spPr>
        <p:txBody>
          <a:bodyPr wrap="square" lIns="0" tIns="0" rIns="0" bIns="0">
            <a:spAutoFit/>
          </a:bodyPr>
          <a:lstStyle/>
          <a:p>
            <a:pPr algn="l">
              <a:lnSpc>
                <a:spcPct val="130000"/>
              </a:lnSpc>
              <a:spcAft>
                <a:spcPts val="600"/>
              </a:spcAft>
            </a:pPr>
            <a:r>
              <a:rPr sz="1400" b="0">
                <a:solidFill>
                  <a:srgbClr val="595959"/>
                </a:solidFill>
                <a:latin typeface="Calibri"/>
              </a:rPr>
              <a:t>The tool was checked across gender, age, scholarship, and debt, and gender is the one that fails on fairness, because the other three flag groups that really do drop out more.</a:t>
            </a:r>
          </a:p>
        </p:txBody>
      </p:sp>
      <p:sp>
        <p:nvSpPr>
          <p:cNvPr id="4" name="TextBox 3"/>
          <p:cNvSpPr txBox="1"/>
          <p:nvPr/>
        </p:nvSpPr>
        <p:spPr>
          <a:xfrm>
            <a:off x="566928" y="3054096"/>
            <a:ext cx="1664208" cy="274320"/>
          </a:xfrm>
          <a:prstGeom prst="rect">
            <a:avLst/>
          </a:prstGeom>
          <a:noFill/>
        </p:spPr>
        <p:txBody>
          <a:bodyPr wrap="square" lIns="0" tIns="0" rIns="0" bIns="0">
            <a:spAutoFit/>
          </a:bodyPr>
          <a:lstStyle/>
          <a:p>
            <a:pPr algn="l">
              <a:spcAft>
                <a:spcPts val="0"/>
              </a:spcAft>
            </a:pPr>
            <a:r>
              <a:rPr sz="1000" b="0">
                <a:solidFill>
                  <a:srgbClr val="1A1A1A"/>
                </a:solidFill>
                <a:latin typeface="Calibri"/>
              </a:rPr>
              <a:t>men who leave</a:t>
            </a:r>
          </a:p>
        </p:txBody>
      </p:sp>
      <p:sp>
        <p:nvSpPr>
          <p:cNvPr id="5" name="Rectangle 4"/>
          <p:cNvSpPr/>
          <p:nvPr/>
        </p:nvSpPr>
        <p:spPr>
          <a:xfrm>
            <a:off x="2304288" y="3017520"/>
            <a:ext cx="4009644"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377940" y="2994660"/>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88%</a:t>
            </a:r>
          </a:p>
        </p:txBody>
      </p:sp>
      <p:sp>
        <p:nvSpPr>
          <p:cNvPr id="7" name="TextBox 6"/>
          <p:cNvSpPr txBox="1"/>
          <p:nvPr/>
        </p:nvSpPr>
        <p:spPr>
          <a:xfrm>
            <a:off x="566928" y="3621024"/>
            <a:ext cx="1664208" cy="274320"/>
          </a:xfrm>
          <a:prstGeom prst="rect">
            <a:avLst/>
          </a:prstGeom>
          <a:noFill/>
        </p:spPr>
        <p:txBody>
          <a:bodyPr wrap="square" lIns="0" tIns="0" rIns="0" bIns="0">
            <a:spAutoFit/>
          </a:bodyPr>
          <a:lstStyle/>
          <a:p>
            <a:pPr algn="l">
              <a:spcAft>
                <a:spcPts val="0"/>
              </a:spcAft>
            </a:pPr>
            <a:r>
              <a:rPr sz="1000" b="0">
                <a:solidFill>
                  <a:srgbClr val="1A1A1A"/>
                </a:solidFill>
                <a:latin typeface="Calibri"/>
              </a:rPr>
              <a:t>women who leave</a:t>
            </a:r>
          </a:p>
        </p:txBody>
      </p:sp>
      <p:sp>
        <p:nvSpPr>
          <p:cNvPr id="8" name="Rectangle 7"/>
          <p:cNvSpPr/>
          <p:nvPr/>
        </p:nvSpPr>
        <p:spPr>
          <a:xfrm>
            <a:off x="2304288" y="3584448"/>
            <a:ext cx="3200400"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568696" y="3561588"/>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70%</a:t>
            </a:r>
          </a:p>
        </p:txBody>
      </p:sp>
      <p:sp>
        <p:nvSpPr>
          <p:cNvPr id="10" name="TextBox 9"/>
          <p:cNvSpPr txBox="1"/>
          <p:nvPr/>
        </p:nvSpPr>
        <p:spPr>
          <a:xfrm>
            <a:off x="566928" y="4297680"/>
            <a:ext cx="6309360" cy="365760"/>
          </a:xfrm>
          <a:prstGeom prst="rect">
            <a:avLst/>
          </a:prstGeom>
          <a:noFill/>
        </p:spPr>
        <p:txBody>
          <a:bodyPr wrap="square" lIns="0" tIns="0" rIns="0" bIns="0">
            <a:spAutoFit/>
          </a:bodyPr>
          <a:lstStyle/>
          <a:p>
            <a:pPr algn="l">
              <a:spcAft>
                <a:spcPts val="600"/>
              </a:spcAft>
            </a:pPr>
            <a:r>
              <a:rPr sz="1000" b="0">
                <a:solidFill>
                  <a:srgbClr val="767676"/>
                </a:solidFill>
                <a:latin typeface="Calibri"/>
              </a:rPr>
              <a:t>Share of the students who go on to leave that the tool actually finds.</a:t>
            </a:r>
          </a:p>
        </p:txBody>
      </p:sp>
      <p:sp>
        <p:nvSpPr>
          <p:cNvPr id="11" name="TextBox 10"/>
          <p:cNvSpPr txBox="1"/>
          <p:nvPr/>
        </p:nvSpPr>
        <p:spPr>
          <a:xfrm>
            <a:off x="7589520" y="1783080"/>
            <a:ext cx="4023360" cy="603504"/>
          </a:xfrm>
          <a:prstGeom prst="rect">
            <a:avLst/>
          </a:prstGeom>
          <a:noFill/>
        </p:spPr>
        <p:txBody>
          <a:bodyPr wrap="square" lIns="0" tIns="0" rIns="0" bIns="0">
            <a:spAutoFit/>
          </a:bodyPr>
          <a:lstStyle/>
          <a:p>
            <a:pPr algn="l">
              <a:spcAft>
                <a:spcPts val="0"/>
              </a:spcAft>
            </a:pPr>
            <a:r>
              <a:rPr sz="5400" b="1">
                <a:solidFill>
                  <a:srgbClr val="1A1A1A"/>
                </a:solidFill>
                <a:latin typeface="Cambria"/>
              </a:rPr>
              <a:t>3 in 10</a:t>
            </a:r>
          </a:p>
        </p:txBody>
      </p:sp>
      <p:sp>
        <p:nvSpPr>
          <p:cNvPr id="12" name="TextBox 11"/>
          <p:cNvSpPr txBox="1"/>
          <p:nvPr/>
        </p:nvSpPr>
        <p:spPr>
          <a:xfrm>
            <a:off x="7589520" y="2606040"/>
            <a:ext cx="4023360" cy="2926080"/>
          </a:xfrm>
          <a:prstGeom prst="rect">
            <a:avLst/>
          </a:prstGeom>
          <a:noFill/>
        </p:spPr>
        <p:txBody>
          <a:bodyPr wrap="square" lIns="0" tIns="0" rIns="0" bIns="0">
            <a:spAutoFit/>
          </a:bodyPr>
          <a:lstStyle/>
          <a:p>
            <a:pPr algn="l">
              <a:lnSpc>
                <a:spcPct val="125000"/>
              </a:lnSpc>
              <a:spcAft>
                <a:spcPts val="800"/>
              </a:spcAft>
            </a:pPr>
            <a:r>
              <a:rPr sz="1300" b="0">
                <a:solidFill>
                  <a:srgbClr val="595959"/>
                </a:solidFill>
                <a:latin typeface="Calibri"/>
              </a:rPr>
              <a:t>of the women who go on to drop out are never on the list at all, and for men it is closer to one in eight.</a:t>
            </a:r>
          </a:p>
          <a:p>
            <a:pPr algn="l">
              <a:lnSpc>
                <a:spcPct val="125000"/>
              </a:lnSpc>
              <a:spcAft>
                <a:spcPts val="800"/>
              </a:spcAft>
            </a:pPr>
            <a:r>
              <a:rPr sz="1300" b="1">
                <a:solidFill>
                  <a:srgbClr val="1A1A1A"/>
                </a:solidFill>
                <a:latin typeface="Calibri"/>
              </a:rPr>
              <a:t>This shows up in no count of who gets flagged.</a:t>
            </a:r>
          </a:p>
          <a:p>
            <a:pPr algn="l">
              <a:lnSpc>
                <a:spcPct val="125000"/>
              </a:lnSpc>
              <a:spcAft>
                <a:spcPts val="800"/>
              </a:spcAft>
            </a:pPr>
            <a:r>
              <a:rPr sz="1300" b="0">
                <a:solidFill>
                  <a:srgbClr val="595959"/>
                </a:solidFill>
                <a:latin typeface="Calibri"/>
              </a:rPr>
              <a:t>The tool flags men about twice as often as women, so a check on flagging rates says men are over-contacted and stops there, which answers a different question from the one that matters.</a:t>
            </a:r>
          </a:p>
          <a:p>
            <a:pPr algn="l">
              <a:lnSpc>
                <a:spcPct val="125000"/>
              </a:lnSpc>
              <a:spcAft>
                <a:spcPts val="800"/>
              </a:spcAft>
            </a:pPr>
            <a:r>
              <a:rPr sz="1300" b="0">
                <a:solidFill>
                  <a:srgbClr val="595959"/>
                </a:solidFill>
                <a:latin typeface="Calibri"/>
              </a:rPr>
              <a:t>The harm only appears when you count who gets missed rather than who gets contacted.</a:t>
            </a:r>
          </a:p>
        </p:txBody>
      </p:sp>
      <p:sp>
        <p:nvSpPr>
          <p:cNvPr id="13" name="TextBox 12"/>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students this tool exists to reach are being missed, and they are being missed unevenly.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Closing that gap costs about 30 students</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There is a way to correct it. It works. It is not free, and the school should see the bill before it decides.</a:t>
            </a:r>
          </a:p>
        </p:txBody>
      </p:sp>
      <p:sp>
        <p:nvSpPr>
          <p:cNvPr id="4" name="TextBox 3"/>
          <p:cNvSpPr txBox="1"/>
          <p:nvPr/>
        </p:nvSpPr>
        <p:spPr>
          <a:xfrm>
            <a:off x="566928" y="1911095"/>
            <a:ext cx="1755648" cy="274320"/>
          </a:xfrm>
          <a:prstGeom prst="rect">
            <a:avLst/>
          </a:prstGeom>
          <a:noFill/>
        </p:spPr>
        <p:txBody>
          <a:bodyPr wrap="square" lIns="0" tIns="0" rIns="0" bIns="0">
            <a:spAutoFit/>
          </a:bodyPr>
          <a:lstStyle/>
          <a:p>
            <a:pPr algn="l">
              <a:spcAft>
                <a:spcPts val="0"/>
              </a:spcAft>
            </a:pPr>
            <a:r>
              <a:rPr sz="1000" b="0">
                <a:solidFill>
                  <a:srgbClr val="1A1A1A"/>
                </a:solidFill>
                <a:latin typeface="Calibri"/>
              </a:rPr>
              <a:t>as it stands</a:t>
            </a:r>
          </a:p>
        </p:txBody>
      </p:sp>
      <p:sp>
        <p:nvSpPr>
          <p:cNvPr id="5" name="Rectangle 4"/>
          <p:cNvSpPr/>
          <p:nvPr/>
        </p:nvSpPr>
        <p:spPr>
          <a:xfrm>
            <a:off x="2395728" y="1874519"/>
            <a:ext cx="3483635"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943371" y="1851659"/>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311</a:t>
            </a:r>
          </a:p>
        </p:txBody>
      </p:sp>
      <p:sp>
        <p:nvSpPr>
          <p:cNvPr id="7" name="TextBox 6"/>
          <p:cNvSpPr txBox="1"/>
          <p:nvPr/>
        </p:nvSpPr>
        <p:spPr>
          <a:xfrm>
            <a:off x="566928" y="2569463"/>
            <a:ext cx="1755648" cy="274320"/>
          </a:xfrm>
          <a:prstGeom prst="rect">
            <a:avLst/>
          </a:prstGeom>
          <a:noFill/>
        </p:spPr>
        <p:txBody>
          <a:bodyPr wrap="square" lIns="0" tIns="0" rIns="0" bIns="0">
            <a:spAutoFit/>
          </a:bodyPr>
          <a:lstStyle/>
          <a:p>
            <a:pPr algn="l">
              <a:spcAft>
                <a:spcPts val="0"/>
              </a:spcAft>
            </a:pPr>
            <a:r>
              <a:rPr sz="1000" b="0">
                <a:solidFill>
                  <a:srgbClr val="1A1A1A"/>
                </a:solidFill>
                <a:latin typeface="Calibri"/>
              </a:rPr>
              <a:t>with the gap closed</a:t>
            </a:r>
          </a:p>
        </p:txBody>
      </p:sp>
      <p:sp>
        <p:nvSpPr>
          <p:cNvPr id="8" name="Rectangle 7"/>
          <p:cNvSpPr/>
          <p:nvPr/>
        </p:nvSpPr>
        <p:spPr>
          <a:xfrm>
            <a:off x="2395728" y="2532887"/>
            <a:ext cx="3147593"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607329" y="2510027"/>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281</a:t>
            </a:r>
          </a:p>
        </p:txBody>
      </p:sp>
      <p:sp>
        <p:nvSpPr>
          <p:cNvPr id="10" name="TextBox 9"/>
          <p:cNvSpPr txBox="1"/>
          <p:nvPr/>
        </p:nvSpPr>
        <p:spPr>
          <a:xfrm>
            <a:off x="566928" y="3337560"/>
            <a:ext cx="6309360" cy="365760"/>
          </a:xfrm>
          <a:prstGeom prst="rect">
            <a:avLst/>
          </a:prstGeom>
          <a:noFill/>
        </p:spPr>
        <p:txBody>
          <a:bodyPr wrap="square" lIns="0" tIns="0" rIns="0" bIns="0">
            <a:spAutoFit/>
          </a:bodyPr>
          <a:lstStyle/>
          <a:p>
            <a:pPr algn="l">
              <a:spcAft>
                <a:spcPts val="600"/>
              </a:spcAft>
            </a:pPr>
            <a:r>
              <a:rPr sz="1000" b="0">
                <a:solidFill>
                  <a:srgbClr val="767676"/>
                </a:solidFill>
                <a:latin typeface="Calibri"/>
              </a:rPr>
              <a:t>Leavers found, per 1,000 students.</a:t>
            </a:r>
          </a:p>
        </p:txBody>
      </p:sp>
      <p:sp>
        <p:nvSpPr>
          <p:cNvPr id="11" name="TextBox 10"/>
          <p:cNvSpPr txBox="1"/>
          <p:nvPr/>
        </p:nvSpPr>
        <p:spPr>
          <a:xfrm>
            <a:off x="566928" y="3886200"/>
            <a:ext cx="6309360" cy="2103120"/>
          </a:xfrm>
          <a:prstGeom prst="rect">
            <a:avLst/>
          </a:prstGeom>
          <a:noFill/>
        </p:spPr>
        <p:txBody>
          <a:bodyPr wrap="square" lIns="0" tIns="0" rIns="0" bIns="0">
            <a:spAutoFit/>
          </a:bodyPr>
          <a:lstStyle/>
          <a:p>
            <a:pPr algn="l">
              <a:lnSpc>
                <a:spcPct val="125000"/>
              </a:lnSpc>
              <a:spcAft>
                <a:spcPts val="800"/>
              </a:spcAft>
            </a:pPr>
            <a:r>
              <a:rPr sz="1300" b="1">
                <a:solidFill>
                  <a:srgbClr val="1A1A1A"/>
                </a:solidFill>
                <a:latin typeface="Calibri"/>
              </a:rPr>
              <a:t>Thirty fewer students are reached in every thousand.</a:t>
            </a:r>
          </a:p>
          <a:p>
            <a:pPr algn="l">
              <a:lnSpc>
                <a:spcPct val="125000"/>
              </a:lnSpc>
              <a:spcAft>
                <a:spcPts val="800"/>
              </a:spcAft>
            </a:pPr>
            <a:r>
              <a:rPr sz="1300" b="0">
                <a:solidFill>
                  <a:srgbClr val="595959"/>
                </a:solidFill>
                <a:latin typeface="Calibri"/>
              </a:rPr>
              <a:t>That is about 8,000 EUR per 1,000 students at a 150 EUR contact, and the catch rate falls from about 8 in 10 to 7 in 10.</a:t>
            </a:r>
          </a:p>
          <a:p>
            <a:pPr algn="l">
              <a:lnSpc>
                <a:spcPct val="125000"/>
              </a:lnSpc>
              <a:spcAft>
                <a:spcPts val="800"/>
              </a:spcAft>
            </a:pPr>
            <a:r>
              <a:rPr sz="1300" b="1">
                <a:solidFill>
                  <a:srgbClr val="1A1A1A"/>
                </a:solidFill>
                <a:latin typeface="Calibri"/>
              </a:rPr>
              <a:t>What it buys is that those thirty are not loaded onto women.</a:t>
            </a:r>
          </a:p>
          <a:p>
            <a:pPr algn="l">
              <a:lnSpc>
                <a:spcPct val="125000"/>
              </a:lnSpc>
              <a:spcAft>
                <a:spcPts val="800"/>
              </a:spcAft>
            </a:pPr>
            <a:r>
              <a:rPr sz="1300" b="0">
                <a:solidFill>
                  <a:srgbClr val="595959"/>
                </a:solidFill>
                <a:latin typeface="Calibri"/>
              </a:rPr>
              <a:t>It does not make the tool better but it makes it evenly bad, and the list of about 410 still fits what the team can reach.</a:t>
            </a:r>
          </a:p>
        </p:txBody>
      </p:sp>
      <p:sp>
        <p:nvSpPr>
          <p:cNvPr id="12" name="TextBox 11"/>
          <p:cNvSpPr txBox="1"/>
          <p:nvPr/>
        </p:nvSpPr>
        <p:spPr>
          <a:xfrm>
            <a:off x="7223760" y="1874519"/>
            <a:ext cx="4389120" cy="365760"/>
          </a:xfrm>
          <a:prstGeom prst="rect">
            <a:avLst/>
          </a:prstGeom>
          <a:noFill/>
        </p:spPr>
        <p:txBody>
          <a:bodyPr wrap="square" lIns="0" tIns="0" rIns="0" bIns="0">
            <a:spAutoFit/>
          </a:bodyPr>
          <a:lstStyle/>
          <a:p>
            <a:pPr algn="l">
              <a:spcAft>
                <a:spcPts val="600"/>
              </a:spcAft>
            </a:pPr>
            <a:r>
              <a:rPr sz="1200" b="1">
                <a:solidFill>
                  <a:srgbClr val="1A1A1A"/>
                </a:solidFill>
                <a:latin typeface="Calibri"/>
              </a:rPr>
              <a:t>The option the school should not take</a:t>
            </a:r>
          </a:p>
        </p:txBody>
      </p:sp>
      <p:sp>
        <p:nvSpPr>
          <p:cNvPr id="13" name="TextBox 12"/>
          <p:cNvSpPr txBox="1"/>
          <p:nvPr/>
        </p:nvSpPr>
        <p:spPr>
          <a:xfrm>
            <a:off x="7223760" y="2286000"/>
            <a:ext cx="4389120" cy="2103120"/>
          </a:xfrm>
          <a:prstGeom prst="rect">
            <a:avLst/>
          </a:prstGeom>
          <a:noFill/>
        </p:spPr>
        <p:txBody>
          <a:bodyPr wrap="square" lIns="0" tIns="0" rIns="0" bIns="0">
            <a:spAutoFit/>
          </a:bodyPr>
          <a:lstStyle/>
          <a:p>
            <a:pPr algn="l">
              <a:lnSpc>
                <a:spcPct val="125000"/>
              </a:lnSpc>
              <a:spcAft>
                <a:spcPts val="800"/>
              </a:spcAft>
            </a:pPr>
            <a:r>
              <a:rPr sz="1300" b="0">
                <a:solidFill>
                  <a:srgbClr val="595959"/>
                </a:solidFill>
                <a:latin typeface="Calibri"/>
              </a:rPr>
              <a:t>A second fix closes the same gap and looks better on paper, but it gets there by contacting fewer students of every kind, so it costs seventy leavers instead of thirty.</a:t>
            </a:r>
          </a:p>
          <a:p>
            <a:pPr algn="l">
              <a:lnSpc>
                <a:spcPct val="125000"/>
              </a:lnSpc>
              <a:spcAft>
                <a:spcPts val="800"/>
              </a:spcAft>
            </a:pPr>
            <a:r>
              <a:rPr sz="1300" b="1">
                <a:solidFill>
                  <a:srgbClr val="1A1A1A"/>
                </a:solidFill>
                <a:latin typeface="Calibri"/>
              </a:rPr>
              <a:t>Fixing a gap by helping fewer people is not a fix.</a:t>
            </a:r>
          </a:p>
        </p:txBody>
      </p:sp>
      <p:sp>
        <p:nvSpPr>
          <p:cNvPr id="14" name="TextBox 13"/>
          <p:cNvSpPr txBox="1"/>
          <p:nvPr/>
        </p:nvSpPr>
        <p:spPr>
          <a:xfrm>
            <a:off x="7223760" y="4709160"/>
            <a:ext cx="4389120" cy="1280160"/>
          </a:xfrm>
          <a:prstGeom prst="rect">
            <a:avLst/>
          </a:prstGeom>
          <a:noFill/>
        </p:spPr>
        <p:txBody>
          <a:bodyPr wrap="square" lIns="0" tIns="0" rIns="0" bIns="0">
            <a:spAutoFit/>
          </a:bodyPr>
          <a:lstStyle/>
          <a:p>
            <a:pPr algn="l">
              <a:lnSpc>
                <a:spcPct val="125000"/>
              </a:lnSpc>
              <a:spcAft>
                <a:spcPts val="800"/>
              </a:spcAft>
            </a:pPr>
            <a:r>
              <a:rPr sz="1300" b="1">
                <a:solidFill>
                  <a:srgbClr val="1A1A1A"/>
                </a:solidFill>
                <a:latin typeface="Calibri"/>
              </a:rPr>
              <a:t>This is the school's decision, not the tool's.</a:t>
            </a:r>
          </a:p>
          <a:p>
            <a:pPr algn="l">
              <a:lnSpc>
                <a:spcPct val="125000"/>
              </a:lnSpc>
              <a:spcAft>
                <a:spcPts val="800"/>
              </a:spcAft>
            </a:pPr>
            <a:r>
              <a:rPr sz="1300" b="0">
                <a:solidFill>
                  <a:srgbClr val="595959"/>
                </a:solidFill>
                <a:latin typeface="Calibri"/>
              </a:rPr>
              <a:t>Thirty students is the price of the tool finding women as well as it finds men, and only the school can say whether that is worth paying.</a:t>
            </a:r>
          </a:p>
        </p:txBody>
      </p:sp>
      <p:sp>
        <p:nvSpPr>
          <p:cNvPr id="15" name="TextBox 14"/>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recommendation is to pay it, but the number is on the table rather than hidden.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How to put it in, without betting the school on it</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Nothing here asks anyone to trust the tool on day one. Each phase earns the next.</a:t>
            </a:r>
          </a:p>
        </p:txBody>
      </p:sp>
      <p:sp>
        <p:nvSpPr>
          <p:cNvPr id="4" name="Rectangle 3"/>
          <p:cNvSpPr/>
          <p:nvPr/>
        </p:nvSpPr>
        <p:spPr>
          <a:xfrm>
            <a:off x="566928"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66928" y="1984248"/>
            <a:ext cx="3503066" cy="228600"/>
          </a:xfrm>
          <a:prstGeom prst="rect">
            <a:avLst/>
          </a:prstGeom>
          <a:noFill/>
        </p:spPr>
        <p:txBody>
          <a:bodyPr wrap="square" lIns="0" tIns="0" rIns="0" bIns="0">
            <a:spAutoFit/>
          </a:bodyPr>
          <a:lstStyle/>
          <a:p>
            <a:pPr algn="l">
              <a:spcAft>
                <a:spcPts val="0"/>
              </a:spcAft>
            </a:pPr>
            <a:r>
              <a:rPr sz="1000" b="1">
                <a:solidFill>
                  <a:srgbClr val="595959"/>
                </a:solidFill>
                <a:latin typeface="Calibri"/>
              </a:rPr>
              <a:t>ONE TERM</a:t>
            </a:r>
          </a:p>
        </p:txBody>
      </p:sp>
      <p:sp>
        <p:nvSpPr>
          <p:cNvPr id="6" name="TextBox 5"/>
          <p:cNvSpPr txBox="1"/>
          <p:nvPr/>
        </p:nvSpPr>
        <p:spPr>
          <a:xfrm>
            <a:off x="566928" y="2258568"/>
            <a:ext cx="3503066" cy="365760"/>
          </a:xfrm>
          <a:prstGeom prst="rect">
            <a:avLst/>
          </a:prstGeom>
          <a:noFill/>
        </p:spPr>
        <p:txBody>
          <a:bodyPr wrap="square" lIns="0" tIns="0" rIns="0" bIns="0">
            <a:spAutoFit/>
          </a:bodyPr>
          <a:lstStyle/>
          <a:p>
            <a:pPr algn="l">
              <a:lnSpc>
                <a:spcPct val="115000"/>
              </a:lnSpc>
              <a:spcAft>
                <a:spcPts val="0"/>
              </a:spcAft>
            </a:pPr>
            <a:r>
              <a:rPr sz="1500" b="1">
                <a:solidFill>
                  <a:srgbClr val="1A1A1A"/>
                </a:solidFill>
                <a:latin typeface="Cambria"/>
              </a:rPr>
              <a:t>1. Watch it, do not act on it</a:t>
            </a:r>
          </a:p>
        </p:txBody>
      </p:sp>
      <p:sp>
        <p:nvSpPr>
          <p:cNvPr id="7" name="TextBox 6"/>
          <p:cNvSpPr txBox="1"/>
          <p:nvPr/>
        </p:nvSpPr>
        <p:spPr>
          <a:xfrm>
            <a:off x="566928" y="2743200"/>
            <a:ext cx="3503066" cy="1737360"/>
          </a:xfrm>
          <a:prstGeom prst="rect">
            <a:avLst/>
          </a:prstGeom>
          <a:noFill/>
        </p:spPr>
        <p:txBody>
          <a:bodyPr wrap="square" lIns="0" tIns="0" rIns="0" bIns="0">
            <a:spAutoFit/>
          </a:bodyPr>
          <a:lstStyle/>
          <a:p>
            <a:pPr algn="l">
              <a:lnSpc>
                <a:spcPct val="125000"/>
              </a:lnSpc>
              <a:spcAft>
                <a:spcPts val="600"/>
              </a:spcAft>
            </a:pPr>
            <a:r>
              <a:rPr sz="1200" b="0">
                <a:solidFill>
                  <a:srgbClr val="595959"/>
                </a:solidFill>
                <a:latin typeface="Calibri"/>
              </a:rPr>
              <a:t>The tool produces its list and nobody is contacted, and at the end of term the school compares who it flagged against who actually left, and against who the tutors would have worried about anyway.
If it does not beat the tutors then it does not deploy.</a:t>
            </a:r>
          </a:p>
        </p:txBody>
      </p:sp>
      <p:sp>
        <p:nvSpPr>
          <p:cNvPr id="8" name="Rectangle 7"/>
          <p:cNvSpPr/>
          <p:nvPr/>
        </p:nvSpPr>
        <p:spPr>
          <a:xfrm>
            <a:off x="4344314"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344314" y="1984248"/>
            <a:ext cx="3503066" cy="228600"/>
          </a:xfrm>
          <a:prstGeom prst="rect">
            <a:avLst/>
          </a:prstGeom>
          <a:noFill/>
        </p:spPr>
        <p:txBody>
          <a:bodyPr wrap="square" lIns="0" tIns="0" rIns="0" bIns="0">
            <a:spAutoFit/>
          </a:bodyPr>
          <a:lstStyle/>
          <a:p>
            <a:pPr algn="l">
              <a:spcAft>
                <a:spcPts val="0"/>
              </a:spcAft>
            </a:pPr>
            <a:r>
              <a:rPr sz="1000" b="1">
                <a:solidFill>
                  <a:srgbClr val="595959"/>
                </a:solidFill>
                <a:latin typeface="Calibri"/>
              </a:rPr>
              <a:t>ONE YEAR</a:t>
            </a:r>
          </a:p>
        </p:txBody>
      </p:sp>
      <p:sp>
        <p:nvSpPr>
          <p:cNvPr id="10" name="TextBox 9"/>
          <p:cNvSpPr txBox="1"/>
          <p:nvPr/>
        </p:nvSpPr>
        <p:spPr>
          <a:xfrm>
            <a:off x="4344314" y="2258568"/>
            <a:ext cx="3503066" cy="365760"/>
          </a:xfrm>
          <a:prstGeom prst="rect">
            <a:avLst/>
          </a:prstGeom>
          <a:noFill/>
        </p:spPr>
        <p:txBody>
          <a:bodyPr wrap="square" lIns="0" tIns="0" rIns="0" bIns="0">
            <a:spAutoFit/>
          </a:bodyPr>
          <a:lstStyle/>
          <a:p>
            <a:pPr algn="l">
              <a:lnSpc>
                <a:spcPct val="115000"/>
              </a:lnSpc>
              <a:spcAft>
                <a:spcPts val="0"/>
              </a:spcAft>
            </a:pPr>
            <a:r>
              <a:rPr sz="1500" b="1">
                <a:solidFill>
                  <a:srgbClr val="1A1A1A"/>
                </a:solidFill>
                <a:latin typeface="Cambria"/>
              </a:rPr>
              <a:t>2. One department, real contact</a:t>
            </a:r>
          </a:p>
        </p:txBody>
      </p:sp>
      <p:sp>
        <p:nvSpPr>
          <p:cNvPr id="11" name="TextBox 10"/>
          <p:cNvSpPr txBox="1"/>
          <p:nvPr/>
        </p:nvSpPr>
        <p:spPr>
          <a:xfrm>
            <a:off x="4344314" y="2743200"/>
            <a:ext cx="3503066" cy="1737360"/>
          </a:xfrm>
          <a:prstGeom prst="rect">
            <a:avLst/>
          </a:prstGeom>
          <a:noFill/>
        </p:spPr>
        <p:txBody>
          <a:bodyPr wrap="square" lIns="0" tIns="0" rIns="0" bIns="0">
            <a:spAutoFit/>
          </a:bodyPr>
          <a:lstStyle/>
          <a:p>
            <a:pPr algn="l">
              <a:lnSpc>
                <a:spcPct val="125000"/>
              </a:lnSpc>
              <a:spcAft>
                <a:spcPts val="600"/>
              </a:spcAft>
            </a:pPr>
            <a:r>
              <a:rPr sz="1200" b="0">
                <a:solidFill>
                  <a:srgbClr val="595959"/>
                </a:solidFill>
                <a:latin typeface="Calibri"/>
              </a:rPr>
              <a:t>A single department runs it for real, and the list goes to a tutor who decides who to call.
This finally tests the thing slide 5 rests on, which is whether reaching out actually keeps anyone, since that was only ever an assumption of three in ten.</a:t>
            </a:r>
          </a:p>
        </p:txBody>
      </p:sp>
      <p:sp>
        <p:nvSpPr>
          <p:cNvPr id="12" name="Rectangle 11"/>
          <p:cNvSpPr/>
          <p:nvPr/>
        </p:nvSpPr>
        <p:spPr>
          <a:xfrm>
            <a:off x="8121700"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121700" y="1984248"/>
            <a:ext cx="3503066" cy="228600"/>
          </a:xfrm>
          <a:prstGeom prst="rect">
            <a:avLst/>
          </a:prstGeom>
          <a:noFill/>
        </p:spPr>
        <p:txBody>
          <a:bodyPr wrap="square" lIns="0" tIns="0" rIns="0" bIns="0">
            <a:spAutoFit/>
          </a:bodyPr>
          <a:lstStyle/>
          <a:p>
            <a:pPr algn="l">
              <a:spcAft>
                <a:spcPts val="0"/>
              </a:spcAft>
            </a:pPr>
            <a:r>
              <a:rPr sz="1000" b="1">
                <a:solidFill>
                  <a:srgbClr val="595959"/>
                </a:solidFill>
                <a:latin typeface="Calibri"/>
              </a:rPr>
              <a:t>ONGOING</a:t>
            </a:r>
          </a:p>
        </p:txBody>
      </p:sp>
      <p:sp>
        <p:nvSpPr>
          <p:cNvPr id="14" name="TextBox 13"/>
          <p:cNvSpPr txBox="1"/>
          <p:nvPr/>
        </p:nvSpPr>
        <p:spPr>
          <a:xfrm>
            <a:off x="8121700" y="2258568"/>
            <a:ext cx="3503066" cy="365760"/>
          </a:xfrm>
          <a:prstGeom prst="rect">
            <a:avLst/>
          </a:prstGeom>
          <a:noFill/>
        </p:spPr>
        <p:txBody>
          <a:bodyPr wrap="square" lIns="0" tIns="0" rIns="0" bIns="0">
            <a:spAutoFit/>
          </a:bodyPr>
          <a:lstStyle/>
          <a:p>
            <a:pPr algn="l">
              <a:lnSpc>
                <a:spcPct val="115000"/>
              </a:lnSpc>
              <a:spcAft>
                <a:spcPts val="0"/>
              </a:spcAft>
            </a:pPr>
            <a:r>
              <a:rPr sz="1500" b="1">
                <a:solidFill>
                  <a:srgbClr val="1A1A1A"/>
                </a:solidFill>
                <a:latin typeface="Cambria"/>
              </a:rPr>
              <a:t>3. Full rollout, with a standing check</a:t>
            </a:r>
          </a:p>
        </p:txBody>
      </p:sp>
      <p:sp>
        <p:nvSpPr>
          <p:cNvPr id="15" name="TextBox 14"/>
          <p:cNvSpPr txBox="1"/>
          <p:nvPr/>
        </p:nvSpPr>
        <p:spPr>
          <a:xfrm>
            <a:off x="8121700" y="2743200"/>
            <a:ext cx="3503066" cy="1737360"/>
          </a:xfrm>
          <a:prstGeom prst="rect">
            <a:avLst/>
          </a:prstGeom>
          <a:noFill/>
        </p:spPr>
        <p:txBody>
          <a:bodyPr wrap="square" lIns="0" tIns="0" rIns="0" bIns="0">
            <a:spAutoFit/>
          </a:bodyPr>
          <a:lstStyle/>
          <a:p>
            <a:pPr algn="l">
              <a:lnSpc>
                <a:spcPct val="125000"/>
              </a:lnSpc>
              <a:spcAft>
                <a:spcPts val="600"/>
              </a:spcAft>
            </a:pPr>
            <a:r>
              <a:rPr sz="1200" b="0">
                <a:solidFill>
                  <a:srgbClr val="595959"/>
                </a:solidFill>
                <a:latin typeface="Calibri"/>
              </a:rPr>
              <a:t>The tool runs school-wide, with the gender gap re-measured at every intake and reported to whoever owns the decision.
It was measured on a single group of 130 women, and it will not stay fixed on its own.</a:t>
            </a:r>
          </a:p>
        </p:txBody>
      </p:sp>
      <p:sp>
        <p:nvSpPr>
          <p:cNvPr id="16" name="TextBox 15"/>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tool is cheap to run and expensive to trust, so the school buys that trust in stages.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Three conditions, and the ask</a:t>
            </a:r>
          </a:p>
        </p:txBody>
      </p:sp>
      <p:sp>
        <p:nvSpPr>
          <p:cNvPr id="3" name="TextBox 2"/>
          <p:cNvSpPr txBox="1"/>
          <p:nvPr/>
        </p:nvSpPr>
        <p:spPr>
          <a:xfrm>
            <a:off x="566928" y="1645920"/>
            <a:ext cx="6766560" cy="4023360"/>
          </a:xfrm>
          <a:prstGeom prst="rect">
            <a:avLst/>
          </a:prstGeom>
          <a:noFill/>
        </p:spPr>
        <p:txBody>
          <a:bodyPr wrap="square" lIns="0" tIns="0" rIns="0" bIns="0">
            <a:spAutoFit/>
          </a:bodyPr>
          <a:lstStyle/>
          <a:p>
            <a:pPr algn="l">
              <a:lnSpc>
                <a:spcPct val="130000"/>
              </a:lnSpc>
              <a:spcAft>
                <a:spcPts val="1000"/>
              </a:spcAft>
            </a:pPr>
            <a:r>
              <a:rPr sz="1400" b="1">
                <a:solidFill>
                  <a:srgbClr val="1A1A1A"/>
                </a:solidFill>
                <a:latin typeface="Calibri"/>
              </a:rPr>
              <a:t>1.  A student never sees their score.</a:t>
            </a:r>
          </a:p>
          <a:p>
            <a:pPr algn="l">
              <a:lnSpc>
                <a:spcPct val="130000"/>
              </a:lnSpc>
              <a:spcAft>
                <a:spcPts val="1000"/>
              </a:spcAft>
            </a:pPr>
            <a:r>
              <a:rPr sz="1400" b="0">
                <a:solidFill>
                  <a:srgbClr val="595959"/>
                </a:solidFill>
                <a:latin typeface="Calibri"/>
              </a:rPr>
              <a:t>It appears on no portal and in no letter, and no tutor reads it out, because a prediction handed to a person is not help.</a:t>
            </a:r>
          </a:p>
          <a:p>
            <a:pPr algn="l">
              <a:lnSpc>
                <a:spcPct val="130000"/>
              </a:lnSpc>
              <a:spcAft>
                <a:spcPts val="1000"/>
              </a:spcAft>
            </a:pPr>
            <a:r>
              <a:rPr sz="1400" b="1">
                <a:solidFill>
                  <a:srgbClr val="1A1A1A"/>
                </a:solidFill>
                <a:latin typeface="Calibri"/>
              </a:rPr>
              <a:t>2.  Fix what the school can actually change.</a:t>
            </a:r>
          </a:p>
          <a:p>
            <a:pPr algn="l">
              <a:lnSpc>
                <a:spcPct val="130000"/>
              </a:lnSpc>
              <a:spcAft>
                <a:spcPts val="1000"/>
              </a:spcAft>
            </a:pPr>
            <a:r>
              <a:rPr sz="1400" b="0">
                <a:solidFill>
                  <a:srgbClr val="595959"/>
                </a:solidFill>
                <a:latin typeface="Calibri"/>
              </a:rPr>
              <a:t>The strongest signals, a student's course and a parent's job, are not things they can change, so the one that can be is unpaid fees, and a payment plan is cheaper than a tutor and treats the cause.</a:t>
            </a:r>
          </a:p>
          <a:p>
            <a:pPr algn="l">
              <a:lnSpc>
                <a:spcPct val="130000"/>
              </a:lnSpc>
              <a:spcAft>
                <a:spcPts val="1000"/>
              </a:spcAft>
            </a:pPr>
            <a:r>
              <a:rPr sz="1400" b="1">
                <a:solidFill>
                  <a:srgbClr val="1A1A1A"/>
                </a:solidFill>
                <a:latin typeface="Calibri"/>
              </a:rPr>
              <a:t>3.  Re-measure the gap every intake.</a:t>
            </a:r>
          </a:p>
          <a:p>
            <a:pPr algn="l">
              <a:lnSpc>
                <a:spcPct val="130000"/>
              </a:lnSpc>
              <a:spcAft>
                <a:spcPts val="1000"/>
              </a:spcAft>
            </a:pPr>
            <a:r>
              <a:rPr sz="1400" b="0">
                <a:solidFill>
                  <a:srgbClr val="595959"/>
                </a:solidFill>
                <a:latin typeface="Calibri"/>
              </a:rPr>
              <a:t>It was measured only once, on a single group, so it belongs in the annual reporting line with a named owner.</a:t>
            </a:r>
          </a:p>
        </p:txBody>
      </p:sp>
      <p:sp>
        <p:nvSpPr>
          <p:cNvPr id="4" name="TextBox 3"/>
          <p:cNvSpPr txBox="1"/>
          <p:nvPr/>
        </p:nvSpPr>
        <p:spPr>
          <a:xfrm>
            <a:off x="7680960" y="1737360"/>
            <a:ext cx="3931920" cy="365760"/>
          </a:xfrm>
          <a:prstGeom prst="rect">
            <a:avLst/>
          </a:prstGeom>
          <a:noFill/>
        </p:spPr>
        <p:txBody>
          <a:bodyPr wrap="square" lIns="0" tIns="0" rIns="0" bIns="0">
            <a:spAutoFit/>
          </a:bodyPr>
          <a:lstStyle/>
          <a:p>
            <a:pPr algn="l">
              <a:spcAft>
                <a:spcPts val="600"/>
              </a:spcAft>
            </a:pPr>
            <a:r>
              <a:rPr sz="1200" b="1">
                <a:solidFill>
                  <a:srgbClr val="1A1A1A"/>
                </a:solidFill>
                <a:latin typeface="Calibri"/>
              </a:rPr>
              <a:t>THE ASK</a:t>
            </a:r>
          </a:p>
        </p:txBody>
      </p:sp>
      <p:sp>
        <p:nvSpPr>
          <p:cNvPr id="5" name="TextBox 4"/>
          <p:cNvSpPr txBox="1"/>
          <p:nvPr/>
        </p:nvSpPr>
        <p:spPr>
          <a:xfrm>
            <a:off x="7680960" y="2148840"/>
            <a:ext cx="3931920" cy="3291840"/>
          </a:xfrm>
          <a:prstGeom prst="rect">
            <a:avLst/>
          </a:prstGeom>
          <a:noFill/>
        </p:spPr>
        <p:txBody>
          <a:bodyPr wrap="square" lIns="0" tIns="0" rIns="0" bIns="0">
            <a:spAutoFit/>
          </a:bodyPr>
          <a:lstStyle/>
          <a:p>
            <a:pPr algn="l">
              <a:lnSpc>
                <a:spcPct val="125000"/>
              </a:lnSpc>
              <a:spcAft>
                <a:spcPts val="800"/>
              </a:spcAft>
            </a:pPr>
            <a:r>
              <a:rPr sz="1300" b="1">
                <a:solidFill>
                  <a:srgbClr val="1A1A1A"/>
                </a:solidFill>
                <a:latin typeface="Calibri"/>
              </a:rPr>
              <a:t>Approve phase one.</a:t>
            </a:r>
          </a:p>
          <a:p>
            <a:pPr algn="l">
              <a:lnSpc>
                <a:spcPct val="125000"/>
              </a:lnSpc>
              <a:spcAft>
                <a:spcPts val="800"/>
              </a:spcAft>
            </a:pPr>
            <a:r>
              <a:rPr sz="1300" b="0">
                <a:solidFill>
                  <a:srgbClr val="595959"/>
                </a:solidFill>
                <a:latin typeface="Calibri"/>
              </a:rPr>
              <a:t>For one term the tool runs and nobody is contacted, so that by the end we know whether it beats a tutor's judgement.</a:t>
            </a:r>
          </a:p>
          <a:p>
            <a:pPr algn="l">
              <a:lnSpc>
                <a:spcPct val="125000"/>
              </a:lnSpc>
              <a:spcAft>
                <a:spcPts val="800"/>
              </a:spcAft>
            </a:pPr>
            <a:r>
              <a:rPr sz="1300" b="0">
                <a:solidFill>
                  <a:srgbClr val="595959"/>
                </a:solidFill>
                <a:latin typeface="Calibri"/>
              </a:rPr>
              <a:t>It costs a term of nobody's time, and it buys the one thing worth buying at this stage, which is evidence.</a:t>
            </a:r>
          </a:p>
          <a:p>
            <a:pPr algn="l">
              <a:lnSpc>
                <a:spcPct val="125000"/>
              </a:lnSpc>
              <a:spcAft>
                <a:spcPts val="800"/>
              </a:spcAft>
            </a:pPr>
            <a:r>
              <a:rPr sz="1300" b="1">
                <a:solidFill>
                  <a:srgbClr val="1A1A1A"/>
                </a:solidFill>
                <a:latin typeface="Calibri"/>
              </a:rPr>
              <a:t>And approve the shape of the thing.</a:t>
            </a:r>
          </a:p>
          <a:p>
            <a:pPr algn="l">
              <a:lnSpc>
                <a:spcPct val="125000"/>
              </a:lnSpc>
              <a:spcAft>
                <a:spcPts val="800"/>
              </a:spcAft>
            </a:pPr>
            <a:r>
              <a:rPr sz="1300" b="0">
                <a:solidFill>
                  <a:srgbClr val="595959"/>
                </a:solidFill>
                <a:latin typeface="Calibri"/>
              </a:rPr>
              <a:t>It should be a ranked list that a person reads and acts on, rather than a label stuck on a student's record that follows them around.</a:t>
            </a:r>
          </a:p>
        </p:txBody>
      </p:sp>
      <p:sp>
        <p:nvSpPr>
          <p:cNvPr id="6" name="TextBox 5"/>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tool works, and it should not be trusted blindly, but it does not need to be, because it only has to point a tutor at the right student early enough to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1878</Words>
  <Application>Microsoft Macintosh PowerPoint</Application>
  <DocSecurity>0</DocSecurity>
  <PresentationFormat>Widescreen</PresentationFormat>
  <Paragraphs>140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the students who will leave, while there is still time to help</dc:title>
  <dc:subject>PGD AI/ML capstone, Pillar 5. Business deck.</dc:subject>
  <dc:creator>jeryl.elixir.dev@outlook.com</dc:creator>
  <cp:keywords/>
  <dc:description/>
  <cp:lastModifiedBy>je 888</cp:lastModifiedBy>
  <cp:revision>1</cp:revision>
  <dcterms:created xsi:type="dcterms:W3CDTF">2026-07-15T22:30:18Z</dcterms:created>
  <dcterms:modified xsi:type="dcterms:W3CDTF">2026-07-17T06:20:22Z</dcterms:modified>
  <cp:category/>
  <dc:identifier/>
  <cp:contentStatus/>
  <dc:language>en-US</dc:language>
</cp:coreProperties>
</file>