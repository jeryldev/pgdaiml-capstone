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057400"/>
            <a:ext cx="10058400" cy="1645920"/>
          </a:xfrm>
          <a:prstGeom prst="rect">
            <a:avLst/>
          </a:prstGeom>
          <a:noFill/>
        </p:spPr>
        <p:txBody>
          <a:bodyPr wrap="square" lIns="0" rIns="0" tIns="0" bIns="0">
            <a:spAutoFit/>
          </a:bodyPr>
          <a:lstStyle/>
          <a:p>
            <a:pPr algn="l">
              <a:lnSpc>
                <a:spcPct val="120000"/>
              </a:lnSpc>
              <a:spcAft>
                <a:spcPts val="600"/>
              </a:spcAft>
            </a:pPr>
            <a:r>
              <a:rPr sz="4000" b="1">
                <a:solidFill>
                  <a:srgbClr val="FFFFFF"/>
                </a:solidFill>
                <a:latin typeface="Cambria"/>
              </a:rPr>
              <a:t>Finding the students who will leave,
while there is still time to help</a:t>
            </a:r>
          </a:p>
        </p:txBody>
      </p:sp>
      <p:sp>
        <p:nvSpPr>
          <p:cNvPr id="4" name="TextBox 3"/>
          <p:cNvSpPr txBox="1"/>
          <p:nvPr/>
        </p:nvSpPr>
        <p:spPr>
          <a:xfrm>
            <a:off x="566928" y="4069080"/>
            <a:ext cx="9601200" cy="457200"/>
          </a:xfrm>
          <a:prstGeom prst="rect">
            <a:avLst/>
          </a:prstGeom>
          <a:noFill/>
        </p:spPr>
        <p:txBody>
          <a:bodyPr wrap="square" lIns="0" rIns="0" tIns="0" bIns="0">
            <a:spAutoFit/>
          </a:bodyPr>
          <a:lstStyle/>
          <a:p>
            <a:pPr algn="l">
              <a:spcAft>
                <a:spcPts val="600"/>
              </a:spcAft>
            </a:pPr>
            <a:r>
              <a:rPr sz="1900" b="1">
                <a:solidFill>
                  <a:srgbClr val="FFCC2A"/>
                </a:solidFill>
                <a:latin typeface="Calibri"/>
              </a:rPr>
              <a:t>An early warning on day one. </a:t>
            </a:r>
            <a:r>
              <a:rPr sz="1900" b="0">
                <a:solidFill>
                  <a:srgbClr val="CFCFCF"/>
                </a:solidFill>
                <a:latin typeface="Calibri"/>
              </a:rPr>
              <a:t>And one decision only the school can make.</a:t>
            </a:r>
          </a:p>
        </p:txBody>
      </p:sp>
      <p:sp>
        <p:nvSpPr>
          <p:cNvPr id="5" name="TextBox 4"/>
          <p:cNvSpPr txBox="1"/>
          <p:nvPr/>
        </p:nvSpPr>
        <p:spPr>
          <a:xfrm>
            <a:off x="566928" y="5394960"/>
            <a:ext cx="10515600" cy="365760"/>
          </a:xfrm>
          <a:prstGeom prst="rect">
            <a:avLst/>
          </a:prstGeom>
          <a:noFill/>
        </p:spPr>
        <p:txBody>
          <a:bodyPr wrap="square" lIns="0" rIns="0" tIns="0" bIns="0">
            <a:spAutoFit/>
          </a:bodyPr>
          <a:lstStyle/>
          <a:p>
            <a:pPr algn="l">
              <a:spcAft>
                <a:spcPts val="600"/>
              </a:spcAft>
            </a:pPr>
            <a:r>
              <a:rPr sz="1500" b="1">
                <a:solidFill>
                  <a:srgbClr val="FFFFFF"/>
                </a:solidFill>
                <a:latin typeface="Calibri"/>
              </a:rPr>
              <a:t>Jeryl Donato Estopace</a:t>
            </a:r>
          </a:p>
        </p:txBody>
      </p:sp>
      <p:sp>
        <p:nvSpPr>
          <p:cNvPr id="6" name="TextBox 5"/>
          <p:cNvSpPr txBox="1"/>
          <p:nvPr/>
        </p:nvSpPr>
        <p:spPr>
          <a:xfrm>
            <a:off x="566928" y="5852160"/>
            <a:ext cx="10515600" cy="822960"/>
          </a:xfrm>
          <a:prstGeom prst="rect">
            <a:avLst/>
          </a:prstGeom>
          <a:noFill/>
        </p:spPr>
        <p:txBody>
          <a:bodyPr wrap="square" lIns="0" rIns="0" tIns="0" bIns="0">
            <a:spAutoFit/>
          </a:bodyPr>
          <a:lstStyle/>
          <a:p>
            <a:pPr algn="l">
              <a:spcAft>
                <a:spcPts val="300"/>
              </a:spcAft>
            </a:pPr>
            <a:r>
              <a:rPr sz="1100" b="0">
                <a:solidFill>
                  <a:srgbClr val="CFCFCF"/>
                </a:solidFill>
                <a:latin typeface="Calibri"/>
              </a:rPr>
              <a:t>PGD AI/ML capstone, Pillar 5</a:t>
            </a:r>
          </a:p>
          <a:p>
            <a:pPr algn="l">
              <a:spcAft>
                <a:spcPts val="300"/>
              </a:spcAft>
            </a:pPr>
            <a:r>
              <a:rPr sz="1100" b="0">
                <a:solidFill>
                  <a:srgbClr val="CFCFCF"/>
                </a:solidFill>
                <a:latin typeface="Calibri"/>
              </a:rPr>
              <a:t>Built on 4,424 student records from Instituto Politecnico de Portalegre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391 students in every 1,000 leave before they finish</a:t>
            </a:r>
          </a:p>
        </p:txBody>
      </p:sp>
      <p:sp>
        <p:nvSpPr>
          <p:cNvPr id="3" name="Oval 2"/>
          <p:cNvSpPr/>
          <p:nvPr/>
        </p:nvSpPr>
        <p:spPr>
          <a:xfrm>
            <a:off x="566928"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008583"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450238"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891893"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333548"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75204"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3216859"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658514"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100169"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541824"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983480"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425135"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866790"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308445"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750100"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191756"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633411"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075066"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516721"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958376"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400032"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841687"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0283342"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0724997"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1166652" y="1600200"/>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566928" y="2041855"/>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08583" y="2041855"/>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450238" y="2041855"/>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1891893" y="2041855"/>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2333548" y="2041855"/>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2775204" y="2041855"/>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3216859" y="2041855"/>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3658514" y="2041855"/>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4100169" y="2041855"/>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4541824" y="2041855"/>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4983480" y="2041855"/>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5425135" y="2041855"/>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5866790" y="2041855"/>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308445" y="2041855"/>
            <a:ext cx="301752" cy="301752"/>
          </a:xfrm>
          <a:prstGeom prst="ellipse">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6750100" y="204185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191756" y="204185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7633411" y="204185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8075066" y="204185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8516721" y="204185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8958376" y="204185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9400032" y="204185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9841687" y="204185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10283342" y="204185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10724997" y="204185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11166652" y="204185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566928"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Oval 53"/>
          <p:cNvSpPr/>
          <p:nvPr/>
        </p:nvSpPr>
        <p:spPr>
          <a:xfrm>
            <a:off x="1008583"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1450238"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1891893"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2333548"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2775204"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Oval 58"/>
          <p:cNvSpPr/>
          <p:nvPr/>
        </p:nvSpPr>
        <p:spPr>
          <a:xfrm>
            <a:off x="3216859"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Oval 59"/>
          <p:cNvSpPr/>
          <p:nvPr/>
        </p:nvSpPr>
        <p:spPr>
          <a:xfrm>
            <a:off x="3658514"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Oval 60"/>
          <p:cNvSpPr/>
          <p:nvPr/>
        </p:nvSpPr>
        <p:spPr>
          <a:xfrm>
            <a:off x="4100169"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4541824"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4983480"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5425135"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Oval 64"/>
          <p:cNvSpPr/>
          <p:nvPr/>
        </p:nvSpPr>
        <p:spPr>
          <a:xfrm>
            <a:off x="5866790"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Oval 65"/>
          <p:cNvSpPr/>
          <p:nvPr/>
        </p:nvSpPr>
        <p:spPr>
          <a:xfrm>
            <a:off x="6308445"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Oval 66"/>
          <p:cNvSpPr/>
          <p:nvPr/>
        </p:nvSpPr>
        <p:spPr>
          <a:xfrm>
            <a:off x="6750100"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Oval 67"/>
          <p:cNvSpPr/>
          <p:nvPr/>
        </p:nvSpPr>
        <p:spPr>
          <a:xfrm>
            <a:off x="7191756"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Oval 68"/>
          <p:cNvSpPr/>
          <p:nvPr/>
        </p:nvSpPr>
        <p:spPr>
          <a:xfrm>
            <a:off x="7633411"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Oval 69"/>
          <p:cNvSpPr/>
          <p:nvPr/>
        </p:nvSpPr>
        <p:spPr>
          <a:xfrm>
            <a:off x="8075066"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Oval 70"/>
          <p:cNvSpPr/>
          <p:nvPr/>
        </p:nvSpPr>
        <p:spPr>
          <a:xfrm>
            <a:off x="8516721"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8958376"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Oval 72"/>
          <p:cNvSpPr/>
          <p:nvPr/>
        </p:nvSpPr>
        <p:spPr>
          <a:xfrm>
            <a:off x="9400032"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Oval 73"/>
          <p:cNvSpPr/>
          <p:nvPr/>
        </p:nvSpPr>
        <p:spPr>
          <a:xfrm>
            <a:off x="9841687"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Oval 74"/>
          <p:cNvSpPr/>
          <p:nvPr/>
        </p:nvSpPr>
        <p:spPr>
          <a:xfrm>
            <a:off x="10283342"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Oval 75"/>
          <p:cNvSpPr/>
          <p:nvPr/>
        </p:nvSpPr>
        <p:spPr>
          <a:xfrm>
            <a:off x="10724997"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11166652" y="2483510"/>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Oval 77"/>
          <p:cNvSpPr/>
          <p:nvPr/>
        </p:nvSpPr>
        <p:spPr>
          <a:xfrm>
            <a:off x="566928"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Oval 78"/>
          <p:cNvSpPr/>
          <p:nvPr/>
        </p:nvSpPr>
        <p:spPr>
          <a:xfrm>
            <a:off x="1008583"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Oval 79"/>
          <p:cNvSpPr/>
          <p:nvPr/>
        </p:nvSpPr>
        <p:spPr>
          <a:xfrm>
            <a:off x="1450238"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1891893"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2333548"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Oval 82"/>
          <p:cNvSpPr/>
          <p:nvPr/>
        </p:nvSpPr>
        <p:spPr>
          <a:xfrm>
            <a:off x="2775204"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Oval 83"/>
          <p:cNvSpPr/>
          <p:nvPr/>
        </p:nvSpPr>
        <p:spPr>
          <a:xfrm>
            <a:off x="3216859"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Oval 84"/>
          <p:cNvSpPr/>
          <p:nvPr/>
        </p:nvSpPr>
        <p:spPr>
          <a:xfrm>
            <a:off x="3658514"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Oval 85"/>
          <p:cNvSpPr/>
          <p:nvPr/>
        </p:nvSpPr>
        <p:spPr>
          <a:xfrm>
            <a:off x="4100169"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4541824"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Oval 87"/>
          <p:cNvSpPr/>
          <p:nvPr/>
        </p:nvSpPr>
        <p:spPr>
          <a:xfrm>
            <a:off x="4983480"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Oval 88"/>
          <p:cNvSpPr/>
          <p:nvPr/>
        </p:nvSpPr>
        <p:spPr>
          <a:xfrm>
            <a:off x="5425135"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Oval 89"/>
          <p:cNvSpPr/>
          <p:nvPr/>
        </p:nvSpPr>
        <p:spPr>
          <a:xfrm>
            <a:off x="5866790"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Oval 90"/>
          <p:cNvSpPr/>
          <p:nvPr/>
        </p:nvSpPr>
        <p:spPr>
          <a:xfrm>
            <a:off x="6308445"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Oval 91"/>
          <p:cNvSpPr/>
          <p:nvPr/>
        </p:nvSpPr>
        <p:spPr>
          <a:xfrm>
            <a:off x="6750100"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Oval 92"/>
          <p:cNvSpPr/>
          <p:nvPr/>
        </p:nvSpPr>
        <p:spPr>
          <a:xfrm>
            <a:off x="7191756"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Oval 93"/>
          <p:cNvSpPr/>
          <p:nvPr/>
        </p:nvSpPr>
        <p:spPr>
          <a:xfrm>
            <a:off x="7633411"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Oval 94"/>
          <p:cNvSpPr/>
          <p:nvPr/>
        </p:nvSpPr>
        <p:spPr>
          <a:xfrm>
            <a:off x="8075066"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Oval 95"/>
          <p:cNvSpPr/>
          <p:nvPr/>
        </p:nvSpPr>
        <p:spPr>
          <a:xfrm>
            <a:off x="8516721"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Oval 96"/>
          <p:cNvSpPr/>
          <p:nvPr/>
        </p:nvSpPr>
        <p:spPr>
          <a:xfrm>
            <a:off x="8958376"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Oval 97"/>
          <p:cNvSpPr/>
          <p:nvPr/>
        </p:nvSpPr>
        <p:spPr>
          <a:xfrm>
            <a:off x="9400032"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Oval 98"/>
          <p:cNvSpPr/>
          <p:nvPr/>
        </p:nvSpPr>
        <p:spPr>
          <a:xfrm>
            <a:off x="9841687"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Oval 99"/>
          <p:cNvSpPr/>
          <p:nvPr/>
        </p:nvSpPr>
        <p:spPr>
          <a:xfrm>
            <a:off x="10283342"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Oval 100"/>
          <p:cNvSpPr/>
          <p:nvPr/>
        </p:nvSpPr>
        <p:spPr>
          <a:xfrm>
            <a:off x="10724997"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Oval 101"/>
          <p:cNvSpPr/>
          <p:nvPr/>
        </p:nvSpPr>
        <p:spPr>
          <a:xfrm>
            <a:off x="11166652" y="2925165"/>
            <a:ext cx="301752" cy="301752"/>
          </a:xfrm>
          <a:prstGeom prst="ellipse">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566928" y="3566160"/>
            <a:ext cx="11057839" cy="274320"/>
          </a:xfrm>
          <a:prstGeom prst="rect">
            <a:avLst/>
          </a:prstGeom>
          <a:noFill/>
        </p:spPr>
        <p:txBody>
          <a:bodyPr wrap="square" lIns="0" rIns="0" tIns="0" bIns="0">
            <a:spAutoFit/>
          </a:bodyPr>
          <a:lstStyle/>
          <a:p>
            <a:pPr algn="l">
              <a:spcAft>
                <a:spcPts val="600"/>
              </a:spcAft>
            </a:pPr>
            <a:r>
              <a:rPr sz="1000" b="0">
                <a:solidFill>
                  <a:srgbClr val="767676"/>
                </a:solidFill>
                <a:latin typeface="Calibri"/>
              </a:rPr>
              <a:t>One dot is ten students. The filled ones do not graduate. The rate is 391 in 1,000 among the 3,630 whose outcome is settled, after setting aside 794 still enrolled.</a:t>
            </a:r>
          </a:p>
        </p:txBody>
      </p:sp>
      <p:sp>
        <p:nvSpPr>
          <p:cNvPr id="104" name="TextBox 103"/>
          <p:cNvSpPr txBox="1"/>
          <p:nvPr/>
        </p:nvSpPr>
        <p:spPr>
          <a:xfrm>
            <a:off x="566928" y="4114800"/>
            <a:ext cx="5852160" cy="2194560"/>
          </a:xfrm>
          <a:prstGeom prst="rect">
            <a:avLst/>
          </a:prstGeom>
          <a:noFill/>
        </p:spPr>
        <p:txBody>
          <a:bodyPr wrap="square" lIns="0" rIns="0" tIns="0" bIns="0">
            <a:spAutoFit/>
          </a:bodyPr>
          <a:lstStyle/>
          <a:p>
            <a:pPr algn="l">
              <a:lnSpc>
                <a:spcPct val="130000"/>
              </a:lnSpc>
              <a:spcAft>
                <a:spcPts val="1000"/>
              </a:spcAft>
            </a:pPr>
            <a:r>
              <a:rPr sz="1400" b="0">
                <a:solidFill>
                  <a:srgbClr val="595959"/>
                </a:solidFill>
                <a:latin typeface="Calibri"/>
              </a:rPr>
              <a:t>Every one of them costs three things. The student loses the years and the fees. The school loses the tuition. The country loses a graduate it had already half paid for.</a:t>
            </a:r>
          </a:p>
          <a:p>
            <a:pPr algn="l">
              <a:lnSpc>
                <a:spcPct val="130000"/>
              </a:lnSpc>
              <a:spcAft>
                <a:spcPts val="1000"/>
              </a:spcAft>
            </a:pPr>
            <a:r>
              <a:rPr sz="1400" b="0">
                <a:solidFill>
                  <a:srgbClr val="595959"/>
                </a:solidFill>
                <a:latin typeface="Calibri"/>
              </a:rPr>
              <a:t>The school already knows this is happening. What it does not know is which students. It finds out when the first exam results come back. By then half the year is gone. And the student is usually gone too.</a:t>
            </a:r>
          </a:p>
        </p:txBody>
      </p:sp>
      <p:sp>
        <p:nvSpPr>
          <p:cNvPr id="105" name="TextBox 104"/>
          <p:cNvSpPr txBox="1"/>
          <p:nvPr/>
        </p:nvSpPr>
        <p:spPr>
          <a:xfrm>
            <a:off x="6949440" y="4114800"/>
            <a:ext cx="4663440" cy="603504"/>
          </a:xfrm>
          <a:prstGeom prst="rect">
            <a:avLst/>
          </a:prstGeom>
          <a:noFill/>
        </p:spPr>
        <p:txBody>
          <a:bodyPr wrap="square" lIns="0" rIns="0" tIns="0" bIns="0">
            <a:spAutoFit/>
          </a:bodyPr>
          <a:lstStyle/>
          <a:p>
            <a:pPr algn="l">
              <a:spcAft>
                <a:spcPts val="0"/>
              </a:spcAft>
            </a:pPr>
            <a:r>
              <a:rPr sz="3800" b="1">
                <a:solidFill>
                  <a:srgbClr val="1A1A1A"/>
                </a:solidFill>
                <a:latin typeface="Cambria"/>
              </a:rPr>
              <a:t>2,100 EUR</a:t>
            </a:r>
          </a:p>
        </p:txBody>
      </p:sp>
      <p:sp>
        <p:nvSpPr>
          <p:cNvPr id="106" name="TextBox 105"/>
          <p:cNvSpPr txBox="1"/>
          <p:nvPr/>
        </p:nvSpPr>
        <p:spPr>
          <a:xfrm>
            <a:off x="6949440" y="4607052"/>
            <a:ext cx="4663440" cy="457200"/>
          </a:xfrm>
          <a:prstGeom prst="rect">
            <a:avLst/>
          </a:prstGeom>
          <a:noFill/>
        </p:spPr>
        <p:txBody>
          <a:bodyPr wrap="square" lIns="0" rIns="0" tIns="0" bIns="0">
            <a:spAutoFit/>
          </a:bodyPr>
          <a:lstStyle/>
          <a:p>
            <a:pPr algn="l">
              <a:lnSpc>
                <a:spcPct val="115000"/>
              </a:lnSpc>
              <a:spcAft>
                <a:spcPts val="600"/>
              </a:spcAft>
            </a:pPr>
            <a:r>
              <a:rPr sz="1200" b="0">
                <a:solidFill>
                  <a:srgbClr val="767676"/>
                </a:solidFill>
                <a:latin typeface="Calibri"/>
              </a:rPr>
              <a:t>is the tuition one saved student pays back over a three year degree. A low estimate on purpose. The real loss to the student and the country is larger and harder to pin down. So it is left out.</a:t>
            </a:r>
          </a:p>
        </p:txBody>
      </p:sp>
      <p:sp>
        <p:nvSpPr>
          <p:cNvPr id="107" name="TextBox 106"/>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The question is not whether to help. It is who to help first, and when.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What the tool does, on the day a student enrolls</a:t>
            </a:r>
          </a:p>
        </p:txBody>
      </p:sp>
      <p:sp>
        <p:nvSpPr>
          <p:cNvPr id="3" name="TextBox 2"/>
          <p:cNvSpPr txBox="1"/>
          <p:nvPr/>
        </p:nvSpPr>
        <p:spPr>
          <a:xfrm>
            <a:off x="566928" y="1600200"/>
            <a:ext cx="6949440" cy="3108960"/>
          </a:xfrm>
          <a:prstGeom prst="rect">
            <a:avLst/>
          </a:prstGeom>
          <a:noFill/>
        </p:spPr>
        <p:txBody>
          <a:bodyPr wrap="square" lIns="0" rIns="0" tIns="0" bIns="0">
            <a:spAutoFit/>
          </a:bodyPr>
          <a:lstStyle/>
          <a:p>
            <a:pPr algn="l">
              <a:lnSpc>
                <a:spcPct val="130000"/>
              </a:lnSpc>
              <a:spcAft>
                <a:spcPts val="900"/>
              </a:spcAft>
            </a:pPr>
            <a:r>
              <a:rPr sz="1400" b="1">
                <a:solidFill>
                  <a:srgbClr val="1A1A1A"/>
                </a:solidFill>
                <a:latin typeface="Calibri"/>
              </a:rPr>
              <a:t>It reads the enrollment form. Nothing else.</a:t>
            </a:r>
          </a:p>
          <a:p>
            <a:pPr algn="l">
              <a:lnSpc>
                <a:spcPct val="130000"/>
              </a:lnSpc>
              <a:spcAft>
                <a:spcPts val="900"/>
              </a:spcAft>
            </a:pPr>
            <a:r>
              <a:rPr sz="1400" b="0">
                <a:solidFill>
                  <a:srgbClr val="595959"/>
                </a:solidFill>
                <a:latin typeface="Calibri"/>
              </a:rPr>
              <a:t>Age. Course. How they applied. Whether they hold a scholarship. Whether the fees are paid. What their parents do. Everything on that list is known before the student sits in a single class.</a:t>
            </a:r>
          </a:p>
          <a:p>
            <a:pPr algn="l">
              <a:lnSpc>
                <a:spcPct val="130000"/>
              </a:lnSpc>
              <a:spcAft>
                <a:spcPts val="900"/>
              </a:spcAft>
            </a:pPr>
            <a:r>
              <a:rPr sz="1400" b="1">
                <a:solidFill>
                  <a:srgbClr val="1A1A1A"/>
                </a:solidFill>
                <a:latin typeface="Calibri"/>
              </a:rPr>
              <a:t>It does not look at grades, attendance, or coursework.</a:t>
            </a:r>
          </a:p>
          <a:p>
            <a:pPr algn="l">
              <a:lnSpc>
                <a:spcPct val="130000"/>
              </a:lnSpc>
              <a:spcAft>
                <a:spcPts val="900"/>
              </a:spcAft>
            </a:pPr>
            <a:r>
              <a:rPr sz="1400" b="0">
                <a:solidFill>
                  <a:srgbClr val="595959"/>
                </a:solidFill>
                <a:latin typeface="Calibri"/>
              </a:rPr>
              <a:t>That was a deliberate choice and it costs accuracy. A tool that waits for first-term results would be far more certain. It would also be useless. By then the student has already decided.</a:t>
            </a:r>
          </a:p>
          <a:p>
            <a:pPr algn="l">
              <a:lnSpc>
                <a:spcPct val="130000"/>
              </a:lnSpc>
              <a:spcAft>
                <a:spcPts val="900"/>
              </a:spcAft>
            </a:pPr>
            <a:r>
              <a:rPr sz="1400" b="1">
                <a:solidFill>
                  <a:srgbClr val="1A1A1A"/>
                </a:solidFill>
                <a:latin typeface="Calibri"/>
              </a:rPr>
              <a:t>It hands the tutoring team a ranked list.</a:t>
            </a:r>
          </a:p>
          <a:p>
            <a:pPr algn="l">
              <a:lnSpc>
                <a:spcPct val="130000"/>
              </a:lnSpc>
              <a:spcAft>
                <a:spcPts val="900"/>
              </a:spcAft>
            </a:pPr>
            <a:r>
              <a:rPr sz="1400" b="0">
                <a:solidFill>
                  <a:srgbClr val="595959"/>
                </a:solidFill>
                <a:latin typeface="Calibri"/>
              </a:rPr>
              <a:t>Most at risk at the top. Not a label. Not a verdict. Never a number shown to a student. A starting point for a conversation, twelve months early.</a:t>
            </a:r>
          </a:p>
        </p:txBody>
      </p:sp>
      <p:sp>
        <p:nvSpPr>
          <p:cNvPr id="4" name="TextBox 3"/>
          <p:cNvSpPr txBox="1"/>
          <p:nvPr/>
        </p:nvSpPr>
        <p:spPr>
          <a:xfrm>
            <a:off x="7863840" y="1737360"/>
            <a:ext cx="3749039" cy="603504"/>
          </a:xfrm>
          <a:prstGeom prst="rect">
            <a:avLst/>
          </a:prstGeom>
          <a:noFill/>
        </p:spPr>
        <p:txBody>
          <a:bodyPr wrap="square" lIns="0" rIns="0" tIns="0" bIns="0">
            <a:spAutoFit/>
          </a:bodyPr>
          <a:lstStyle/>
          <a:p>
            <a:pPr algn="l">
              <a:spcAft>
                <a:spcPts val="0"/>
              </a:spcAft>
            </a:pPr>
            <a:r>
              <a:rPr sz="4000" b="1">
                <a:solidFill>
                  <a:srgbClr val="1A1A1A"/>
                </a:solidFill>
                <a:latin typeface="Cambria"/>
              </a:rPr>
              <a:t>12 months</a:t>
            </a:r>
          </a:p>
        </p:txBody>
      </p:sp>
      <p:sp>
        <p:nvSpPr>
          <p:cNvPr id="5" name="TextBox 4"/>
          <p:cNvSpPr txBox="1"/>
          <p:nvPr/>
        </p:nvSpPr>
        <p:spPr>
          <a:xfrm>
            <a:off x="7863840" y="2255520"/>
            <a:ext cx="3749039" cy="457200"/>
          </a:xfrm>
          <a:prstGeom prst="rect">
            <a:avLst/>
          </a:prstGeom>
          <a:noFill/>
        </p:spPr>
        <p:txBody>
          <a:bodyPr wrap="square" lIns="0" rIns="0" tIns="0" bIns="0">
            <a:spAutoFit/>
          </a:bodyPr>
          <a:lstStyle/>
          <a:p>
            <a:pPr algn="l">
              <a:lnSpc>
                <a:spcPct val="115000"/>
              </a:lnSpc>
              <a:spcAft>
                <a:spcPts val="600"/>
              </a:spcAft>
            </a:pPr>
            <a:r>
              <a:rPr sz="1200" b="0">
                <a:solidFill>
                  <a:srgbClr val="767676"/>
                </a:solidFill>
                <a:latin typeface="Calibri"/>
              </a:rPr>
              <a:t>of warning, instead of none</a:t>
            </a:r>
          </a:p>
        </p:txBody>
      </p:sp>
      <p:sp>
        <p:nvSpPr>
          <p:cNvPr id="6" name="TextBox 5"/>
          <p:cNvSpPr txBox="1"/>
          <p:nvPr/>
        </p:nvSpPr>
        <p:spPr>
          <a:xfrm>
            <a:off x="7863840" y="3200400"/>
            <a:ext cx="3749039" cy="603504"/>
          </a:xfrm>
          <a:prstGeom prst="rect">
            <a:avLst/>
          </a:prstGeom>
          <a:noFill/>
        </p:spPr>
        <p:txBody>
          <a:bodyPr wrap="square" lIns="0" rIns="0" tIns="0" bIns="0">
            <a:spAutoFit/>
          </a:bodyPr>
          <a:lstStyle/>
          <a:p>
            <a:pPr algn="l">
              <a:spcAft>
                <a:spcPts val="0"/>
              </a:spcAft>
            </a:pPr>
            <a:r>
              <a:rPr sz="4000" b="1">
                <a:solidFill>
                  <a:srgbClr val="1A1A1A"/>
                </a:solidFill>
                <a:latin typeface="Cambria"/>
              </a:rPr>
              <a:t>8 in 10</a:t>
            </a:r>
          </a:p>
        </p:txBody>
      </p:sp>
      <p:sp>
        <p:nvSpPr>
          <p:cNvPr id="7" name="TextBox 6"/>
          <p:cNvSpPr txBox="1"/>
          <p:nvPr/>
        </p:nvSpPr>
        <p:spPr>
          <a:xfrm>
            <a:off x="7863840" y="3718560"/>
            <a:ext cx="3749039" cy="457200"/>
          </a:xfrm>
          <a:prstGeom prst="rect">
            <a:avLst/>
          </a:prstGeom>
          <a:noFill/>
        </p:spPr>
        <p:txBody>
          <a:bodyPr wrap="square" lIns="0" rIns="0" tIns="0" bIns="0">
            <a:spAutoFit/>
          </a:bodyPr>
          <a:lstStyle/>
          <a:p>
            <a:pPr algn="l">
              <a:lnSpc>
                <a:spcPct val="115000"/>
              </a:lnSpc>
              <a:spcAft>
                <a:spcPts val="600"/>
              </a:spcAft>
            </a:pPr>
            <a:r>
              <a:rPr sz="1200" b="0">
                <a:solidFill>
                  <a:srgbClr val="767676"/>
                </a:solidFill>
                <a:latin typeface="Calibri"/>
              </a:rPr>
              <a:t>of the students who go on to leave are on the list</a:t>
            </a:r>
          </a:p>
        </p:txBody>
      </p:sp>
      <p:sp>
        <p:nvSpPr>
          <p:cNvPr id="8" name="TextBox 7"/>
          <p:cNvSpPr txBox="1"/>
          <p:nvPr/>
        </p:nvSpPr>
        <p:spPr>
          <a:xfrm>
            <a:off x="7863840" y="4663440"/>
            <a:ext cx="3749039" cy="603504"/>
          </a:xfrm>
          <a:prstGeom prst="rect">
            <a:avLst/>
          </a:prstGeom>
          <a:noFill/>
        </p:spPr>
        <p:txBody>
          <a:bodyPr wrap="square" lIns="0" rIns="0" tIns="0" bIns="0">
            <a:spAutoFit/>
          </a:bodyPr>
          <a:lstStyle/>
          <a:p>
            <a:pPr algn="l">
              <a:spcAft>
                <a:spcPts val="0"/>
              </a:spcAft>
            </a:pPr>
            <a:r>
              <a:rPr sz="4000" b="1">
                <a:solidFill>
                  <a:srgbClr val="1A1A1A"/>
                </a:solidFill>
                <a:latin typeface="Cambria"/>
              </a:rPr>
              <a:t>1 in 2</a:t>
            </a:r>
          </a:p>
        </p:txBody>
      </p:sp>
      <p:sp>
        <p:nvSpPr>
          <p:cNvPr id="9" name="TextBox 8"/>
          <p:cNvSpPr txBox="1"/>
          <p:nvPr/>
        </p:nvSpPr>
        <p:spPr>
          <a:xfrm>
            <a:off x="7863840" y="5181600"/>
            <a:ext cx="3749039" cy="457200"/>
          </a:xfrm>
          <a:prstGeom prst="rect">
            <a:avLst/>
          </a:prstGeom>
          <a:noFill/>
        </p:spPr>
        <p:txBody>
          <a:bodyPr wrap="square" lIns="0" rIns="0" tIns="0" bIns="0">
            <a:spAutoFit/>
          </a:bodyPr>
          <a:lstStyle/>
          <a:p>
            <a:pPr algn="l">
              <a:lnSpc>
                <a:spcPct val="115000"/>
              </a:lnSpc>
              <a:spcAft>
                <a:spcPts val="600"/>
              </a:spcAft>
            </a:pPr>
            <a:r>
              <a:rPr sz="1200" b="0">
                <a:solidFill>
                  <a:srgbClr val="767676"/>
                </a:solidFill>
                <a:latin typeface="Calibri"/>
              </a:rPr>
              <a:t>students are flagged, sized against what the tutoring team can handle</a:t>
            </a:r>
          </a:p>
        </p:txBody>
      </p:sp>
      <p:sp>
        <p:nvSpPr>
          <p:cNvPr id="10" name="TextBox 9"/>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The tool does not decide anything. It decides what a person looks at first.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Out of every 1,000 students</a:t>
            </a:r>
          </a:p>
        </p:txBody>
      </p:sp>
      <p:sp>
        <p:nvSpPr>
          <p:cNvPr id="3" name="TextBox 2"/>
          <p:cNvSpPr txBox="1"/>
          <p:nvPr/>
        </p:nvSpPr>
        <p:spPr>
          <a:xfrm>
            <a:off x="566928" y="1033271"/>
            <a:ext cx="11057839" cy="274320"/>
          </a:xfrm>
          <a:prstGeom prst="rect">
            <a:avLst/>
          </a:prstGeom>
          <a:noFill/>
        </p:spPr>
        <p:txBody>
          <a:bodyPr wrap="square" lIns="0" rIns="0" tIns="0" bIns="0">
            <a:spAutoFit/>
          </a:bodyPr>
          <a:lstStyle/>
          <a:p>
            <a:pPr algn="l">
              <a:spcAft>
                <a:spcPts val="600"/>
              </a:spcAft>
            </a:pPr>
            <a:r>
              <a:rPr sz="1200" b="0">
                <a:solidFill>
                  <a:srgbClr val="595959"/>
                </a:solidFill>
                <a:latin typeface="Calibri"/>
              </a:rPr>
              <a:t>Scaled from 726 real students the tool had never seen. It was tested once, on data held back from the start.</a:t>
            </a:r>
          </a:p>
        </p:txBody>
      </p:sp>
      <p:sp>
        <p:nvSpPr>
          <p:cNvPr id="4" name="Rectangle 3"/>
          <p:cNvSpPr/>
          <p:nvPr/>
        </p:nvSpPr>
        <p:spPr>
          <a:xfrm>
            <a:off x="566928" y="1920240"/>
            <a:ext cx="3438987" cy="868680"/>
          </a:xfrm>
          <a:prstGeom prst="rect">
            <a:avLst/>
          </a:prstGeom>
          <a:solidFill>
            <a:srgbClr val="F68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66928" y="2029968"/>
            <a:ext cx="3438987" cy="457200"/>
          </a:xfrm>
          <a:prstGeom prst="rect">
            <a:avLst/>
          </a:prstGeom>
          <a:noFill/>
        </p:spPr>
        <p:txBody>
          <a:bodyPr wrap="square" lIns="36576" rIns="36576">
            <a:spAutoFit/>
          </a:bodyPr>
          <a:lstStyle/>
          <a:p>
            <a:pPr algn="ctr"/>
            <a:r>
              <a:rPr sz="1700" b="1">
                <a:solidFill>
                  <a:srgbClr val="FFFFFF"/>
                </a:solidFill>
                <a:latin typeface="Cambria"/>
              </a:rPr>
              <a:t>311</a:t>
            </a:r>
          </a:p>
        </p:txBody>
      </p:sp>
      <p:sp>
        <p:nvSpPr>
          <p:cNvPr id="6" name="Rectangle 5"/>
          <p:cNvSpPr/>
          <p:nvPr/>
        </p:nvSpPr>
        <p:spPr>
          <a:xfrm>
            <a:off x="4005915" y="1920240"/>
            <a:ext cx="884627" cy="868680"/>
          </a:xfrm>
          <a:prstGeom prst="rect">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005915" y="2029968"/>
            <a:ext cx="884627" cy="457200"/>
          </a:xfrm>
          <a:prstGeom prst="rect">
            <a:avLst/>
          </a:prstGeom>
          <a:noFill/>
        </p:spPr>
        <p:txBody>
          <a:bodyPr wrap="square" lIns="36576" rIns="36576">
            <a:spAutoFit/>
          </a:bodyPr>
          <a:lstStyle/>
          <a:p>
            <a:pPr algn="ctr"/>
            <a:r>
              <a:rPr sz="1700" b="1">
                <a:solidFill>
                  <a:srgbClr val="FFFFFF"/>
                </a:solidFill>
                <a:latin typeface="Cambria"/>
              </a:rPr>
              <a:t>80</a:t>
            </a:r>
          </a:p>
        </p:txBody>
      </p:sp>
      <p:sp>
        <p:nvSpPr>
          <p:cNvPr id="8" name="Rectangle 7"/>
          <p:cNvSpPr/>
          <p:nvPr/>
        </p:nvSpPr>
        <p:spPr>
          <a:xfrm>
            <a:off x="4890542" y="1920240"/>
            <a:ext cx="1901948" cy="868680"/>
          </a:xfrm>
          <a:prstGeom prst="rect">
            <a:avLst/>
          </a:prstGeom>
          <a:solidFill>
            <a:srgbClr val="F9C9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890542" y="2029968"/>
            <a:ext cx="1901948" cy="457200"/>
          </a:xfrm>
          <a:prstGeom prst="rect">
            <a:avLst/>
          </a:prstGeom>
          <a:noFill/>
        </p:spPr>
        <p:txBody>
          <a:bodyPr wrap="square" lIns="36576" rIns="36576">
            <a:spAutoFit/>
          </a:bodyPr>
          <a:lstStyle/>
          <a:p>
            <a:pPr algn="ctr"/>
            <a:r>
              <a:rPr sz="1700" b="1">
                <a:solidFill>
                  <a:srgbClr val="1A1A1A"/>
                </a:solidFill>
                <a:latin typeface="Cambria"/>
              </a:rPr>
              <a:t>172</a:t>
            </a:r>
          </a:p>
        </p:txBody>
      </p:sp>
      <p:sp>
        <p:nvSpPr>
          <p:cNvPr id="10" name="Rectangle 9"/>
          <p:cNvSpPr/>
          <p:nvPr/>
        </p:nvSpPr>
        <p:spPr>
          <a:xfrm>
            <a:off x="6792490" y="1920240"/>
            <a:ext cx="4832275" cy="868680"/>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792490" y="2029968"/>
            <a:ext cx="4832275" cy="457200"/>
          </a:xfrm>
          <a:prstGeom prst="rect">
            <a:avLst/>
          </a:prstGeom>
          <a:noFill/>
        </p:spPr>
        <p:txBody>
          <a:bodyPr wrap="square" lIns="36576" rIns="36576">
            <a:spAutoFit/>
          </a:bodyPr>
          <a:lstStyle/>
          <a:p>
            <a:pPr algn="ctr"/>
            <a:r>
              <a:rPr sz="1700" b="1">
                <a:solidFill>
                  <a:srgbClr val="1A1A1A"/>
                </a:solidFill>
                <a:latin typeface="Cambria"/>
              </a:rPr>
              <a:t>437</a:t>
            </a:r>
          </a:p>
        </p:txBody>
      </p:sp>
      <p:sp>
        <p:nvSpPr>
          <p:cNvPr id="12" name="TextBox 11"/>
          <p:cNvSpPr txBox="1"/>
          <p:nvPr/>
        </p:nvSpPr>
        <p:spPr>
          <a:xfrm>
            <a:off x="566928" y="2862072"/>
            <a:ext cx="3438987" cy="548640"/>
          </a:xfrm>
          <a:prstGeom prst="rect">
            <a:avLst/>
          </a:prstGeom>
          <a:noFill/>
        </p:spPr>
        <p:txBody>
          <a:bodyPr wrap="square" lIns="0" rIns="0" tIns="0" bIns="0">
            <a:spAutoFit/>
          </a:bodyPr>
          <a:lstStyle/>
          <a:p>
            <a:pPr algn="ctr">
              <a:lnSpc>
                <a:spcPct val="115000"/>
              </a:lnSpc>
              <a:spcAft>
                <a:spcPts val="0"/>
              </a:spcAft>
            </a:pPr>
            <a:r>
              <a:rPr sz="900" b="0">
                <a:solidFill>
                  <a:srgbClr val="595959"/>
                </a:solidFill>
                <a:latin typeface="Calibri"/>
              </a:rPr>
              <a:t>caught</a:t>
            </a:r>
          </a:p>
          <a:p>
            <a:pPr algn="ctr">
              <a:lnSpc>
                <a:spcPct val="115000"/>
              </a:lnSpc>
              <a:spcAft>
                <a:spcPts val="0"/>
              </a:spcAft>
            </a:pPr>
            <a:r>
              <a:rPr sz="900" b="0">
                <a:solidFill>
                  <a:srgbClr val="595959"/>
                </a:solidFill>
                <a:latin typeface="Calibri"/>
              </a:rPr>
              <a:t>leavers the team reaches in time</a:t>
            </a:r>
          </a:p>
        </p:txBody>
      </p:sp>
      <p:sp>
        <p:nvSpPr>
          <p:cNvPr id="13" name="TextBox 12"/>
          <p:cNvSpPr txBox="1"/>
          <p:nvPr/>
        </p:nvSpPr>
        <p:spPr>
          <a:xfrm>
            <a:off x="4005915" y="2862072"/>
            <a:ext cx="884627" cy="548640"/>
          </a:xfrm>
          <a:prstGeom prst="rect">
            <a:avLst/>
          </a:prstGeom>
          <a:noFill/>
        </p:spPr>
        <p:txBody>
          <a:bodyPr wrap="square" lIns="0" rIns="0" tIns="0" bIns="0">
            <a:spAutoFit/>
          </a:bodyPr>
          <a:lstStyle/>
          <a:p>
            <a:pPr algn="ctr">
              <a:lnSpc>
                <a:spcPct val="115000"/>
              </a:lnSpc>
              <a:spcAft>
                <a:spcPts val="0"/>
              </a:spcAft>
            </a:pPr>
            <a:r>
              <a:rPr sz="900" b="0">
                <a:solidFill>
                  <a:srgbClr val="595959"/>
                </a:solidFill>
                <a:latin typeface="Calibri"/>
              </a:rPr>
              <a:t>missed</a:t>
            </a:r>
          </a:p>
          <a:p>
            <a:pPr algn="ctr">
              <a:lnSpc>
                <a:spcPct val="115000"/>
              </a:lnSpc>
              <a:spcAft>
                <a:spcPts val="0"/>
              </a:spcAft>
            </a:pPr>
            <a:r>
              <a:rPr sz="900" b="0">
                <a:solidFill>
                  <a:srgbClr val="595959"/>
                </a:solidFill>
                <a:latin typeface="Calibri"/>
              </a:rPr>
              <a:t>leavers the tool does not find</a:t>
            </a:r>
          </a:p>
        </p:txBody>
      </p:sp>
      <p:sp>
        <p:nvSpPr>
          <p:cNvPr id="14" name="TextBox 13"/>
          <p:cNvSpPr txBox="1"/>
          <p:nvPr/>
        </p:nvSpPr>
        <p:spPr>
          <a:xfrm>
            <a:off x="4890542" y="2862072"/>
            <a:ext cx="1901948" cy="548640"/>
          </a:xfrm>
          <a:prstGeom prst="rect">
            <a:avLst/>
          </a:prstGeom>
          <a:noFill/>
        </p:spPr>
        <p:txBody>
          <a:bodyPr wrap="square" lIns="0" rIns="0" tIns="0" bIns="0">
            <a:spAutoFit/>
          </a:bodyPr>
          <a:lstStyle/>
          <a:p>
            <a:pPr algn="ctr">
              <a:lnSpc>
                <a:spcPct val="115000"/>
              </a:lnSpc>
              <a:spcAft>
                <a:spcPts val="0"/>
              </a:spcAft>
            </a:pPr>
            <a:r>
              <a:rPr sz="900" b="0">
                <a:solidFill>
                  <a:srgbClr val="595959"/>
                </a:solidFill>
                <a:latin typeface="Calibri"/>
              </a:rPr>
              <a:t>contacted for nothing</a:t>
            </a:r>
          </a:p>
          <a:p>
            <a:pPr algn="ctr">
              <a:lnSpc>
                <a:spcPct val="115000"/>
              </a:lnSpc>
              <a:spcAft>
                <a:spcPts val="0"/>
              </a:spcAft>
            </a:pPr>
            <a:r>
              <a:rPr sz="900" b="0">
                <a:solidFill>
                  <a:srgbClr val="595959"/>
                </a:solidFill>
                <a:latin typeface="Calibri"/>
              </a:rPr>
              <a:t>graduates who were never leaving</a:t>
            </a:r>
          </a:p>
        </p:txBody>
      </p:sp>
      <p:sp>
        <p:nvSpPr>
          <p:cNvPr id="15" name="TextBox 14"/>
          <p:cNvSpPr txBox="1"/>
          <p:nvPr/>
        </p:nvSpPr>
        <p:spPr>
          <a:xfrm>
            <a:off x="6792490" y="2862072"/>
            <a:ext cx="4832275" cy="548640"/>
          </a:xfrm>
          <a:prstGeom prst="rect">
            <a:avLst/>
          </a:prstGeom>
          <a:noFill/>
        </p:spPr>
        <p:txBody>
          <a:bodyPr wrap="square" lIns="0" rIns="0" tIns="0" bIns="0">
            <a:spAutoFit/>
          </a:bodyPr>
          <a:lstStyle/>
          <a:p>
            <a:pPr algn="ctr">
              <a:lnSpc>
                <a:spcPct val="115000"/>
              </a:lnSpc>
              <a:spcAft>
                <a:spcPts val="0"/>
              </a:spcAft>
            </a:pPr>
            <a:r>
              <a:rPr sz="900" b="0">
                <a:solidFill>
                  <a:srgbClr val="595959"/>
                </a:solidFill>
                <a:latin typeface="Calibri"/>
              </a:rPr>
              <a:t>correctly left alone</a:t>
            </a:r>
          </a:p>
          <a:p>
            <a:pPr algn="ctr">
              <a:lnSpc>
                <a:spcPct val="115000"/>
              </a:lnSpc>
              <a:spcAft>
                <a:spcPts val="0"/>
              </a:spcAft>
            </a:pPr>
            <a:r>
              <a:rPr sz="900" b="0">
                <a:solidFill>
                  <a:srgbClr val="595959"/>
                </a:solidFill>
                <a:latin typeface="Calibri"/>
              </a:rPr>
              <a:t>the team never hears about them</a:t>
            </a:r>
          </a:p>
        </p:txBody>
      </p:sp>
      <p:sp>
        <p:nvSpPr>
          <p:cNvPr id="16" name="TextBox 15"/>
          <p:cNvSpPr txBox="1"/>
          <p:nvPr/>
        </p:nvSpPr>
        <p:spPr>
          <a:xfrm>
            <a:off x="566928" y="3977639"/>
            <a:ext cx="6949440" cy="1828800"/>
          </a:xfrm>
          <a:prstGeom prst="rect">
            <a:avLst/>
          </a:prstGeom>
          <a:noFill/>
        </p:spPr>
        <p:txBody>
          <a:bodyPr wrap="square" lIns="0" rIns="0" tIns="0" bIns="0">
            <a:spAutoFit/>
          </a:bodyPr>
          <a:lstStyle/>
          <a:p>
            <a:pPr algn="l">
              <a:lnSpc>
                <a:spcPct val="130000"/>
              </a:lnSpc>
              <a:spcAft>
                <a:spcPts val="900"/>
              </a:spcAft>
            </a:pPr>
            <a:r>
              <a:rPr sz="1400" b="1">
                <a:solidFill>
                  <a:srgbClr val="1A1A1A"/>
                </a:solidFill>
                <a:latin typeface="Calibri"/>
              </a:rPr>
              <a:t>Of the 391 who leave, the tool finds 311 of them.</a:t>
            </a:r>
          </a:p>
          <a:p>
            <a:pPr algn="l">
              <a:lnSpc>
                <a:spcPct val="130000"/>
              </a:lnSpc>
              <a:spcAft>
                <a:spcPts val="900"/>
              </a:spcAft>
            </a:pPr>
            <a:r>
              <a:rPr sz="1400" b="0">
                <a:solidFill>
                  <a:srgbClr val="595959"/>
                </a:solidFill>
                <a:latin typeface="Calibri"/>
              </a:rPr>
              <a:t>Eighty are missed. That is the honest number and it will not be zero. No tool that runs on an enrollment form finds everyone. A tool that claimed to would be lying.</a:t>
            </a:r>
          </a:p>
          <a:p>
            <a:pPr algn="l">
              <a:lnSpc>
                <a:spcPct val="130000"/>
              </a:lnSpc>
              <a:spcAft>
                <a:spcPts val="900"/>
              </a:spcAft>
            </a:pPr>
            <a:r>
              <a:rPr sz="1400" b="0">
                <a:solidFill>
                  <a:srgbClr val="595959"/>
                </a:solidFill>
                <a:latin typeface="Calibri"/>
              </a:rPr>
              <a:t>The 172 is the number worth arguing about, and slide 6 argues about it.</a:t>
            </a:r>
          </a:p>
        </p:txBody>
      </p:sp>
      <p:sp>
        <p:nvSpPr>
          <p:cNvPr id="17" name="TextBox 16"/>
          <p:cNvSpPr txBox="1"/>
          <p:nvPr/>
        </p:nvSpPr>
        <p:spPr>
          <a:xfrm>
            <a:off x="8138160" y="4114800"/>
            <a:ext cx="3474720" cy="603504"/>
          </a:xfrm>
          <a:prstGeom prst="rect">
            <a:avLst/>
          </a:prstGeom>
          <a:noFill/>
        </p:spPr>
        <p:txBody>
          <a:bodyPr wrap="square" lIns="0" rIns="0" tIns="0" bIns="0">
            <a:spAutoFit/>
          </a:bodyPr>
          <a:lstStyle/>
          <a:p>
            <a:pPr algn="l">
              <a:spcAft>
                <a:spcPts val="0"/>
              </a:spcAft>
            </a:pPr>
            <a:r>
              <a:rPr sz="4400" b="1">
                <a:solidFill>
                  <a:srgbClr val="1A1A1A"/>
                </a:solidFill>
                <a:latin typeface="Cambria"/>
              </a:rPr>
              <a:t>483</a:t>
            </a:r>
          </a:p>
        </p:txBody>
      </p:sp>
      <p:sp>
        <p:nvSpPr>
          <p:cNvPr id="18" name="TextBox 17"/>
          <p:cNvSpPr txBox="1"/>
          <p:nvPr/>
        </p:nvSpPr>
        <p:spPr>
          <a:xfrm>
            <a:off x="8138160" y="4684776"/>
            <a:ext cx="3474720" cy="457200"/>
          </a:xfrm>
          <a:prstGeom prst="rect">
            <a:avLst/>
          </a:prstGeom>
          <a:noFill/>
        </p:spPr>
        <p:txBody>
          <a:bodyPr wrap="square" lIns="0" rIns="0" tIns="0" bIns="0">
            <a:spAutoFit/>
          </a:bodyPr>
          <a:lstStyle/>
          <a:p>
            <a:pPr algn="l">
              <a:lnSpc>
                <a:spcPct val="115000"/>
              </a:lnSpc>
              <a:spcAft>
                <a:spcPts val="600"/>
              </a:spcAft>
            </a:pPr>
            <a:r>
              <a:rPr sz="1200" b="0">
                <a:solidFill>
                  <a:srgbClr val="767676"/>
                </a:solidFill>
                <a:latin typeface="Calibri"/>
              </a:rPr>
              <a:t>students the tool flags, roughly one in two. That is more than the tutoring team can staff, and the fairness fix on slide 8 is what brings the list back within reach.</a:t>
            </a:r>
          </a:p>
        </p:txBody>
      </p:sp>
      <p:sp>
        <p:nvSpPr>
          <p:cNvPr id="19" name="TextBox 18"/>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Every number on this slide came from students the tool had never seen.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The return</a:t>
            </a:r>
          </a:p>
        </p:txBody>
      </p:sp>
      <p:sp>
        <p:nvSpPr>
          <p:cNvPr id="3" name="TextBox 2"/>
          <p:cNvSpPr txBox="1"/>
          <p:nvPr/>
        </p:nvSpPr>
        <p:spPr>
          <a:xfrm>
            <a:off x="566928" y="1033271"/>
            <a:ext cx="11057839" cy="274320"/>
          </a:xfrm>
          <a:prstGeom prst="rect">
            <a:avLst/>
          </a:prstGeom>
          <a:noFill/>
        </p:spPr>
        <p:txBody>
          <a:bodyPr wrap="square" lIns="0" rIns="0" tIns="0" bIns="0">
            <a:spAutoFit/>
          </a:bodyPr>
          <a:lstStyle/>
          <a:p>
            <a:pPr algn="l">
              <a:spcAft>
                <a:spcPts val="600"/>
              </a:spcAft>
            </a:pPr>
            <a:r>
              <a:rPr sz="1200" b="0">
                <a:solidFill>
                  <a:srgbClr val="595959"/>
                </a:solidFill>
                <a:latin typeface="Calibri"/>
              </a:rPr>
              <a:t>Three assumptions, all stated, all careful. Change any one and the answer moves. That is why the curve is here, not just the number.</a:t>
            </a:r>
          </a:p>
        </p:txBody>
      </p:sp>
      <p:pic>
        <p:nvPicPr>
          <p:cNvPr id="4" name="Picture 3" descr="expected_value.png"/>
          <p:cNvPicPr>
            <a:picLocks noChangeAspect="1"/>
          </p:cNvPicPr>
          <p:nvPr/>
        </p:nvPicPr>
        <p:blipFill>
          <a:blip r:embed="rId2"/>
          <a:stretch>
            <a:fillRect/>
          </a:stretch>
        </p:blipFill>
        <p:spPr>
          <a:xfrm>
            <a:off x="6309360" y="1691640"/>
            <a:ext cx="5394960" cy="2538805"/>
          </a:xfrm>
          <a:prstGeom prst="rect">
            <a:avLst/>
          </a:prstGeom>
        </p:spPr>
      </p:pic>
      <p:sp>
        <p:nvSpPr>
          <p:cNvPr id="5" name="TextBox 4"/>
          <p:cNvSpPr txBox="1"/>
          <p:nvPr/>
        </p:nvSpPr>
        <p:spPr>
          <a:xfrm>
            <a:off x="566928" y="1691640"/>
            <a:ext cx="5394960" cy="2103120"/>
          </a:xfrm>
          <a:prstGeom prst="rect">
            <a:avLst/>
          </a:prstGeom>
          <a:noFill/>
        </p:spPr>
        <p:txBody>
          <a:bodyPr wrap="square" lIns="0" rIns="0" tIns="0" bIns="0">
            <a:spAutoFit/>
          </a:bodyPr>
          <a:lstStyle/>
          <a:p>
            <a:pPr algn="l">
              <a:lnSpc>
                <a:spcPct val="125000"/>
              </a:lnSpc>
              <a:spcAft>
                <a:spcPts val="700"/>
              </a:spcAft>
            </a:pPr>
            <a:r>
              <a:rPr sz="1300" b="1">
                <a:solidFill>
                  <a:srgbClr val="1A1A1A"/>
                </a:solidFill>
                <a:latin typeface="Calibri"/>
              </a:rPr>
              <a:t>A saved student is worth about 2,100 EUR.</a:t>
            </a:r>
          </a:p>
          <a:p>
            <a:pPr algn="l">
              <a:lnSpc>
                <a:spcPct val="125000"/>
              </a:lnSpc>
              <a:spcAft>
                <a:spcPts val="700"/>
              </a:spcAft>
            </a:pPr>
            <a:r>
              <a:rPr sz="1300" b="0">
                <a:solidFill>
                  <a:srgbClr val="595959"/>
                </a:solidFill>
                <a:latin typeface="Calibri"/>
              </a:rPr>
              <a:t>Three years of public tuition. Nothing else counted.</a:t>
            </a:r>
          </a:p>
          <a:p>
            <a:pPr algn="l">
              <a:lnSpc>
                <a:spcPct val="125000"/>
              </a:lnSpc>
              <a:spcAft>
                <a:spcPts val="700"/>
              </a:spcAft>
            </a:pPr>
            <a:r>
              <a:rPr sz="1300" b="1">
                <a:solidFill>
                  <a:srgbClr val="1A1A1A"/>
                </a:solidFill>
                <a:latin typeface="Calibri"/>
              </a:rPr>
              <a:t>Reaching out works about three times in ten.</a:t>
            </a:r>
          </a:p>
          <a:p>
            <a:pPr algn="l">
              <a:lnSpc>
                <a:spcPct val="125000"/>
              </a:lnSpc>
              <a:spcAft>
                <a:spcPts val="700"/>
              </a:spcAft>
            </a:pPr>
            <a:r>
              <a:rPr sz="1300" b="0">
                <a:solidFill>
                  <a:srgbClr val="595959"/>
                </a:solidFill>
                <a:latin typeface="Calibri"/>
              </a:rPr>
              <a:t>So a student the tool finds is worth about 630 EUR on average, not 2,100.</a:t>
            </a:r>
          </a:p>
          <a:p>
            <a:pPr algn="l">
              <a:lnSpc>
                <a:spcPct val="125000"/>
              </a:lnSpc>
              <a:spcAft>
                <a:spcPts val="700"/>
              </a:spcAft>
            </a:pPr>
            <a:r>
              <a:rPr sz="1300" b="1">
                <a:solidFill>
                  <a:srgbClr val="1A1A1A"/>
                </a:solidFill>
                <a:latin typeface="Calibri"/>
              </a:rPr>
              <a:t>A conversation costs somewhere between 50 and 300 EUR.</a:t>
            </a:r>
          </a:p>
          <a:p>
            <a:pPr algn="l">
              <a:lnSpc>
                <a:spcPct val="125000"/>
              </a:lnSpc>
              <a:spcAft>
                <a:spcPts val="700"/>
              </a:spcAft>
            </a:pPr>
            <a:r>
              <a:rPr sz="1300" b="0">
                <a:solidFill>
                  <a:srgbClr val="595959"/>
                </a:solidFill>
                <a:latin typeface="Calibri"/>
              </a:rPr>
              <a:t>The school knows this number. I do not. So all three are shown.</a:t>
            </a:r>
          </a:p>
        </p:txBody>
      </p:sp>
      <p:graphicFrame>
        <p:nvGraphicFramePr>
          <p:cNvPr id="6" name="Table 5"/>
          <p:cNvGraphicFramePr>
            <a:graphicFrameLocks noGrp="1"/>
          </p:cNvGraphicFramePr>
          <p:nvPr/>
        </p:nvGraphicFramePr>
        <p:xfrm>
          <a:off x="566928" y="4114800"/>
          <a:ext cx="5394960" cy="1463040"/>
        </p:xfrm>
        <a:graphic>
          <a:graphicData uri="http://schemas.openxmlformats.org/drawingml/2006/table">
            <a:tbl>
              <a:tblPr>
                <a:tableStyleId>{5C22544A-7EE6-4342-B048-85BDC9FD1C3A}</a:tableStyleId>
              </a:tblPr>
              <a:tblGrid>
                <a:gridCol w="1737360"/>
                <a:gridCol w="1828800"/>
                <a:gridCol w="1828800"/>
              </a:tblGrid>
              <a:tr h="365760">
                <a:tc>
                  <a:txBody>
                    <a:bodyPr wrap="square"/>
                    <a:lstStyle/>
                    <a:p>
                      <a:pPr algn="l"/>
                      <a:r>
                        <a:rPr sz="1000" b="1">
                          <a:solidFill>
                            <a:srgbClr val="FFFFFF"/>
                          </a:solidFill>
                          <a:latin typeface="Calibri"/>
                        </a:rPr>
                        <a:t>A conversation costs</a:t>
                      </a:r>
                    </a:p>
                  </a:txBody>
                  <a:tcPr marL="64008" marR="64008" marT="9144" marB="9144" anchor="ctr">
                    <a:solidFill>
                      <a:srgbClr val="1A1A1A"/>
                    </a:solidFill>
                  </a:tcPr>
                </a:tc>
                <a:tc>
                  <a:txBody>
                    <a:bodyPr wrap="square"/>
                    <a:lstStyle/>
                    <a:p>
                      <a:pPr algn="r"/>
                      <a:r>
                        <a:rPr sz="1000" b="1">
                          <a:solidFill>
                            <a:srgbClr val="FFFFFF"/>
                          </a:solidFill>
                          <a:latin typeface="Calibri"/>
                        </a:rPr>
                        <a:t>Best case</a:t>
                      </a:r>
                    </a:p>
                  </a:txBody>
                  <a:tcPr marL="64008" marR="64008" marT="9144" marB="9144" anchor="ctr">
                    <a:solidFill>
                      <a:srgbClr val="1A1A1A"/>
                    </a:solidFill>
                  </a:tcPr>
                </a:tc>
                <a:tc>
                  <a:txBody>
                    <a:bodyPr wrap="square"/>
                    <a:lstStyle/>
                    <a:p>
                      <a:pPr algn="r"/>
                      <a:r>
                        <a:rPr sz="1000" b="1">
                          <a:solidFill>
                            <a:srgbClr val="FFFFFF"/>
                          </a:solidFill>
                          <a:latin typeface="Calibri"/>
                        </a:rPr>
                        <a:t>At 1 in 2</a:t>
                      </a:r>
                    </a:p>
                  </a:txBody>
                  <a:tcPr marL="64008" marR="64008" marT="9144" marB="9144" anchor="ctr">
                    <a:solidFill>
                      <a:srgbClr val="1A1A1A"/>
                    </a:solidFill>
                  </a:tcPr>
                </a:tc>
              </a:tr>
              <a:tr h="365760">
                <a:tc>
                  <a:txBody>
                    <a:bodyPr wrap="square"/>
                    <a:lstStyle/>
                    <a:p>
                      <a:pPr algn="l"/>
                      <a:r>
                        <a:rPr sz="1100" b="0">
                          <a:solidFill>
                            <a:srgbClr val="1A1A1A"/>
                          </a:solidFill>
                          <a:latin typeface="Calibri"/>
                        </a:rPr>
                        <a:t>50 EUR</a:t>
                      </a:r>
                    </a:p>
                  </a:txBody>
                  <a:tcPr marL="64008" marR="64008" marT="9144" marB="9144" anchor="ctr">
                    <a:solidFill>
                      <a:srgbClr val="FFFFFF"/>
                    </a:solidFill>
                  </a:tcPr>
                </a:tc>
                <a:tc>
                  <a:txBody>
                    <a:bodyPr wrap="square"/>
                    <a:lstStyle/>
                    <a:p>
                      <a:pPr algn="r"/>
                      <a:r>
                        <a:rPr sz="1100" b="0">
                          <a:solidFill>
                            <a:srgbClr val="595959"/>
                          </a:solidFill>
                          <a:latin typeface="Calibri"/>
                        </a:rPr>
                        <a:t>199,022 EUR</a:t>
                      </a:r>
                    </a:p>
                  </a:txBody>
                  <a:tcPr marL="64008" marR="64008" marT="9144" marB="9144" anchor="ctr">
                    <a:solidFill>
                      <a:srgbClr val="FFFFFF"/>
                    </a:solidFill>
                  </a:tcPr>
                </a:tc>
                <a:tc>
                  <a:txBody>
                    <a:bodyPr wrap="square"/>
                    <a:lstStyle/>
                    <a:p>
                      <a:pPr algn="r"/>
                      <a:r>
                        <a:rPr sz="1100" b="0">
                          <a:solidFill>
                            <a:srgbClr val="595959"/>
                          </a:solidFill>
                          <a:latin typeface="Calibri"/>
                        </a:rPr>
                        <a:t>171,942 EUR</a:t>
                      </a:r>
                    </a:p>
                  </a:txBody>
                  <a:tcPr marL="64008" marR="64008" marT="9144" marB="9144" anchor="ctr">
                    <a:solidFill>
                      <a:srgbClr val="FFFFFF"/>
                    </a:solidFill>
                  </a:tcPr>
                </a:tc>
              </a:tr>
              <a:tr h="365760">
                <a:tc>
                  <a:txBody>
                    <a:bodyPr wrap="square"/>
                    <a:lstStyle/>
                    <a:p>
                      <a:pPr algn="l"/>
                      <a:r>
                        <a:rPr sz="1100" b="1">
                          <a:solidFill>
                            <a:srgbClr val="1A1A1A"/>
                          </a:solidFill>
                          <a:latin typeface="Calibri"/>
                        </a:rPr>
                        <a:t>150 EUR</a:t>
                      </a:r>
                    </a:p>
                  </a:txBody>
                  <a:tcPr marL="64008" marR="64008" marT="9144" marB="9144" anchor="ctr">
                    <a:solidFill>
                      <a:srgbClr val="FFF3CC"/>
                    </a:solidFill>
                  </a:tcPr>
                </a:tc>
                <a:tc>
                  <a:txBody>
                    <a:bodyPr wrap="square"/>
                    <a:lstStyle/>
                    <a:p>
                      <a:pPr algn="r"/>
                      <a:r>
                        <a:rPr sz="1100" b="1">
                          <a:solidFill>
                            <a:srgbClr val="1A1A1A"/>
                          </a:solidFill>
                          <a:latin typeface="Calibri"/>
                        </a:rPr>
                        <a:t>125,289 EUR</a:t>
                      </a:r>
                    </a:p>
                  </a:txBody>
                  <a:tcPr marL="64008" marR="64008" marT="9144" marB="9144" anchor="ctr">
                    <a:solidFill>
                      <a:srgbClr val="FFF3CC"/>
                    </a:solidFill>
                  </a:tcPr>
                </a:tc>
                <a:tc>
                  <a:txBody>
                    <a:bodyPr wrap="square"/>
                    <a:lstStyle/>
                    <a:p>
                      <a:pPr algn="r"/>
                      <a:r>
                        <a:rPr sz="1100" b="1">
                          <a:solidFill>
                            <a:srgbClr val="1A1A1A"/>
                          </a:solidFill>
                          <a:latin typeface="Calibri"/>
                        </a:rPr>
                        <a:t>123,595 EUR</a:t>
                      </a:r>
                    </a:p>
                  </a:txBody>
                  <a:tcPr marL="64008" marR="64008" marT="9144" marB="9144" anchor="ctr">
                    <a:solidFill>
                      <a:srgbClr val="FFF3CC"/>
                    </a:solidFill>
                  </a:tcPr>
                </a:tc>
              </a:tr>
              <a:tr h="365760">
                <a:tc>
                  <a:txBody>
                    <a:bodyPr wrap="square"/>
                    <a:lstStyle/>
                    <a:p>
                      <a:pPr algn="l"/>
                      <a:r>
                        <a:rPr sz="1100" b="0">
                          <a:solidFill>
                            <a:srgbClr val="1A1A1A"/>
                          </a:solidFill>
                          <a:latin typeface="Calibri"/>
                        </a:rPr>
                        <a:t>300 EUR</a:t>
                      </a:r>
                    </a:p>
                  </a:txBody>
                  <a:tcPr marL="64008" marR="64008" marT="9144" marB="9144" anchor="ctr">
                    <a:solidFill>
                      <a:srgbClr val="FFFFFF"/>
                    </a:solidFill>
                  </a:tcPr>
                </a:tc>
                <a:tc>
                  <a:txBody>
                    <a:bodyPr wrap="square"/>
                    <a:lstStyle/>
                    <a:p>
                      <a:pPr algn="r"/>
                      <a:r>
                        <a:rPr sz="1100" b="0">
                          <a:solidFill>
                            <a:srgbClr val="595959"/>
                          </a:solidFill>
                          <a:latin typeface="Calibri"/>
                        </a:rPr>
                        <a:t>58,967 EUR</a:t>
                      </a:r>
                    </a:p>
                  </a:txBody>
                  <a:tcPr marL="64008" marR="64008" marT="9144" marB="9144" anchor="ctr">
                    <a:solidFill>
                      <a:srgbClr val="FFFFFF"/>
                    </a:solidFill>
                  </a:tcPr>
                </a:tc>
                <a:tc>
                  <a:txBody>
                    <a:bodyPr wrap="square"/>
                    <a:lstStyle/>
                    <a:p>
                      <a:pPr algn="r"/>
                      <a:r>
                        <a:rPr sz="1100" b="0">
                          <a:solidFill>
                            <a:srgbClr val="595959"/>
                          </a:solidFill>
                          <a:latin typeface="Calibri"/>
                        </a:rPr>
                        <a:t>51,074 EUR</a:t>
                      </a:r>
                    </a:p>
                  </a:txBody>
                  <a:tcPr marL="64008" marR="64008" marT="9144" marB="9144" anchor="ctr">
                    <a:solidFill>
                      <a:srgbClr val="FFFFFF"/>
                    </a:solidFill>
                  </a:tcPr>
                </a:tc>
              </a:tr>
            </a:tbl>
          </a:graphicData>
        </a:graphic>
      </p:graphicFrame>
      <p:sp>
        <p:nvSpPr>
          <p:cNvPr id="7" name="TextBox 6"/>
          <p:cNvSpPr txBox="1"/>
          <p:nvPr/>
        </p:nvSpPr>
        <p:spPr>
          <a:xfrm>
            <a:off x="566928" y="5669280"/>
            <a:ext cx="5394960" cy="640080"/>
          </a:xfrm>
          <a:prstGeom prst="rect">
            <a:avLst/>
          </a:prstGeom>
          <a:noFill/>
        </p:spPr>
        <p:txBody>
          <a:bodyPr wrap="square" lIns="0" rIns="0" tIns="0" bIns="0">
            <a:spAutoFit/>
          </a:bodyPr>
          <a:lstStyle/>
          <a:p>
            <a:pPr algn="l">
              <a:lnSpc>
                <a:spcPct val="120000"/>
              </a:lnSpc>
              <a:spcAft>
                <a:spcPts val="600"/>
              </a:spcAft>
            </a:pPr>
            <a:r>
              <a:rPr sz="1100" b="0">
                <a:solidFill>
                  <a:srgbClr val="767676"/>
                </a:solidFill>
                <a:latin typeface="Calibri"/>
              </a:rPr>
              <a:t>Value per 1,000 students. Best case is the most profitable cutoff. At 1 in 2 is the cutoff the tool deploys at, and the gap between them at 150 EUR is only 1,700 EUR. So aiming the tool at the team's capacity is nearly free. Slide 8 is the thing that is not free.</a:t>
            </a:r>
          </a:p>
        </p:txBody>
      </p:sp>
      <p:sp>
        <p:nvSpPr>
          <p:cNvPr id="8" name="TextBox 7"/>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At 150 EUR a conversation, a save returns four times what a contact costs. The money says reach out broadly. There is barely any sorting left to 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The price, and who pays it</a:t>
            </a:r>
          </a:p>
        </p:txBody>
      </p:sp>
      <p:sp>
        <p:nvSpPr>
          <p:cNvPr id="3" name="Rectangle 2"/>
          <p:cNvSpPr/>
          <p:nvPr/>
        </p:nvSpPr>
        <p:spPr>
          <a:xfrm>
            <a:off x="7223760" y="2148840"/>
            <a:ext cx="2194560" cy="1325880"/>
          </a:xfrm>
          <a:prstGeom prst="rect">
            <a:avLst/>
          </a:prstGeom>
          <a:solidFill>
            <a:srgbClr val="D4D4D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223760" y="2350008"/>
            <a:ext cx="2194560" cy="548640"/>
          </a:xfrm>
          <a:prstGeom prst="rect">
            <a:avLst/>
          </a:prstGeom>
          <a:noFill/>
        </p:spPr>
        <p:txBody>
          <a:bodyPr wrap="square" lIns="0" rIns="0" tIns="0" bIns="0">
            <a:spAutoFit/>
          </a:bodyPr>
          <a:lstStyle/>
          <a:p>
            <a:pPr algn="ctr">
              <a:spcAft>
                <a:spcPts val="0"/>
              </a:spcAft>
            </a:pPr>
            <a:r>
              <a:rPr sz="3200" b="1">
                <a:solidFill>
                  <a:srgbClr val="1A1A1A"/>
                </a:solidFill>
                <a:latin typeface="Cambria"/>
              </a:rPr>
              <a:t>437</a:t>
            </a:r>
          </a:p>
        </p:txBody>
      </p:sp>
      <p:sp>
        <p:nvSpPr>
          <p:cNvPr id="5" name="TextBox 4"/>
          <p:cNvSpPr txBox="1"/>
          <p:nvPr/>
        </p:nvSpPr>
        <p:spPr>
          <a:xfrm>
            <a:off x="7223760" y="2898648"/>
            <a:ext cx="2194560" cy="365760"/>
          </a:xfrm>
          <a:prstGeom prst="rect">
            <a:avLst/>
          </a:prstGeom>
          <a:noFill/>
        </p:spPr>
        <p:txBody>
          <a:bodyPr wrap="square" lIns="0" rIns="0" tIns="0" bIns="0">
            <a:spAutoFit/>
          </a:bodyPr>
          <a:lstStyle/>
          <a:p>
            <a:pPr algn="ctr">
              <a:spcAft>
                <a:spcPts val="0"/>
              </a:spcAft>
            </a:pPr>
            <a:r>
              <a:rPr sz="1000" b="0">
                <a:solidFill>
                  <a:srgbClr val="1A1A1A"/>
                </a:solidFill>
                <a:latin typeface="Calibri"/>
              </a:rPr>
              <a:t>correctly left alone</a:t>
            </a:r>
          </a:p>
        </p:txBody>
      </p:sp>
      <p:sp>
        <p:nvSpPr>
          <p:cNvPr id="6" name="Rectangle 5"/>
          <p:cNvSpPr/>
          <p:nvPr/>
        </p:nvSpPr>
        <p:spPr>
          <a:xfrm>
            <a:off x="9418320" y="2148840"/>
            <a:ext cx="2194560" cy="1325880"/>
          </a:xfrm>
          <a:prstGeom prst="rect">
            <a:avLst/>
          </a:prstGeom>
          <a:solidFill>
            <a:srgbClr val="F9C99A"/>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418320" y="2350008"/>
            <a:ext cx="2194560" cy="548640"/>
          </a:xfrm>
          <a:prstGeom prst="rect">
            <a:avLst/>
          </a:prstGeom>
          <a:noFill/>
        </p:spPr>
        <p:txBody>
          <a:bodyPr wrap="square" lIns="0" rIns="0" tIns="0" bIns="0">
            <a:spAutoFit/>
          </a:bodyPr>
          <a:lstStyle/>
          <a:p>
            <a:pPr algn="ctr">
              <a:spcAft>
                <a:spcPts val="0"/>
              </a:spcAft>
            </a:pPr>
            <a:r>
              <a:rPr sz="3200" b="1">
                <a:solidFill>
                  <a:srgbClr val="1A1A1A"/>
                </a:solidFill>
                <a:latin typeface="Cambria"/>
              </a:rPr>
              <a:t>172</a:t>
            </a:r>
          </a:p>
        </p:txBody>
      </p:sp>
      <p:sp>
        <p:nvSpPr>
          <p:cNvPr id="8" name="TextBox 7"/>
          <p:cNvSpPr txBox="1"/>
          <p:nvPr/>
        </p:nvSpPr>
        <p:spPr>
          <a:xfrm>
            <a:off x="9418320" y="2898648"/>
            <a:ext cx="2194560" cy="365760"/>
          </a:xfrm>
          <a:prstGeom prst="rect">
            <a:avLst/>
          </a:prstGeom>
          <a:noFill/>
        </p:spPr>
        <p:txBody>
          <a:bodyPr wrap="square" lIns="0" rIns="0" tIns="0" bIns="0">
            <a:spAutoFit/>
          </a:bodyPr>
          <a:lstStyle/>
          <a:p>
            <a:pPr algn="ctr">
              <a:spcAft>
                <a:spcPts val="0"/>
              </a:spcAft>
            </a:pPr>
            <a:r>
              <a:rPr sz="1000" b="0">
                <a:solidFill>
                  <a:srgbClr val="1A1A1A"/>
                </a:solidFill>
                <a:latin typeface="Calibri"/>
              </a:rPr>
              <a:t>contacted for nothing</a:t>
            </a:r>
          </a:p>
        </p:txBody>
      </p:sp>
      <p:sp>
        <p:nvSpPr>
          <p:cNvPr id="9" name="Rectangle 8"/>
          <p:cNvSpPr/>
          <p:nvPr/>
        </p:nvSpPr>
        <p:spPr>
          <a:xfrm>
            <a:off x="7223760" y="3474720"/>
            <a:ext cx="2194560" cy="1325880"/>
          </a:xfrm>
          <a:prstGeom prst="rect">
            <a:avLst/>
          </a:prstGeom>
          <a:solidFill>
            <a:srgbClr val="0076C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23760" y="3675888"/>
            <a:ext cx="2194560" cy="548640"/>
          </a:xfrm>
          <a:prstGeom prst="rect">
            <a:avLst/>
          </a:prstGeom>
          <a:noFill/>
        </p:spPr>
        <p:txBody>
          <a:bodyPr wrap="square" lIns="0" rIns="0" tIns="0" bIns="0">
            <a:spAutoFit/>
          </a:bodyPr>
          <a:lstStyle/>
          <a:p>
            <a:pPr algn="ctr">
              <a:spcAft>
                <a:spcPts val="0"/>
              </a:spcAft>
            </a:pPr>
            <a:r>
              <a:rPr sz="3200" b="1">
                <a:solidFill>
                  <a:srgbClr val="FFFFFF"/>
                </a:solidFill>
                <a:latin typeface="Cambria"/>
              </a:rPr>
              <a:t>80</a:t>
            </a:r>
          </a:p>
        </p:txBody>
      </p:sp>
      <p:sp>
        <p:nvSpPr>
          <p:cNvPr id="11" name="TextBox 10"/>
          <p:cNvSpPr txBox="1"/>
          <p:nvPr/>
        </p:nvSpPr>
        <p:spPr>
          <a:xfrm>
            <a:off x="7223760" y="4224528"/>
            <a:ext cx="2194560" cy="365760"/>
          </a:xfrm>
          <a:prstGeom prst="rect">
            <a:avLst/>
          </a:prstGeom>
          <a:noFill/>
        </p:spPr>
        <p:txBody>
          <a:bodyPr wrap="square" lIns="0" rIns="0" tIns="0" bIns="0">
            <a:spAutoFit/>
          </a:bodyPr>
          <a:lstStyle/>
          <a:p>
            <a:pPr algn="ctr">
              <a:spcAft>
                <a:spcPts val="0"/>
              </a:spcAft>
            </a:pPr>
            <a:r>
              <a:rPr sz="1000" b="0">
                <a:solidFill>
                  <a:srgbClr val="FFFFFF"/>
                </a:solidFill>
                <a:latin typeface="Calibri"/>
              </a:rPr>
              <a:t>missed</a:t>
            </a:r>
          </a:p>
        </p:txBody>
      </p:sp>
      <p:sp>
        <p:nvSpPr>
          <p:cNvPr id="12" name="Rectangle 11"/>
          <p:cNvSpPr/>
          <p:nvPr/>
        </p:nvSpPr>
        <p:spPr>
          <a:xfrm>
            <a:off x="9418320" y="3474720"/>
            <a:ext cx="2194560" cy="1325880"/>
          </a:xfrm>
          <a:prstGeom prst="rect">
            <a:avLst/>
          </a:prstGeom>
          <a:solidFill>
            <a:srgbClr val="F6861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418320" y="3675888"/>
            <a:ext cx="2194560" cy="548640"/>
          </a:xfrm>
          <a:prstGeom prst="rect">
            <a:avLst/>
          </a:prstGeom>
          <a:noFill/>
        </p:spPr>
        <p:txBody>
          <a:bodyPr wrap="square" lIns="0" rIns="0" tIns="0" bIns="0">
            <a:spAutoFit/>
          </a:bodyPr>
          <a:lstStyle/>
          <a:p>
            <a:pPr algn="ctr">
              <a:spcAft>
                <a:spcPts val="0"/>
              </a:spcAft>
            </a:pPr>
            <a:r>
              <a:rPr sz="3200" b="1">
                <a:solidFill>
                  <a:srgbClr val="FFFFFF"/>
                </a:solidFill>
                <a:latin typeface="Cambria"/>
              </a:rPr>
              <a:t>311</a:t>
            </a:r>
          </a:p>
        </p:txBody>
      </p:sp>
      <p:sp>
        <p:nvSpPr>
          <p:cNvPr id="14" name="TextBox 13"/>
          <p:cNvSpPr txBox="1"/>
          <p:nvPr/>
        </p:nvSpPr>
        <p:spPr>
          <a:xfrm>
            <a:off x="9418320" y="4224528"/>
            <a:ext cx="2194560" cy="365760"/>
          </a:xfrm>
          <a:prstGeom prst="rect">
            <a:avLst/>
          </a:prstGeom>
          <a:noFill/>
        </p:spPr>
        <p:txBody>
          <a:bodyPr wrap="square" lIns="0" rIns="0" tIns="0" bIns="0">
            <a:spAutoFit/>
          </a:bodyPr>
          <a:lstStyle/>
          <a:p>
            <a:pPr algn="ctr">
              <a:spcAft>
                <a:spcPts val="0"/>
              </a:spcAft>
            </a:pPr>
            <a:r>
              <a:rPr sz="1000" b="0">
                <a:solidFill>
                  <a:srgbClr val="FFFFFF"/>
                </a:solidFill>
                <a:latin typeface="Calibri"/>
              </a:rPr>
              <a:t>caught</a:t>
            </a:r>
          </a:p>
        </p:txBody>
      </p:sp>
      <p:sp>
        <p:nvSpPr>
          <p:cNvPr id="15" name="TextBox 14"/>
          <p:cNvSpPr txBox="1"/>
          <p:nvPr/>
        </p:nvSpPr>
        <p:spPr>
          <a:xfrm>
            <a:off x="7223760" y="1892808"/>
            <a:ext cx="4389120" cy="228600"/>
          </a:xfrm>
          <a:prstGeom prst="rect">
            <a:avLst/>
          </a:prstGeom>
          <a:noFill/>
        </p:spPr>
        <p:txBody>
          <a:bodyPr wrap="square" lIns="0" rIns="0" tIns="0" bIns="0">
            <a:spAutoFit/>
          </a:bodyPr>
          <a:lstStyle/>
          <a:p>
            <a:pPr algn="ctr">
              <a:spcAft>
                <a:spcPts val="0"/>
              </a:spcAft>
            </a:pPr>
            <a:r>
              <a:rPr sz="900" b="0">
                <a:solidFill>
                  <a:srgbClr val="767676"/>
                </a:solidFill>
                <a:latin typeface="Calibri"/>
              </a:rPr>
              <a:t>not flagged                    flagged</a:t>
            </a:r>
          </a:p>
        </p:txBody>
      </p:sp>
      <p:sp>
        <p:nvSpPr>
          <p:cNvPr id="16" name="TextBox 15"/>
          <p:cNvSpPr txBox="1"/>
          <p:nvPr/>
        </p:nvSpPr>
        <p:spPr>
          <a:xfrm>
            <a:off x="566928" y="1600200"/>
            <a:ext cx="6309360" cy="2194560"/>
          </a:xfrm>
          <a:prstGeom prst="rect">
            <a:avLst/>
          </a:prstGeom>
          <a:noFill/>
        </p:spPr>
        <p:txBody>
          <a:bodyPr wrap="square" lIns="0" rIns="0" tIns="0" bIns="0">
            <a:spAutoFit/>
          </a:bodyPr>
          <a:lstStyle/>
          <a:p>
            <a:pPr algn="l">
              <a:lnSpc>
                <a:spcPct val="130000"/>
              </a:lnSpc>
              <a:spcAft>
                <a:spcPts val="900"/>
              </a:spcAft>
            </a:pPr>
            <a:r>
              <a:rPr sz="1400" b="1">
                <a:solidFill>
                  <a:srgbClr val="1A1A1A"/>
                </a:solidFill>
                <a:latin typeface="Calibri"/>
              </a:rPr>
              <a:t>172 students in every 1,000 are contacted who were never going to leave.</a:t>
            </a:r>
          </a:p>
          <a:p>
            <a:pPr algn="l">
              <a:lnSpc>
                <a:spcPct val="130000"/>
              </a:lnSpc>
              <a:spcAft>
                <a:spcPts val="900"/>
              </a:spcAft>
            </a:pPr>
            <a:r>
              <a:rPr sz="1400" b="0">
                <a:solidFill>
                  <a:srgbClr val="595959"/>
                </a:solidFill>
                <a:latin typeface="Calibri"/>
              </a:rPr>
              <a:t>That is the real cost of this tool and it is not paid in euros. It is paid by a student pulled into a help conversation they did not need. A student just told, in effect, that a system thinks they are failing.</a:t>
            </a:r>
          </a:p>
          <a:p>
            <a:pPr algn="l">
              <a:lnSpc>
                <a:spcPct val="130000"/>
              </a:lnSpc>
              <a:spcAft>
                <a:spcPts val="900"/>
              </a:spcAft>
            </a:pPr>
            <a:r>
              <a:rPr sz="1400" b="0">
                <a:solidFill>
                  <a:srgbClr val="595959"/>
                </a:solidFill>
                <a:latin typeface="Calibri"/>
              </a:rPr>
              <a:t>The number can be driven down. Flag fewer students and fewer graduates get bothered. But every student cut from the list is also a leaver the team never reaches. And the 80 missed today becomes 120.</a:t>
            </a:r>
          </a:p>
        </p:txBody>
      </p:sp>
      <p:sp>
        <p:nvSpPr>
          <p:cNvPr id="17" name="TextBox 16"/>
          <p:cNvSpPr txBox="1"/>
          <p:nvPr/>
        </p:nvSpPr>
        <p:spPr>
          <a:xfrm>
            <a:off x="566928" y="4480560"/>
            <a:ext cx="6309360" cy="1554480"/>
          </a:xfrm>
          <a:prstGeom prst="rect">
            <a:avLst/>
          </a:prstGeom>
          <a:noFill/>
        </p:spPr>
        <p:txBody>
          <a:bodyPr wrap="square" lIns="0" rIns="0" tIns="0" bIns="0">
            <a:spAutoFit/>
          </a:bodyPr>
          <a:lstStyle/>
          <a:p>
            <a:pPr algn="l">
              <a:lnSpc>
                <a:spcPct val="125000"/>
              </a:lnSpc>
              <a:spcAft>
                <a:spcPts val="700"/>
              </a:spcAft>
            </a:pPr>
            <a:r>
              <a:rPr sz="1300" b="1">
                <a:solidFill>
                  <a:srgbClr val="1A1A1A"/>
                </a:solidFill>
                <a:latin typeface="Calibri"/>
              </a:rPr>
              <a:t>This is the trade and it does not go away.</a:t>
            </a:r>
          </a:p>
          <a:p>
            <a:pPr algn="l">
              <a:lnSpc>
                <a:spcPct val="125000"/>
              </a:lnSpc>
              <a:spcAft>
                <a:spcPts val="700"/>
              </a:spcAft>
            </a:pPr>
            <a:r>
              <a:rPr sz="1300" b="0">
                <a:solidFill>
                  <a:srgbClr val="595959"/>
                </a:solidFill>
                <a:latin typeface="Calibri"/>
              </a:rPr>
              <a:t>The tool cannot do both at once. Find more leavers and it bothers more graduates. Bother fewer graduates and it finds fewer leavers. Where the school sits is a judgement about students, not a calculation.</a:t>
            </a:r>
          </a:p>
        </p:txBody>
      </p:sp>
      <p:sp>
        <p:nvSpPr>
          <p:cNvPr id="18" name="TextBox 17"/>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Which is why the list goes to a person, and the person decides who to call.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The tool is worse at its job for women</a:t>
            </a:r>
          </a:p>
        </p:txBody>
      </p:sp>
      <p:sp>
        <p:nvSpPr>
          <p:cNvPr id="3" name="TextBox 2"/>
          <p:cNvSpPr txBox="1"/>
          <p:nvPr/>
        </p:nvSpPr>
        <p:spPr>
          <a:xfrm>
            <a:off x="566928" y="1554480"/>
            <a:ext cx="6400800" cy="1097280"/>
          </a:xfrm>
          <a:prstGeom prst="rect">
            <a:avLst/>
          </a:prstGeom>
          <a:noFill/>
        </p:spPr>
        <p:txBody>
          <a:bodyPr wrap="square" lIns="0" rIns="0" tIns="0" bIns="0">
            <a:spAutoFit/>
          </a:bodyPr>
          <a:lstStyle/>
          <a:p>
            <a:pPr algn="l">
              <a:lnSpc>
                <a:spcPct val="130000"/>
              </a:lnSpc>
              <a:spcAft>
                <a:spcPts val="600"/>
              </a:spcAft>
            </a:pPr>
            <a:r>
              <a:rPr sz="1400" b="0">
                <a:solidFill>
                  <a:srgbClr val="595959"/>
                </a:solidFill>
                <a:latin typeface="Calibri"/>
              </a:rPr>
              <a:t>The tool was checked across gender, age, scholarship, and debt. Gender is the one that fails on fairness. The other three flag groups that really do drop out more, though age still needs a closer look.</a:t>
            </a:r>
          </a:p>
        </p:txBody>
      </p:sp>
      <p:sp>
        <p:nvSpPr>
          <p:cNvPr id="4" name="TextBox 3"/>
          <p:cNvSpPr txBox="1"/>
          <p:nvPr/>
        </p:nvSpPr>
        <p:spPr>
          <a:xfrm>
            <a:off x="566928" y="3054096"/>
            <a:ext cx="1664208" cy="274320"/>
          </a:xfrm>
          <a:prstGeom prst="rect">
            <a:avLst/>
          </a:prstGeom>
          <a:noFill/>
        </p:spPr>
        <p:txBody>
          <a:bodyPr wrap="square" lIns="0" rIns="0" tIns="0" bIns="0">
            <a:spAutoFit/>
          </a:bodyPr>
          <a:lstStyle/>
          <a:p>
            <a:pPr algn="l">
              <a:spcAft>
                <a:spcPts val="0"/>
              </a:spcAft>
            </a:pPr>
            <a:r>
              <a:rPr sz="1000" b="0">
                <a:solidFill>
                  <a:srgbClr val="1A1A1A"/>
                </a:solidFill>
                <a:latin typeface="Calibri"/>
              </a:rPr>
              <a:t>men who leave</a:t>
            </a:r>
          </a:p>
        </p:txBody>
      </p:sp>
      <p:sp>
        <p:nvSpPr>
          <p:cNvPr id="5" name="Rectangle 4"/>
          <p:cNvSpPr/>
          <p:nvPr/>
        </p:nvSpPr>
        <p:spPr>
          <a:xfrm>
            <a:off x="2304288" y="3017520"/>
            <a:ext cx="4009644" cy="274320"/>
          </a:xfrm>
          <a:prstGeom prst="rect">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377940" y="2994660"/>
            <a:ext cx="640080" cy="182880"/>
          </a:xfrm>
          <a:prstGeom prst="rect">
            <a:avLst/>
          </a:prstGeom>
          <a:noFill/>
        </p:spPr>
        <p:txBody>
          <a:bodyPr wrap="square" lIns="0" rIns="0" tIns="0" bIns="0">
            <a:spAutoFit/>
          </a:bodyPr>
          <a:lstStyle/>
          <a:p>
            <a:pPr algn="l">
              <a:spcAft>
                <a:spcPts val="0"/>
              </a:spcAft>
            </a:pPr>
            <a:r>
              <a:rPr sz="900" b="0">
                <a:solidFill>
                  <a:srgbClr val="595959"/>
                </a:solidFill>
                <a:latin typeface="Calibri"/>
              </a:rPr>
              <a:t>88%</a:t>
            </a:r>
          </a:p>
        </p:txBody>
      </p:sp>
      <p:sp>
        <p:nvSpPr>
          <p:cNvPr id="7" name="TextBox 6"/>
          <p:cNvSpPr txBox="1"/>
          <p:nvPr/>
        </p:nvSpPr>
        <p:spPr>
          <a:xfrm>
            <a:off x="566928" y="3621024"/>
            <a:ext cx="1664208" cy="274320"/>
          </a:xfrm>
          <a:prstGeom prst="rect">
            <a:avLst/>
          </a:prstGeom>
          <a:noFill/>
        </p:spPr>
        <p:txBody>
          <a:bodyPr wrap="square" lIns="0" rIns="0" tIns="0" bIns="0">
            <a:spAutoFit/>
          </a:bodyPr>
          <a:lstStyle/>
          <a:p>
            <a:pPr algn="l">
              <a:spcAft>
                <a:spcPts val="0"/>
              </a:spcAft>
            </a:pPr>
            <a:r>
              <a:rPr sz="1000" b="0">
                <a:solidFill>
                  <a:srgbClr val="1A1A1A"/>
                </a:solidFill>
                <a:latin typeface="Calibri"/>
              </a:rPr>
              <a:t>women who leave</a:t>
            </a:r>
          </a:p>
        </p:txBody>
      </p:sp>
      <p:sp>
        <p:nvSpPr>
          <p:cNvPr id="8" name="Rectangle 7"/>
          <p:cNvSpPr/>
          <p:nvPr/>
        </p:nvSpPr>
        <p:spPr>
          <a:xfrm>
            <a:off x="2304288" y="3584448"/>
            <a:ext cx="3200400" cy="274320"/>
          </a:xfrm>
          <a:prstGeom prst="rect">
            <a:avLst/>
          </a:prstGeom>
          <a:solidFill>
            <a:srgbClr val="007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568696" y="3561588"/>
            <a:ext cx="640080" cy="182880"/>
          </a:xfrm>
          <a:prstGeom prst="rect">
            <a:avLst/>
          </a:prstGeom>
          <a:noFill/>
        </p:spPr>
        <p:txBody>
          <a:bodyPr wrap="square" lIns="0" rIns="0" tIns="0" bIns="0">
            <a:spAutoFit/>
          </a:bodyPr>
          <a:lstStyle/>
          <a:p>
            <a:pPr algn="l">
              <a:spcAft>
                <a:spcPts val="0"/>
              </a:spcAft>
            </a:pPr>
            <a:r>
              <a:rPr sz="900" b="0">
                <a:solidFill>
                  <a:srgbClr val="595959"/>
                </a:solidFill>
                <a:latin typeface="Calibri"/>
              </a:rPr>
              <a:t>70%</a:t>
            </a:r>
          </a:p>
        </p:txBody>
      </p:sp>
      <p:sp>
        <p:nvSpPr>
          <p:cNvPr id="10" name="TextBox 9"/>
          <p:cNvSpPr txBox="1"/>
          <p:nvPr/>
        </p:nvSpPr>
        <p:spPr>
          <a:xfrm>
            <a:off x="566928" y="4297680"/>
            <a:ext cx="6309360" cy="365760"/>
          </a:xfrm>
          <a:prstGeom prst="rect">
            <a:avLst/>
          </a:prstGeom>
          <a:noFill/>
        </p:spPr>
        <p:txBody>
          <a:bodyPr wrap="square" lIns="0" rIns="0" tIns="0" bIns="0">
            <a:spAutoFit/>
          </a:bodyPr>
          <a:lstStyle/>
          <a:p>
            <a:pPr algn="l">
              <a:spcAft>
                <a:spcPts val="600"/>
              </a:spcAft>
            </a:pPr>
            <a:r>
              <a:rPr sz="1000" b="0">
                <a:solidFill>
                  <a:srgbClr val="767676"/>
                </a:solidFill>
                <a:latin typeface="Calibri"/>
              </a:rPr>
              <a:t>Share of the students who go on to leave that the tool actually finds.</a:t>
            </a:r>
          </a:p>
        </p:txBody>
      </p:sp>
      <p:sp>
        <p:nvSpPr>
          <p:cNvPr id="11" name="TextBox 10"/>
          <p:cNvSpPr txBox="1"/>
          <p:nvPr/>
        </p:nvSpPr>
        <p:spPr>
          <a:xfrm>
            <a:off x="7589520" y="1783080"/>
            <a:ext cx="4023360" cy="603504"/>
          </a:xfrm>
          <a:prstGeom prst="rect">
            <a:avLst/>
          </a:prstGeom>
          <a:noFill/>
        </p:spPr>
        <p:txBody>
          <a:bodyPr wrap="square" lIns="0" rIns="0" tIns="0" bIns="0">
            <a:spAutoFit/>
          </a:bodyPr>
          <a:lstStyle/>
          <a:p>
            <a:pPr algn="l">
              <a:spcAft>
                <a:spcPts val="0"/>
              </a:spcAft>
            </a:pPr>
            <a:r>
              <a:rPr sz="5400" b="1">
                <a:solidFill>
                  <a:srgbClr val="1A1A1A"/>
                </a:solidFill>
                <a:latin typeface="Cambria"/>
              </a:rPr>
              <a:t>3 in 10</a:t>
            </a:r>
          </a:p>
        </p:txBody>
      </p:sp>
      <p:sp>
        <p:nvSpPr>
          <p:cNvPr id="12" name="TextBox 11"/>
          <p:cNvSpPr txBox="1"/>
          <p:nvPr/>
        </p:nvSpPr>
        <p:spPr>
          <a:xfrm>
            <a:off x="7589520" y="2606040"/>
            <a:ext cx="4023360" cy="2926080"/>
          </a:xfrm>
          <a:prstGeom prst="rect">
            <a:avLst/>
          </a:prstGeom>
          <a:noFill/>
        </p:spPr>
        <p:txBody>
          <a:bodyPr wrap="square" lIns="0" rIns="0" tIns="0" bIns="0">
            <a:spAutoFit/>
          </a:bodyPr>
          <a:lstStyle/>
          <a:p>
            <a:pPr algn="l">
              <a:lnSpc>
                <a:spcPct val="125000"/>
              </a:lnSpc>
              <a:spcAft>
                <a:spcPts val="800"/>
              </a:spcAft>
            </a:pPr>
            <a:r>
              <a:rPr sz="1300" b="0">
                <a:solidFill>
                  <a:srgbClr val="595959"/>
                </a:solidFill>
                <a:latin typeface="Calibri"/>
              </a:rPr>
              <a:t>women who go on to drop out are never on the list at all. For men it is closer to one in eight.</a:t>
            </a:r>
          </a:p>
          <a:p>
            <a:pPr algn="l">
              <a:lnSpc>
                <a:spcPct val="125000"/>
              </a:lnSpc>
              <a:spcAft>
                <a:spcPts val="800"/>
              </a:spcAft>
            </a:pPr>
            <a:r>
              <a:rPr sz="1300" b="1">
                <a:solidFill>
                  <a:srgbClr val="1A1A1A"/>
                </a:solidFill>
                <a:latin typeface="Calibri"/>
              </a:rPr>
              <a:t>This does not show up in any count of who gets flagged.</a:t>
            </a:r>
          </a:p>
          <a:p>
            <a:pPr algn="l">
              <a:lnSpc>
                <a:spcPct val="125000"/>
              </a:lnSpc>
              <a:spcAft>
                <a:spcPts val="800"/>
              </a:spcAft>
            </a:pPr>
            <a:r>
              <a:rPr sz="1300" b="0">
                <a:solidFill>
                  <a:srgbClr val="595959"/>
                </a:solidFill>
                <a:latin typeface="Calibri"/>
              </a:rPr>
              <a:t>The tool flags men twice as often as women. So a check on flagging rates says men are over-contacted and stops there. That check is not wrong. It just answers a different question.</a:t>
            </a:r>
          </a:p>
          <a:p>
            <a:pPr algn="l">
              <a:lnSpc>
                <a:spcPct val="125000"/>
              </a:lnSpc>
              <a:spcAft>
                <a:spcPts val="800"/>
              </a:spcAft>
            </a:pPr>
            <a:r>
              <a:rPr sz="1300" b="0">
                <a:solidFill>
                  <a:srgbClr val="595959"/>
                </a:solidFill>
                <a:latin typeface="Calibri"/>
              </a:rPr>
              <a:t>The harm only appears when you stop counting who gets contacted and start counting who gets missed.</a:t>
            </a:r>
          </a:p>
        </p:txBody>
      </p:sp>
      <p:sp>
        <p:nvSpPr>
          <p:cNvPr id="13" name="TextBox 12"/>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The students this tool exists to reach are being missed. And they are being missed unevenly.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Closing that gap costs about 30 students</a:t>
            </a:r>
          </a:p>
        </p:txBody>
      </p:sp>
      <p:sp>
        <p:nvSpPr>
          <p:cNvPr id="3" name="TextBox 2"/>
          <p:cNvSpPr txBox="1"/>
          <p:nvPr/>
        </p:nvSpPr>
        <p:spPr>
          <a:xfrm>
            <a:off x="566928" y="1033271"/>
            <a:ext cx="11057839" cy="274320"/>
          </a:xfrm>
          <a:prstGeom prst="rect">
            <a:avLst/>
          </a:prstGeom>
          <a:noFill/>
        </p:spPr>
        <p:txBody>
          <a:bodyPr wrap="square" lIns="0" rIns="0" tIns="0" bIns="0">
            <a:spAutoFit/>
          </a:bodyPr>
          <a:lstStyle/>
          <a:p>
            <a:pPr algn="l">
              <a:spcAft>
                <a:spcPts val="600"/>
              </a:spcAft>
            </a:pPr>
            <a:r>
              <a:rPr sz="1200" b="0">
                <a:solidFill>
                  <a:srgbClr val="595959"/>
                </a:solidFill>
                <a:latin typeface="Calibri"/>
              </a:rPr>
              <a:t>There is a way to correct it. It works. It is not free, and the school should see the bill before it decides.</a:t>
            </a:r>
          </a:p>
        </p:txBody>
      </p:sp>
      <p:sp>
        <p:nvSpPr>
          <p:cNvPr id="4" name="TextBox 3"/>
          <p:cNvSpPr txBox="1"/>
          <p:nvPr/>
        </p:nvSpPr>
        <p:spPr>
          <a:xfrm>
            <a:off x="566928" y="1911095"/>
            <a:ext cx="1755648" cy="274320"/>
          </a:xfrm>
          <a:prstGeom prst="rect">
            <a:avLst/>
          </a:prstGeom>
          <a:noFill/>
        </p:spPr>
        <p:txBody>
          <a:bodyPr wrap="square" lIns="0" rIns="0" tIns="0" bIns="0">
            <a:spAutoFit/>
          </a:bodyPr>
          <a:lstStyle/>
          <a:p>
            <a:pPr algn="l">
              <a:spcAft>
                <a:spcPts val="0"/>
              </a:spcAft>
            </a:pPr>
            <a:r>
              <a:rPr sz="1000" b="0">
                <a:solidFill>
                  <a:srgbClr val="1A1A1A"/>
                </a:solidFill>
                <a:latin typeface="Calibri"/>
              </a:rPr>
              <a:t>as it stands</a:t>
            </a:r>
          </a:p>
        </p:txBody>
      </p:sp>
      <p:sp>
        <p:nvSpPr>
          <p:cNvPr id="5" name="Rectangle 4"/>
          <p:cNvSpPr/>
          <p:nvPr/>
        </p:nvSpPr>
        <p:spPr>
          <a:xfrm>
            <a:off x="2395728" y="1874519"/>
            <a:ext cx="3483635" cy="310896"/>
          </a:xfrm>
          <a:prstGeom prst="rect">
            <a:avLst/>
          </a:prstGeom>
          <a:solidFill>
            <a:srgbClr val="F68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943371" y="1851659"/>
            <a:ext cx="640080" cy="182880"/>
          </a:xfrm>
          <a:prstGeom prst="rect">
            <a:avLst/>
          </a:prstGeom>
          <a:noFill/>
        </p:spPr>
        <p:txBody>
          <a:bodyPr wrap="square" lIns="0" rIns="0" tIns="0" bIns="0">
            <a:spAutoFit/>
          </a:bodyPr>
          <a:lstStyle/>
          <a:p>
            <a:pPr algn="l">
              <a:spcAft>
                <a:spcPts val="0"/>
              </a:spcAft>
            </a:pPr>
            <a:r>
              <a:rPr sz="900" b="0">
                <a:solidFill>
                  <a:srgbClr val="595959"/>
                </a:solidFill>
                <a:latin typeface="Calibri"/>
              </a:rPr>
              <a:t>311</a:t>
            </a:r>
          </a:p>
        </p:txBody>
      </p:sp>
      <p:sp>
        <p:nvSpPr>
          <p:cNvPr id="7" name="TextBox 6"/>
          <p:cNvSpPr txBox="1"/>
          <p:nvPr/>
        </p:nvSpPr>
        <p:spPr>
          <a:xfrm>
            <a:off x="566928" y="2569463"/>
            <a:ext cx="1755648" cy="274320"/>
          </a:xfrm>
          <a:prstGeom prst="rect">
            <a:avLst/>
          </a:prstGeom>
          <a:noFill/>
        </p:spPr>
        <p:txBody>
          <a:bodyPr wrap="square" lIns="0" rIns="0" tIns="0" bIns="0">
            <a:spAutoFit/>
          </a:bodyPr>
          <a:lstStyle/>
          <a:p>
            <a:pPr algn="l">
              <a:spcAft>
                <a:spcPts val="0"/>
              </a:spcAft>
            </a:pPr>
            <a:r>
              <a:rPr sz="1000" b="0">
                <a:solidFill>
                  <a:srgbClr val="1A1A1A"/>
                </a:solidFill>
                <a:latin typeface="Calibri"/>
              </a:rPr>
              <a:t>with the gap closed</a:t>
            </a:r>
          </a:p>
        </p:txBody>
      </p:sp>
      <p:sp>
        <p:nvSpPr>
          <p:cNvPr id="8" name="Rectangle 7"/>
          <p:cNvSpPr/>
          <p:nvPr/>
        </p:nvSpPr>
        <p:spPr>
          <a:xfrm>
            <a:off x="2395728" y="2532887"/>
            <a:ext cx="3147593" cy="310896"/>
          </a:xfrm>
          <a:prstGeom prst="rect">
            <a:avLst/>
          </a:prstGeom>
          <a:solidFill>
            <a:srgbClr val="F68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07329" y="2510027"/>
            <a:ext cx="640080" cy="182880"/>
          </a:xfrm>
          <a:prstGeom prst="rect">
            <a:avLst/>
          </a:prstGeom>
          <a:noFill/>
        </p:spPr>
        <p:txBody>
          <a:bodyPr wrap="square" lIns="0" rIns="0" tIns="0" bIns="0">
            <a:spAutoFit/>
          </a:bodyPr>
          <a:lstStyle/>
          <a:p>
            <a:pPr algn="l">
              <a:spcAft>
                <a:spcPts val="0"/>
              </a:spcAft>
            </a:pPr>
            <a:r>
              <a:rPr sz="900" b="0">
                <a:solidFill>
                  <a:srgbClr val="595959"/>
                </a:solidFill>
                <a:latin typeface="Calibri"/>
              </a:rPr>
              <a:t>281</a:t>
            </a:r>
          </a:p>
        </p:txBody>
      </p:sp>
      <p:sp>
        <p:nvSpPr>
          <p:cNvPr id="10" name="TextBox 9"/>
          <p:cNvSpPr txBox="1"/>
          <p:nvPr/>
        </p:nvSpPr>
        <p:spPr>
          <a:xfrm>
            <a:off x="566928" y="3337560"/>
            <a:ext cx="6309360" cy="365760"/>
          </a:xfrm>
          <a:prstGeom prst="rect">
            <a:avLst/>
          </a:prstGeom>
          <a:noFill/>
        </p:spPr>
        <p:txBody>
          <a:bodyPr wrap="square" lIns="0" rIns="0" tIns="0" bIns="0">
            <a:spAutoFit/>
          </a:bodyPr>
          <a:lstStyle/>
          <a:p>
            <a:pPr algn="l">
              <a:spcAft>
                <a:spcPts val="600"/>
              </a:spcAft>
            </a:pPr>
            <a:r>
              <a:rPr sz="1000" b="0">
                <a:solidFill>
                  <a:srgbClr val="767676"/>
                </a:solidFill>
                <a:latin typeface="Calibri"/>
              </a:rPr>
              <a:t>Leavers found, per 1,000 students.</a:t>
            </a:r>
          </a:p>
        </p:txBody>
      </p:sp>
      <p:sp>
        <p:nvSpPr>
          <p:cNvPr id="11" name="TextBox 10"/>
          <p:cNvSpPr txBox="1"/>
          <p:nvPr/>
        </p:nvSpPr>
        <p:spPr>
          <a:xfrm>
            <a:off x="566928" y="3886200"/>
            <a:ext cx="6309360" cy="2103120"/>
          </a:xfrm>
          <a:prstGeom prst="rect">
            <a:avLst/>
          </a:prstGeom>
          <a:noFill/>
        </p:spPr>
        <p:txBody>
          <a:bodyPr wrap="square" lIns="0" rIns="0" tIns="0" bIns="0">
            <a:spAutoFit/>
          </a:bodyPr>
          <a:lstStyle/>
          <a:p>
            <a:pPr algn="l">
              <a:lnSpc>
                <a:spcPct val="125000"/>
              </a:lnSpc>
              <a:spcAft>
                <a:spcPts val="800"/>
              </a:spcAft>
            </a:pPr>
            <a:r>
              <a:rPr sz="1300" b="1">
                <a:solidFill>
                  <a:srgbClr val="1A1A1A"/>
                </a:solidFill>
                <a:latin typeface="Calibri"/>
              </a:rPr>
              <a:t>Thirty fewer students are reached in every thousand.</a:t>
            </a:r>
          </a:p>
          <a:p>
            <a:pPr algn="l">
              <a:lnSpc>
                <a:spcPct val="125000"/>
              </a:lnSpc>
              <a:spcAft>
                <a:spcPts val="800"/>
              </a:spcAft>
            </a:pPr>
            <a:r>
              <a:rPr sz="1300" b="0">
                <a:solidFill>
                  <a:srgbClr val="595959"/>
                </a:solidFill>
                <a:latin typeface="Calibri"/>
              </a:rPr>
              <a:t>That is a real cost and it should be written down plainly, not buried in an appendix. Thirty students who would have been caught now will not be. In money that is about 8,000 EUR per 1,000 students at a 150 EUR contact, and the catch rate falls from about 8 in 10 to 7 in 10.</a:t>
            </a:r>
          </a:p>
          <a:p>
            <a:pPr algn="l">
              <a:lnSpc>
                <a:spcPct val="125000"/>
              </a:lnSpc>
              <a:spcAft>
                <a:spcPts val="800"/>
              </a:spcAft>
            </a:pPr>
            <a:r>
              <a:rPr sz="1300" b="1">
                <a:solidFill>
                  <a:srgbClr val="1A1A1A"/>
                </a:solidFill>
                <a:latin typeface="Calibri"/>
              </a:rPr>
              <a:t>What it buys is that those thirty are not loaded onto women.</a:t>
            </a:r>
          </a:p>
          <a:p>
            <a:pPr algn="l">
              <a:lnSpc>
                <a:spcPct val="125000"/>
              </a:lnSpc>
              <a:spcAft>
                <a:spcPts val="800"/>
              </a:spcAft>
            </a:pPr>
            <a:r>
              <a:rPr sz="1300" b="0">
                <a:solidFill>
                  <a:srgbClr val="595959"/>
                </a:solidFill>
                <a:latin typeface="Calibri"/>
              </a:rPr>
              <a:t>The correction does not make the tool better. It makes it evenly bad.</a:t>
            </a:r>
          </a:p>
          <a:p>
            <a:pPr algn="l">
              <a:lnSpc>
                <a:spcPct val="125000"/>
              </a:lnSpc>
              <a:spcAft>
                <a:spcPts val="800"/>
              </a:spcAft>
            </a:pPr>
            <a:r>
              <a:rPr sz="1300" b="0">
                <a:solidFill>
                  <a:srgbClr val="595959"/>
                </a:solidFill>
                <a:latin typeface="Calibri"/>
              </a:rPr>
              <a:t>The list of about 410 fits what the team can reach, so everyone on it is contacted.</a:t>
            </a:r>
          </a:p>
        </p:txBody>
      </p:sp>
      <p:sp>
        <p:nvSpPr>
          <p:cNvPr id="12" name="TextBox 11"/>
          <p:cNvSpPr txBox="1"/>
          <p:nvPr/>
        </p:nvSpPr>
        <p:spPr>
          <a:xfrm>
            <a:off x="7223760" y="1874519"/>
            <a:ext cx="4389120" cy="365760"/>
          </a:xfrm>
          <a:prstGeom prst="rect">
            <a:avLst/>
          </a:prstGeom>
          <a:noFill/>
        </p:spPr>
        <p:txBody>
          <a:bodyPr wrap="square" lIns="0" rIns="0" tIns="0" bIns="0">
            <a:spAutoFit/>
          </a:bodyPr>
          <a:lstStyle/>
          <a:p>
            <a:pPr algn="l">
              <a:spcAft>
                <a:spcPts val="600"/>
              </a:spcAft>
            </a:pPr>
            <a:r>
              <a:rPr sz="1200" b="1">
                <a:solidFill>
                  <a:srgbClr val="1A1A1A"/>
                </a:solidFill>
                <a:latin typeface="Calibri"/>
              </a:rPr>
              <a:t>The option the school should not take</a:t>
            </a:r>
          </a:p>
        </p:txBody>
      </p:sp>
      <p:sp>
        <p:nvSpPr>
          <p:cNvPr id="13" name="TextBox 12"/>
          <p:cNvSpPr txBox="1"/>
          <p:nvPr/>
        </p:nvSpPr>
        <p:spPr>
          <a:xfrm>
            <a:off x="7223760" y="2286000"/>
            <a:ext cx="4389120" cy="2103120"/>
          </a:xfrm>
          <a:prstGeom prst="rect">
            <a:avLst/>
          </a:prstGeom>
          <a:noFill/>
        </p:spPr>
        <p:txBody>
          <a:bodyPr wrap="square" lIns="0" rIns="0" tIns="0" bIns="0">
            <a:spAutoFit/>
          </a:bodyPr>
          <a:lstStyle/>
          <a:p>
            <a:pPr algn="l">
              <a:lnSpc>
                <a:spcPct val="125000"/>
              </a:lnSpc>
              <a:spcAft>
                <a:spcPts val="800"/>
              </a:spcAft>
            </a:pPr>
            <a:r>
              <a:rPr sz="1300" b="0">
                <a:solidFill>
                  <a:srgbClr val="595959"/>
                </a:solidFill>
                <a:latin typeface="Calibri"/>
              </a:rPr>
              <a:t>A second correction closes the same gap and looks better on paper. Overall accuracy goes up.</a:t>
            </a:r>
          </a:p>
          <a:p>
            <a:pPr algn="l">
              <a:lnSpc>
                <a:spcPct val="125000"/>
              </a:lnSpc>
              <a:spcAft>
                <a:spcPts val="800"/>
              </a:spcAft>
            </a:pPr>
            <a:r>
              <a:rPr sz="1300" b="0">
                <a:solidFill>
                  <a:srgbClr val="595959"/>
                </a:solidFill>
                <a:latin typeface="Calibri"/>
              </a:rPr>
              <a:t>It gets there by contacting fewer students of every kind. It closes the gap by helping fewer people. And it costs seventy fewer leavers found instead of thirty.</a:t>
            </a:r>
          </a:p>
          <a:p>
            <a:pPr algn="l">
              <a:lnSpc>
                <a:spcPct val="125000"/>
              </a:lnSpc>
              <a:spcAft>
                <a:spcPts val="800"/>
              </a:spcAft>
            </a:pPr>
            <a:r>
              <a:rPr sz="1300" b="1">
                <a:solidFill>
                  <a:srgbClr val="1A1A1A"/>
                </a:solidFill>
                <a:latin typeface="Calibri"/>
              </a:rPr>
              <a:t>Fixing a gap by helping fewer people is not a fix.</a:t>
            </a:r>
          </a:p>
        </p:txBody>
      </p:sp>
      <p:sp>
        <p:nvSpPr>
          <p:cNvPr id="14" name="TextBox 13"/>
          <p:cNvSpPr txBox="1"/>
          <p:nvPr/>
        </p:nvSpPr>
        <p:spPr>
          <a:xfrm>
            <a:off x="7223760" y="4709160"/>
            <a:ext cx="4389120" cy="1280160"/>
          </a:xfrm>
          <a:prstGeom prst="rect">
            <a:avLst/>
          </a:prstGeom>
          <a:noFill/>
        </p:spPr>
        <p:txBody>
          <a:bodyPr wrap="square" lIns="0" rIns="0" tIns="0" bIns="0">
            <a:spAutoFit/>
          </a:bodyPr>
          <a:lstStyle/>
          <a:p>
            <a:pPr algn="l">
              <a:lnSpc>
                <a:spcPct val="125000"/>
              </a:lnSpc>
              <a:spcAft>
                <a:spcPts val="800"/>
              </a:spcAft>
            </a:pPr>
            <a:r>
              <a:rPr sz="1300" b="1">
                <a:solidFill>
                  <a:srgbClr val="1A1A1A"/>
                </a:solidFill>
                <a:latin typeface="Calibri"/>
              </a:rPr>
              <a:t>This is the school's decision, not the tool's.</a:t>
            </a:r>
          </a:p>
          <a:p>
            <a:pPr algn="l">
              <a:lnSpc>
                <a:spcPct val="125000"/>
              </a:lnSpc>
              <a:spcAft>
                <a:spcPts val="800"/>
              </a:spcAft>
            </a:pPr>
            <a:r>
              <a:rPr sz="1300" b="0">
                <a:solidFill>
                  <a:srgbClr val="595959"/>
                </a:solidFill>
                <a:latin typeface="Calibri"/>
              </a:rPr>
              <a:t>Thirty students is the price of the tool being as good at finding women as it is at finding men. Nobody but the school can say whether that is worth paying.</a:t>
            </a:r>
          </a:p>
        </p:txBody>
      </p:sp>
      <p:sp>
        <p:nvSpPr>
          <p:cNvPr id="15" name="TextBox 14"/>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The recommendation is to pay it. But the number is on the table, not hidden.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How to put it in, without betting the school on it</a:t>
            </a:r>
          </a:p>
        </p:txBody>
      </p:sp>
      <p:sp>
        <p:nvSpPr>
          <p:cNvPr id="3" name="TextBox 2"/>
          <p:cNvSpPr txBox="1"/>
          <p:nvPr/>
        </p:nvSpPr>
        <p:spPr>
          <a:xfrm>
            <a:off x="566928" y="1033271"/>
            <a:ext cx="11057839" cy="274320"/>
          </a:xfrm>
          <a:prstGeom prst="rect">
            <a:avLst/>
          </a:prstGeom>
          <a:noFill/>
        </p:spPr>
        <p:txBody>
          <a:bodyPr wrap="square" lIns="0" rIns="0" tIns="0" bIns="0">
            <a:spAutoFit/>
          </a:bodyPr>
          <a:lstStyle/>
          <a:p>
            <a:pPr algn="l">
              <a:spcAft>
                <a:spcPts val="600"/>
              </a:spcAft>
            </a:pPr>
            <a:r>
              <a:rPr sz="1200" b="0">
                <a:solidFill>
                  <a:srgbClr val="595959"/>
                </a:solidFill>
                <a:latin typeface="Calibri"/>
              </a:rPr>
              <a:t>Nothing here asks anyone to trust the tool on day one. Each phase earns the next.</a:t>
            </a:r>
          </a:p>
        </p:txBody>
      </p:sp>
      <p:sp>
        <p:nvSpPr>
          <p:cNvPr id="4" name="Rectangle 3"/>
          <p:cNvSpPr/>
          <p:nvPr/>
        </p:nvSpPr>
        <p:spPr>
          <a:xfrm>
            <a:off x="566928" y="1783080"/>
            <a:ext cx="3503066" cy="73152"/>
          </a:xfrm>
          <a:prstGeom prst="rect">
            <a:avLst/>
          </a:prstGeom>
          <a:solidFill>
            <a:srgbClr val="F68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66928" y="1984248"/>
            <a:ext cx="3503066" cy="228600"/>
          </a:xfrm>
          <a:prstGeom prst="rect">
            <a:avLst/>
          </a:prstGeom>
          <a:noFill/>
        </p:spPr>
        <p:txBody>
          <a:bodyPr wrap="square" lIns="0" rIns="0" tIns="0" bIns="0">
            <a:spAutoFit/>
          </a:bodyPr>
          <a:lstStyle/>
          <a:p>
            <a:pPr algn="l">
              <a:spcAft>
                <a:spcPts val="0"/>
              </a:spcAft>
            </a:pPr>
            <a:r>
              <a:rPr sz="1000" b="1">
                <a:solidFill>
                  <a:srgbClr val="595959"/>
                </a:solidFill>
                <a:latin typeface="Calibri"/>
              </a:rPr>
              <a:t>ONE TERM</a:t>
            </a:r>
          </a:p>
        </p:txBody>
      </p:sp>
      <p:sp>
        <p:nvSpPr>
          <p:cNvPr id="6" name="TextBox 5"/>
          <p:cNvSpPr txBox="1"/>
          <p:nvPr/>
        </p:nvSpPr>
        <p:spPr>
          <a:xfrm>
            <a:off x="566928" y="2258568"/>
            <a:ext cx="3503066" cy="365760"/>
          </a:xfrm>
          <a:prstGeom prst="rect">
            <a:avLst/>
          </a:prstGeom>
          <a:noFill/>
        </p:spPr>
        <p:txBody>
          <a:bodyPr wrap="square" lIns="0" rIns="0" tIns="0" bIns="0">
            <a:spAutoFit/>
          </a:bodyPr>
          <a:lstStyle/>
          <a:p>
            <a:pPr algn="l">
              <a:lnSpc>
                <a:spcPct val="115000"/>
              </a:lnSpc>
              <a:spcAft>
                <a:spcPts val="0"/>
              </a:spcAft>
            </a:pPr>
            <a:r>
              <a:rPr sz="1500" b="1">
                <a:solidFill>
                  <a:srgbClr val="1A1A1A"/>
                </a:solidFill>
                <a:latin typeface="Cambria"/>
              </a:rPr>
              <a:t>1. Watch it, do not act on it</a:t>
            </a:r>
          </a:p>
        </p:txBody>
      </p:sp>
      <p:sp>
        <p:nvSpPr>
          <p:cNvPr id="7" name="TextBox 6"/>
          <p:cNvSpPr txBox="1"/>
          <p:nvPr/>
        </p:nvSpPr>
        <p:spPr>
          <a:xfrm>
            <a:off x="566928" y="2743200"/>
            <a:ext cx="3503066" cy="1737360"/>
          </a:xfrm>
          <a:prstGeom prst="rect">
            <a:avLst/>
          </a:prstGeom>
          <a:noFill/>
        </p:spPr>
        <p:txBody>
          <a:bodyPr wrap="square" lIns="0" rIns="0" tIns="0" bIns="0">
            <a:spAutoFit/>
          </a:bodyPr>
          <a:lstStyle/>
          <a:p>
            <a:pPr algn="l">
              <a:lnSpc>
                <a:spcPct val="125000"/>
              </a:lnSpc>
              <a:spcAft>
                <a:spcPts val="600"/>
              </a:spcAft>
            </a:pPr>
            <a:r>
              <a:rPr sz="1200" b="0">
                <a:solidFill>
                  <a:srgbClr val="595959"/>
                </a:solidFill>
                <a:latin typeface="Calibri"/>
              </a:rPr>
              <a:t>The tool produces its list. Nobody is contacted. At the end of term, compare who it flagged against who actually left. And against who the tutors would have worried about anyway.
If it does not beat the tutors, it does not deploy.</a:t>
            </a:r>
          </a:p>
        </p:txBody>
      </p:sp>
      <p:sp>
        <p:nvSpPr>
          <p:cNvPr id="8" name="Rectangle 7"/>
          <p:cNvSpPr/>
          <p:nvPr/>
        </p:nvSpPr>
        <p:spPr>
          <a:xfrm>
            <a:off x="4344314" y="1783080"/>
            <a:ext cx="3503066" cy="73152"/>
          </a:xfrm>
          <a:prstGeom prst="rect">
            <a:avLst/>
          </a:prstGeom>
          <a:solidFill>
            <a:srgbClr val="F68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344314" y="1984248"/>
            <a:ext cx="3503066" cy="228600"/>
          </a:xfrm>
          <a:prstGeom prst="rect">
            <a:avLst/>
          </a:prstGeom>
          <a:noFill/>
        </p:spPr>
        <p:txBody>
          <a:bodyPr wrap="square" lIns="0" rIns="0" tIns="0" bIns="0">
            <a:spAutoFit/>
          </a:bodyPr>
          <a:lstStyle/>
          <a:p>
            <a:pPr algn="l">
              <a:spcAft>
                <a:spcPts val="0"/>
              </a:spcAft>
            </a:pPr>
            <a:r>
              <a:rPr sz="1000" b="1">
                <a:solidFill>
                  <a:srgbClr val="595959"/>
                </a:solidFill>
                <a:latin typeface="Calibri"/>
              </a:rPr>
              <a:t>ONE YEAR</a:t>
            </a:r>
          </a:p>
        </p:txBody>
      </p:sp>
      <p:sp>
        <p:nvSpPr>
          <p:cNvPr id="10" name="TextBox 9"/>
          <p:cNvSpPr txBox="1"/>
          <p:nvPr/>
        </p:nvSpPr>
        <p:spPr>
          <a:xfrm>
            <a:off x="4344314" y="2258568"/>
            <a:ext cx="3503066" cy="365760"/>
          </a:xfrm>
          <a:prstGeom prst="rect">
            <a:avLst/>
          </a:prstGeom>
          <a:noFill/>
        </p:spPr>
        <p:txBody>
          <a:bodyPr wrap="square" lIns="0" rIns="0" tIns="0" bIns="0">
            <a:spAutoFit/>
          </a:bodyPr>
          <a:lstStyle/>
          <a:p>
            <a:pPr algn="l">
              <a:lnSpc>
                <a:spcPct val="115000"/>
              </a:lnSpc>
              <a:spcAft>
                <a:spcPts val="0"/>
              </a:spcAft>
            </a:pPr>
            <a:r>
              <a:rPr sz="1500" b="1">
                <a:solidFill>
                  <a:srgbClr val="1A1A1A"/>
                </a:solidFill>
                <a:latin typeface="Cambria"/>
              </a:rPr>
              <a:t>2. One department, real contact</a:t>
            </a:r>
          </a:p>
        </p:txBody>
      </p:sp>
      <p:sp>
        <p:nvSpPr>
          <p:cNvPr id="11" name="TextBox 10"/>
          <p:cNvSpPr txBox="1"/>
          <p:nvPr/>
        </p:nvSpPr>
        <p:spPr>
          <a:xfrm>
            <a:off x="4344314" y="2743200"/>
            <a:ext cx="3503066" cy="1737360"/>
          </a:xfrm>
          <a:prstGeom prst="rect">
            <a:avLst/>
          </a:prstGeom>
          <a:noFill/>
        </p:spPr>
        <p:txBody>
          <a:bodyPr wrap="square" lIns="0" rIns="0" tIns="0" bIns="0">
            <a:spAutoFit/>
          </a:bodyPr>
          <a:lstStyle/>
          <a:p>
            <a:pPr algn="l">
              <a:lnSpc>
                <a:spcPct val="125000"/>
              </a:lnSpc>
              <a:spcAft>
                <a:spcPts val="600"/>
              </a:spcAft>
            </a:pPr>
            <a:r>
              <a:rPr sz="1200" b="0">
                <a:solidFill>
                  <a:srgbClr val="595959"/>
                </a:solidFill>
                <a:latin typeface="Calibri"/>
              </a:rPr>
              <a:t>A single department runs it for real. The list goes to a tutor. The tutor decides who to call.
This measures the thing nobody has measured yet. Whether reaching out actually keeps anyone. Every number on slide 5 rests on an assumption of three in ten. This is where that gets checked.</a:t>
            </a:r>
          </a:p>
        </p:txBody>
      </p:sp>
      <p:sp>
        <p:nvSpPr>
          <p:cNvPr id="12" name="Rectangle 11"/>
          <p:cNvSpPr/>
          <p:nvPr/>
        </p:nvSpPr>
        <p:spPr>
          <a:xfrm>
            <a:off x="8121700" y="1783080"/>
            <a:ext cx="3503066" cy="73152"/>
          </a:xfrm>
          <a:prstGeom prst="rect">
            <a:avLst/>
          </a:prstGeom>
          <a:solidFill>
            <a:srgbClr val="F68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1700" y="1984248"/>
            <a:ext cx="3503066" cy="228600"/>
          </a:xfrm>
          <a:prstGeom prst="rect">
            <a:avLst/>
          </a:prstGeom>
          <a:noFill/>
        </p:spPr>
        <p:txBody>
          <a:bodyPr wrap="square" lIns="0" rIns="0" tIns="0" bIns="0">
            <a:spAutoFit/>
          </a:bodyPr>
          <a:lstStyle/>
          <a:p>
            <a:pPr algn="l">
              <a:spcAft>
                <a:spcPts val="0"/>
              </a:spcAft>
            </a:pPr>
            <a:r>
              <a:rPr sz="1000" b="1">
                <a:solidFill>
                  <a:srgbClr val="595959"/>
                </a:solidFill>
                <a:latin typeface="Calibri"/>
              </a:rPr>
              <a:t>ONGOING</a:t>
            </a:r>
          </a:p>
        </p:txBody>
      </p:sp>
      <p:sp>
        <p:nvSpPr>
          <p:cNvPr id="14" name="TextBox 13"/>
          <p:cNvSpPr txBox="1"/>
          <p:nvPr/>
        </p:nvSpPr>
        <p:spPr>
          <a:xfrm>
            <a:off x="8121700" y="2258568"/>
            <a:ext cx="3503066" cy="365760"/>
          </a:xfrm>
          <a:prstGeom prst="rect">
            <a:avLst/>
          </a:prstGeom>
          <a:noFill/>
        </p:spPr>
        <p:txBody>
          <a:bodyPr wrap="square" lIns="0" rIns="0" tIns="0" bIns="0">
            <a:spAutoFit/>
          </a:bodyPr>
          <a:lstStyle/>
          <a:p>
            <a:pPr algn="l">
              <a:lnSpc>
                <a:spcPct val="115000"/>
              </a:lnSpc>
              <a:spcAft>
                <a:spcPts val="0"/>
              </a:spcAft>
            </a:pPr>
            <a:r>
              <a:rPr sz="1500" b="1">
                <a:solidFill>
                  <a:srgbClr val="1A1A1A"/>
                </a:solidFill>
                <a:latin typeface="Cambria"/>
              </a:rPr>
              <a:t>3. Full rollout, with a standing check</a:t>
            </a:r>
          </a:p>
        </p:txBody>
      </p:sp>
      <p:sp>
        <p:nvSpPr>
          <p:cNvPr id="15" name="TextBox 14"/>
          <p:cNvSpPr txBox="1"/>
          <p:nvPr/>
        </p:nvSpPr>
        <p:spPr>
          <a:xfrm>
            <a:off x="8121700" y="2743200"/>
            <a:ext cx="3503066" cy="1737360"/>
          </a:xfrm>
          <a:prstGeom prst="rect">
            <a:avLst/>
          </a:prstGeom>
          <a:noFill/>
        </p:spPr>
        <p:txBody>
          <a:bodyPr wrap="square" lIns="0" rIns="0" tIns="0" bIns="0">
            <a:spAutoFit/>
          </a:bodyPr>
          <a:lstStyle/>
          <a:p>
            <a:pPr algn="l">
              <a:lnSpc>
                <a:spcPct val="125000"/>
              </a:lnSpc>
              <a:spcAft>
                <a:spcPts val="600"/>
              </a:spcAft>
            </a:pPr>
            <a:r>
              <a:rPr sz="1200" b="0">
                <a:solidFill>
                  <a:srgbClr val="595959"/>
                </a:solidFill>
                <a:latin typeface="Calibri"/>
              </a:rPr>
              <a:t>School-wide, with the gender gap re-measured at every intake and reported to whoever owns this decision.
The gap was measured on one group of 130 women who left. It is not the kind of thing that stays fixed on its own.</a:t>
            </a:r>
          </a:p>
        </p:txBody>
      </p:sp>
      <p:sp>
        <p:nvSpPr>
          <p:cNvPr id="16" name="TextBox 15"/>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The tool is cheap to run and expensive to trust. So buy the trust in stages.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548640"/>
          </a:xfrm>
          <a:prstGeom prst="rect">
            <a:avLst/>
          </a:prstGeom>
          <a:noFill/>
        </p:spPr>
        <p:txBody>
          <a:bodyPr wrap="square" lIns="0" rIns="0" tIns="0" bIns="0">
            <a:spAutoFit/>
          </a:bodyPr>
          <a:lstStyle/>
          <a:p>
            <a:pPr algn="l">
              <a:spcAft>
                <a:spcPts val="600"/>
              </a:spcAft>
            </a:pPr>
            <a:r>
              <a:rPr sz="2900" b="1">
                <a:solidFill>
                  <a:srgbClr val="1A1A1A"/>
                </a:solidFill>
                <a:latin typeface="Cambria"/>
              </a:rPr>
              <a:t>Three conditions, and the ask</a:t>
            </a:r>
          </a:p>
        </p:txBody>
      </p:sp>
      <p:sp>
        <p:nvSpPr>
          <p:cNvPr id="3" name="TextBox 2"/>
          <p:cNvSpPr txBox="1"/>
          <p:nvPr/>
        </p:nvSpPr>
        <p:spPr>
          <a:xfrm>
            <a:off x="566928" y="1645920"/>
            <a:ext cx="6766560" cy="4023360"/>
          </a:xfrm>
          <a:prstGeom prst="rect">
            <a:avLst/>
          </a:prstGeom>
          <a:noFill/>
        </p:spPr>
        <p:txBody>
          <a:bodyPr wrap="square" lIns="0" rIns="0" tIns="0" bIns="0">
            <a:spAutoFit/>
          </a:bodyPr>
          <a:lstStyle/>
          <a:p>
            <a:pPr algn="l">
              <a:lnSpc>
                <a:spcPct val="130000"/>
              </a:lnSpc>
              <a:spcAft>
                <a:spcPts val="1000"/>
              </a:spcAft>
            </a:pPr>
            <a:r>
              <a:rPr sz="1400" b="1">
                <a:solidFill>
                  <a:srgbClr val="1A1A1A"/>
                </a:solidFill>
                <a:latin typeface="Calibri"/>
              </a:rPr>
              <a:t>1.  A student never sees their score.</a:t>
            </a:r>
          </a:p>
          <a:p>
            <a:pPr algn="l">
              <a:lnSpc>
                <a:spcPct val="130000"/>
              </a:lnSpc>
              <a:spcAft>
                <a:spcPts val="1000"/>
              </a:spcAft>
            </a:pPr>
            <a:r>
              <a:rPr sz="1400" b="0">
                <a:solidFill>
                  <a:srgbClr val="595959"/>
                </a:solidFill>
                <a:latin typeface="Calibri"/>
              </a:rPr>
              <a:t>Not on a portal, not in a letter, not read out by a tutor. A person told they are seventy percent likely to fail has been handed a prediction, not help.</a:t>
            </a:r>
          </a:p>
          <a:p>
            <a:pPr algn="l">
              <a:lnSpc>
                <a:spcPct val="130000"/>
              </a:lnSpc>
              <a:spcAft>
                <a:spcPts val="1000"/>
              </a:spcAft>
            </a:pPr>
            <a:r>
              <a:rPr sz="1400" b="1">
                <a:solidFill>
                  <a:srgbClr val="1A1A1A"/>
                </a:solidFill>
                <a:latin typeface="Calibri"/>
              </a:rPr>
              <a:t>2.  Fix what the school can actually change.</a:t>
            </a:r>
          </a:p>
          <a:p>
            <a:pPr algn="l">
              <a:lnSpc>
                <a:spcPct val="130000"/>
              </a:lnSpc>
              <a:spcAft>
                <a:spcPts val="1000"/>
              </a:spcAft>
            </a:pPr>
            <a:r>
              <a:rPr sz="1400" b="0">
                <a:solidFill>
                  <a:srgbClr val="595959"/>
                </a:solidFill>
                <a:latin typeface="Calibri"/>
              </a:rPr>
              <a:t>The single strongest signals in the tool are which course a student is on and what a parent does, and neither is something a student can change. That is why the tool is a prompt, not a verdict. The strongest signal the school can actually change is whether the fees are paid. A payment plan is cheaper than a tutor and treats the cause, not the symptom.</a:t>
            </a:r>
          </a:p>
          <a:p>
            <a:pPr algn="l">
              <a:lnSpc>
                <a:spcPct val="130000"/>
              </a:lnSpc>
              <a:spcAft>
                <a:spcPts val="1000"/>
              </a:spcAft>
            </a:pPr>
            <a:r>
              <a:rPr sz="1400" b="1">
                <a:solidFill>
                  <a:srgbClr val="1A1A1A"/>
                </a:solidFill>
                <a:latin typeface="Calibri"/>
              </a:rPr>
              <a:t>3.  Re-measure the gap every intake.</a:t>
            </a:r>
          </a:p>
          <a:p>
            <a:pPr algn="l">
              <a:lnSpc>
                <a:spcPct val="130000"/>
              </a:lnSpc>
              <a:spcAft>
                <a:spcPts val="1000"/>
              </a:spcAft>
            </a:pPr>
            <a:r>
              <a:rPr sz="1400" b="0">
                <a:solidFill>
                  <a:srgbClr val="595959"/>
                </a:solidFill>
                <a:latin typeface="Calibri"/>
              </a:rPr>
              <a:t>The gender gap was measured once, on one group. Put it in the annual reporting line and give it an owner.</a:t>
            </a:r>
          </a:p>
        </p:txBody>
      </p:sp>
      <p:sp>
        <p:nvSpPr>
          <p:cNvPr id="4" name="TextBox 3"/>
          <p:cNvSpPr txBox="1"/>
          <p:nvPr/>
        </p:nvSpPr>
        <p:spPr>
          <a:xfrm>
            <a:off x="7680960" y="1737360"/>
            <a:ext cx="3931920" cy="365760"/>
          </a:xfrm>
          <a:prstGeom prst="rect">
            <a:avLst/>
          </a:prstGeom>
          <a:noFill/>
        </p:spPr>
        <p:txBody>
          <a:bodyPr wrap="square" lIns="0" rIns="0" tIns="0" bIns="0">
            <a:spAutoFit/>
          </a:bodyPr>
          <a:lstStyle/>
          <a:p>
            <a:pPr algn="l">
              <a:spcAft>
                <a:spcPts val="600"/>
              </a:spcAft>
            </a:pPr>
            <a:r>
              <a:rPr sz="1200" b="1">
                <a:solidFill>
                  <a:srgbClr val="1A1A1A"/>
                </a:solidFill>
                <a:latin typeface="Calibri"/>
              </a:rPr>
              <a:t>THE ASK</a:t>
            </a:r>
          </a:p>
        </p:txBody>
      </p:sp>
      <p:sp>
        <p:nvSpPr>
          <p:cNvPr id="5" name="TextBox 4"/>
          <p:cNvSpPr txBox="1"/>
          <p:nvPr/>
        </p:nvSpPr>
        <p:spPr>
          <a:xfrm>
            <a:off x="7680960" y="2148840"/>
            <a:ext cx="3931920" cy="3291840"/>
          </a:xfrm>
          <a:prstGeom prst="rect">
            <a:avLst/>
          </a:prstGeom>
          <a:noFill/>
        </p:spPr>
        <p:txBody>
          <a:bodyPr wrap="square" lIns="0" rIns="0" tIns="0" bIns="0">
            <a:spAutoFit/>
          </a:bodyPr>
          <a:lstStyle/>
          <a:p>
            <a:pPr algn="l">
              <a:lnSpc>
                <a:spcPct val="125000"/>
              </a:lnSpc>
              <a:spcAft>
                <a:spcPts val="800"/>
              </a:spcAft>
            </a:pPr>
            <a:r>
              <a:rPr sz="1300" b="1">
                <a:solidFill>
                  <a:srgbClr val="1A1A1A"/>
                </a:solidFill>
                <a:latin typeface="Calibri"/>
              </a:rPr>
              <a:t>Approve phase one.</a:t>
            </a:r>
          </a:p>
          <a:p>
            <a:pPr algn="l">
              <a:lnSpc>
                <a:spcPct val="125000"/>
              </a:lnSpc>
              <a:spcAft>
                <a:spcPts val="800"/>
              </a:spcAft>
            </a:pPr>
            <a:r>
              <a:rPr sz="1300" b="0">
                <a:solidFill>
                  <a:srgbClr val="595959"/>
                </a:solidFill>
                <a:latin typeface="Calibri"/>
              </a:rPr>
              <a:t>One term. The tool runs, nobody is contacted, and at the end we know whether it beats a tutor's judgement.</a:t>
            </a:r>
          </a:p>
          <a:p>
            <a:pPr algn="l">
              <a:lnSpc>
                <a:spcPct val="125000"/>
              </a:lnSpc>
              <a:spcAft>
                <a:spcPts val="800"/>
              </a:spcAft>
            </a:pPr>
            <a:r>
              <a:rPr sz="1300" b="0">
                <a:solidFill>
                  <a:srgbClr val="595959"/>
                </a:solidFill>
                <a:latin typeface="Calibri"/>
              </a:rPr>
              <a:t>It costs a term of nobody's time. And it buys the only thing worth buying at this stage. Evidence.</a:t>
            </a:r>
          </a:p>
          <a:p>
            <a:pPr algn="l">
              <a:lnSpc>
                <a:spcPct val="125000"/>
              </a:lnSpc>
              <a:spcAft>
                <a:spcPts val="800"/>
              </a:spcAft>
            </a:pPr>
            <a:r>
              <a:rPr sz="1300" b="1">
                <a:solidFill>
                  <a:srgbClr val="1A1A1A"/>
                </a:solidFill>
                <a:latin typeface="Calibri"/>
              </a:rPr>
              <a:t>And approve the shape of the thing.</a:t>
            </a:r>
          </a:p>
          <a:p>
            <a:pPr algn="l">
              <a:lnSpc>
                <a:spcPct val="125000"/>
              </a:lnSpc>
              <a:spcAft>
                <a:spcPts val="800"/>
              </a:spcAft>
            </a:pPr>
            <a:r>
              <a:rPr sz="1300" b="0">
                <a:solidFill>
                  <a:srgbClr val="595959"/>
                </a:solidFill>
                <a:latin typeface="Calibri"/>
              </a:rPr>
              <a:t>A ranked list for the tutoring team. Read by a person, acted on by a person. Not a label stuck on a student's record. That is a thing that follows them around.</a:t>
            </a:r>
          </a:p>
        </p:txBody>
      </p:sp>
      <p:sp>
        <p:nvSpPr>
          <p:cNvPr id="6" name="TextBox 5"/>
          <p:cNvSpPr txBox="1"/>
          <p:nvPr/>
        </p:nvSpPr>
        <p:spPr>
          <a:xfrm>
            <a:off x="566928" y="6236208"/>
            <a:ext cx="11057839" cy="411480"/>
          </a:xfrm>
          <a:prstGeom prst="rect">
            <a:avLst/>
          </a:prstGeom>
          <a:noFill/>
        </p:spPr>
        <p:txBody>
          <a:bodyPr wrap="square" lIns="0" rIns="0" tIns="0" bIns="0">
            <a:spAutoFit/>
          </a:bodyPr>
          <a:lstStyle/>
          <a:p>
            <a:pPr algn="l">
              <a:lnSpc>
                <a:spcPct val="115000"/>
              </a:lnSpc>
              <a:spcAft>
                <a:spcPts val="600"/>
              </a:spcAft>
            </a:pPr>
            <a:r>
              <a:rPr sz="1300" b="1">
                <a:solidFill>
                  <a:srgbClr val="1A1A1A"/>
                </a:solidFill>
                <a:latin typeface="Calibri"/>
              </a:rPr>
              <a:t>The tool works. It should not be trusted blindly, and it does not need to be. It only has to point a tutor at the right student, early enough to matter.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DocSecurity>0</DocSecurity>
  <PresentationFormat>Widescreen</PresentationFormat>
  <Slides>10</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 the students who will leave, while there is still time to help</dc:title>
  <dc:subject>PGD AI/ML capstone, Pillar 5. Business deck.</dc:subject>
  <dc:creator>jeryl.elixir.dev@outlook.com</dc:creator>
  <cp:keywords/>
  <dc:description/>
  <cp:lastModifiedBy>jeryl.elixir.dev@outlook.com</cp:lastModifiedBy>
  <cp:revision>1</cp:revision>
  <dcterms:created xsi:type="dcterms:W3CDTF">2026-07-15T14:18:24Z</dcterms:created>
  <dcterms:modified xsi:type="dcterms:W3CDTF">2026-07-15T14:18:24Z</dcterms:modified>
  <cp:category/>
  <cp:contentStatus/>
  <dc:identifier/>
  <dc:language>en-US</dc:language>
</cp:coreProperties>
</file>