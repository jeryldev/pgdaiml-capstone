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2103120"/>
            <a:ext cx="9601200" cy="1554480"/>
          </a:xfrm>
          <a:prstGeom prst="rect">
            <a:avLst/>
          </a:prstGeom>
          <a:noFill/>
        </p:spPr>
        <p:txBody>
          <a:bodyPr wrap="square" lIns="0" tIns="0" rIns="0" bIns="0">
            <a:spAutoFit/>
          </a:bodyPr>
          <a:lstStyle/>
          <a:p>
            <a:pPr algn="l">
              <a:lnSpc>
                <a:spcPct val="120000"/>
              </a:lnSpc>
              <a:spcAft>
                <a:spcPts val="600"/>
              </a:spcAft>
            </a:pPr>
            <a:r>
              <a:rPr sz="4200" b="1">
                <a:solidFill>
                  <a:srgbClr val="FFFFFF"/>
                </a:solidFill>
                <a:latin typeface="Cambria"/>
              </a:rPr>
              <a:t>Predicting Student Dropout,
with a Fairness Audit</a:t>
            </a:r>
          </a:p>
        </p:txBody>
      </p:sp>
      <p:sp>
        <p:nvSpPr>
          <p:cNvPr id="4" name="TextBox 3"/>
          <p:cNvSpPr txBox="1"/>
          <p:nvPr/>
        </p:nvSpPr>
        <p:spPr>
          <a:xfrm>
            <a:off x="566928" y="4023360"/>
            <a:ext cx="8686800" cy="457200"/>
          </a:xfrm>
          <a:prstGeom prst="rect">
            <a:avLst/>
          </a:prstGeom>
          <a:noFill/>
        </p:spPr>
        <p:txBody>
          <a:bodyPr wrap="square" lIns="0" tIns="0" rIns="0" bIns="0">
            <a:spAutoFit/>
          </a:bodyPr>
          <a:lstStyle/>
          <a:p>
            <a:pPr algn="l">
              <a:spcAft>
                <a:spcPts val="600"/>
              </a:spcAft>
            </a:pPr>
            <a:r>
              <a:rPr sz="1900" b="1">
                <a:solidFill>
                  <a:srgbClr val="FFCC2A"/>
                </a:solidFill>
                <a:latin typeface="Calibri"/>
              </a:rPr>
              <a:t>Four mistakes. </a:t>
            </a:r>
            <a:r>
              <a:rPr sz="1900" b="0">
                <a:solidFill>
                  <a:srgbClr val="CFCFCF"/>
                </a:solidFill>
                <a:latin typeface="Calibri"/>
              </a:rPr>
              <a:t>Each one changed an answer.</a:t>
            </a:r>
          </a:p>
        </p:txBody>
      </p:sp>
      <p:sp>
        <p:nvSpPr>
          <p:cNvPr id="5" name="TextBox 4"/>
          <p:cNvSpPr txBox="1"/>
          <p:nvPr/>
        </p:nvSpPr>
        <p:spPr>
          <a:xfrm>
            <a:off x="566928" y="5394960"/>
            <a:ext cx="10515600" cy="365760"/>
          </a:xfrm>
          <a:prstGeom prst="rect">
            <a:avLst/>
          </a:prstGeom>
          <a:noFill/>
        </p:spPr>
        <p:txBody>
          <a:bodyPr wrap="square" lIns="0" tIns="0" r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tIns="0" r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UCI, Predict Students' Dropout and Academic Success. 4,424 students, Instituto Politecnico de Portalegre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The frame</a:t>
            </a:r>
          </a:p>
        </p:txBody>
      </p:sp>
      <p:sp>
        <p:nvSpPr>
          <p:cNvPr id="3" name="TextBox 2"/>
          <p:cNvSpPr txBox="1"/>
          <p:nvPr/>
        </p:nvSpPr>
        <p:spPr>
          <a:xfrm>
            <a:off x="566928" y="1463040"/>
            <a:ext cx="3383280" cy="603504"/>
          </a:xfrm>
          <a:prstGeom prst="rect">
            <a:avLst/>
          </a:prstGeom>
          <a:noFill/>
        </p:spPr>
        <p:txBody>
          <a:bodyPr wrap="square" lIns="0" tIns="0" rIns="0" bIns="0">
            <a:spAutoFit/>
          </a:bodyPr>
          <a:lstStyle/>
          <a:p>
            <a:pPr algn="l">
              <a:spcAft>
                <a:spcPts val="0"/>
              </a:spcAft>
            </a:pPr>
            <a:r>
              <a:rPr sz="4400" b="1">
                <a:solidFill>
                  <a:srgbClr val="1A1A1A"/>
                </a:solidFill>
                <a:latin typeface="Cambria"/>
              </a:rPr>
              <a:t>3,630</a:t>
            </a:r>
          </a:p>
        </p:txBody>
      </p:sp>
      <p:sp>
        <p:nvSpPr>
          <p:cNvPr id="4" name="TextBox 3"/>
          <p:cNvSpPr txBox="1"/>
          <p:nvPr/>
        </p:nvSpPr>
        <p:spPr>
          <a:xfrm>
            <a:off x="566928" y="2033016"/>
            <a:ext cx="3383280" cy="457200"/>
          </a:xfrm>
          <a:prstGeom prst="rect">
            <a:avLst/>
          </a:prstGeom>
          <a:noFill/>
        </p:spPr>
        <p:txBody>
          <a:bodyPr wrap="square" lIns="0" tIns="0" rIns="0" bIns="0">
            <a:spAutoFit/>
          </a:bodyPr>
          <a:lstStyle/>
          <a:p>
            <a:pPr algn="l">
              <a:lnSpc>
                <a:spcPct val="115000"/>
              </a:lnSpc>
              <a:spcAft>
                <a:spcPts val="600"/>
              </a:spcAft>
            </a:pPr>
            <a:r>
              <a:rPr sz="1100" b="0">
                <a:solidFill>
                  <a:srgbClr val="767676"/>
                </a:solidFill>
                <a:latin typeface="Calibri"/>
              </a:rPr>
              <a:t>students, after 794 with no settled outcome removed</a:t>
            </a:r>
          </a:p>
        </p:txBody>
      </p:sp>
      <p:sp>
        <p:nvSpPr>
          <p:cNvPr id="5" name="TextBox 4"/>
          <p:cNvSpPr txBox="1"/>
          <p:nvPr/>
        </p:nvSpPr>
        <p:spPr>
          <a:xfrm>
            <a:off x="4361688" y="1463040"/>
            <a:ext cx="3383280" cy="603504"/>
          </a:xfrm>
          <a:prstGeom prst="rect">
            <a:avLst/>
          </a:prstGeom>
          <a:noFill/>
        </p:spPr>
        <p:txBody>
          <a:bodyPr wrap="square" lIns="0" tIns="0" rIns="0" bIns="0">
            <a:spAutoFit/>
          </a:bodyPr>
          <a:lstStyle/>
          <a:p>
            <a:pPr algn="l">
              <a:spcAft>
                <a:spcPts val="0"/>
              </a:spcAft>
            </a:pPr>
            <a:r>
              <a:rPr sz="4400" b="1">
                <a:solidFill>
                  <a:srgbClr val="1A1A1A"/>
                </a:solidFill>
                <a:latin typeface="Cambria"/>
              </a:rPr>
              <a:t>39.1%</a:t>
            </a:r>
          </a:p>
        </p:txBody>
      </p:sp>
      <p:sp>
        <p:nvSpPr>
          <p:cNvPr id="6" name="TextBox 5"/>
          <p:cNvSpPr txBox="1"/>
          <p:nvPr/>
        </p:nvSpPr>
        <p:spPr>
          <a:xfrm>
            <a:off x="4361688" y="2033016"/>
            <a:ext cx="3383280" cy="457200"/>
          </a:xfrm>
          <a:prstGeom prst="rect">
            <a:avLst/>
          </a:prstGeom>
          <a:noFill/>
        </p:spPr>
        <p:txBody>
          <a:bodyPr wrap="square" lIns="0" tIns="0" rIns="0" bIns="0">
            <a:spAutoFit/>
          </a:bodyPr>
          <a:lstStyle/>
          <a:p>
            <a:pPr algn="l">
              <a:lnSpc>
                <a:spcPct val="115000"/>
              </a:lnSpc>
              <a:spcAft>
                <a:spcPts val="600"/>
              </a:spcAft>
            </a:pPr>
            <a:r>
              <a:rPr sz="1100" b="0">
                <a:solidFill>
                  <a:srgbClr val="767676"/>
                </a:solidFill>
                <a:latin typeface="Calibri"/>
              </a:rPr>
              <a:t>drop out. Mildly uneven, handled with class weights</a:t>
            </a:r>
          </a:p>
        </p:txBody>
      </p:sp>
      <p:sp>
        <p:nvSpPr>
          <p:cNvPr id="7" name="TextBox 6"/>
          <p:cNvSpPr txBox="1"/>
          <p:nvPr/>
        </p:nvSpPr>
        <p:spPr>
          <a:xfrm>
            <a:off x="8156448" y="1463040"/>
            <a:ext cx="3383280" cy="603504"/>
          </a:xfrm>
          <a:prstGeom prst="rect">
            <a:avLst/>
          </a:prstGeom>
          <a:noFill/>
        </p:spPr>
        <p:txBody>
          <a:bodyPr wrap="square" lIns="0" tIns="0" rIns="0" bIns="0">
            <a:spAutoFit/>
          </a:bodyPr>
          <a:lstStyle/>
          <a:p>
            <a:pPr algn="l">
              <a:spcAft>
                <a:spcPts val="0"/>
              </a:spcAft>
            </a:pPr>
            <a:r>
              <a:rPr sz="4400" b="1">
                <a:solidFill>
                  <a:srgbClr val="1A1A1A"/>
                </a:solidFill>
                <a:latin typeface="Cambria"/>
              </a:rPr>
              <a:t>12</a:t>
            </a:r>
          </a:p>
        </p:txBody>
      </p:sp>
      <p:sp>
        <p:nvSpPr>
          <p:cNvPr id="8" name="TextBox 7"/>
          <p:cNvSpPr txBox="1"/>
          <p:nvPr/>
        </p:nvSpPr>
        <p:spPr>
          <a:xfrm>
            <a:off x="8156448" y="2033016"/>
            <a:ext cx="3383280" cy="457200"/>
          </a:xfrm>
          <a:prstGeom prst="rect">
            <a:avLst/>
          </a:prstGeom>
          <a:noFill/>
        </p:spPr>
        <p:txBody>
          <a:bodyPr wrap="square" lIns="0" tIns="0" rIns="0" bIns="0">
            <a:spAutoFit/>
          </a:bodyPr>
          <a:lstStyle/>
          <a:p>
            <a:pPr algn="l">
              <a:lnSpc>
                <a:spcPct val="115000"/>
              </a:lnSpc>
              <a:spcAft>
                <a:spcPts val="600"/>
              </a:spcAft>
            </a:pPr>
            <a:r>
              <a:rPr sz="1100" b="0">
                <a:solidFill>
                  <a:srgbClr val="767676"/>
                </a:solidFill>
                <a:latin typeface="Calibri"/>
              </a:rPr>
              <a:t>curricular columns dropped, they leak</a:t>
            </a:r>
          </a:p>
        </p:txBody>
      </p:sp>
      <p:sp>
        <p:nvSpPr>
          <p:cNvPr id="9" name="TextBox 8"/>
          <p:cNvSpPr txBox="1"/>
          <p:nvPr/>
        </p:nvSpPr>
        <p:spPr>
          <a:xfrm>
            <a:off x="566928" y="3200400"/>
            <a:ext cx="11057839" cy="2743200"/>
          </a:xfrm>
          <a:prstGeom prst="rect">
            <a:avLst/>
          </a:prstGeom>
          <a:noFill/>
        </p:spPr>
        <p:txBody>
          <a:bodyPr wrap="square" lIns="0" tIns="0" rIns="0" bIns="0">
            <a:spAutoFit/>
          </a:bodyPr>
          <a:lstStyle/>
          <a:p>
            <a:pPr algn="l">
              <a:lnSpc>
                <a:spcPct val="130000"/>
              </a:lnSpc>
              <a:spcAft>
                <a:spcPts val="900"/>
              </a:spcAft>
            </a:pPr>
            <a:r>
              <a:rPr sz="1400" b="0">
                <a:solidFill>
                  <a:srgbClr val="595959"/>
                </a:solidFill>
                <a:latin typeface="Calibri"/>
              </a:rPr>
              <a:t>The task is a yes-or-no call between Dropout and Graduate, and the Enrolled rows have no settled outcome, so they cannot teach the model.</a:t>
            </a:r>
          </a:p>
          <a:p>
            <a:pPr algn="l">
              <a:lnSpc>
                <a:spcPct val="130000"/>
              </a:lnSpc>
              <a:spcAft>
                <a:spcPts val="900"/>
              </a:spcAft>
            </a:pPr>
            <a:r>
              <a:rPr sz="1400" b="0">
                <a:solidFill>
                  <a:srgbClr val="595959"/>
                </a:solidFill>
                <a:latin typeface="Calibri"/>
              </a:rPr>
              <a:t>The twelve curricular columns predict dropout almost perfectly, because a failing student is already leaving. So the model sees only what is known at enrollment.</a:t>
            </a:r>
          </a:p>
          <a:p>
            <a:pPr algn="l">
              <a:lnSpc>
                <a:spcPct val="130000"/>
              </a:lnSpc>
              <a:spcAft>
                <a:spcPts val="900"/>
              </a:spcAft>
            </a:pPr>
            <a:endParaRPr sz="1400" b="0">
              <a:solidFill>
                <a:srgbClr val="595959"/>
              </a:solidFill>
              <a:latin typeface="Calibri"/>
            </a:endParaRPr>
          </a:p>
          <a:p>
            <a:pPr algn="l">
              <a:lnSpc>
                <a:spcPct val="130000"/>
              </a:lnSpc>
              <a:spcAft>
                <a:spcPts val="900"/>
              </a:spcAft>
            </a:pPr>
            <a:r>
              <a:rPr sz="1400" b="1">
                <a:solidFill>
                  <a:srgbClr val="1A1A1A"/>
                </a:solidFill>
                <a:latin typeface="Calibri"/>
              </a:rPr>
              <a:t>PR AUC and ROC AUC choose the model</a:t>
            </a:r>
            <a:r>
              <a:rPr sz="1400" b="0">
                <a:solidFill>
                  <a:srgbClr val="595959"/>
                </a:solidFill>
                <a:latin typeface="Calibri"/>
              </a:rPr>
              <a:t>, two scores that hold at every cutoff.</a:t>
            </a:r>
          </a:p>
          <a:p>
            <a:pPr algn="l">
              <a:lnSpc>
                <a:spcPct val="130000"/>
              </a:lnSpc>
              <a:spcAft>
                <a:spcPts val="900"/>
              </a:spcAft>
            </a:pPr>
            <a:r>
              <a:rPr sz="1400" b="1">
                <a:solidFill>
                  <a:srgbClr val="1A1A1A"/>
                </a:solidFill>
                <a:latin typeface="Calibri"/>
              </a:rPr>
              <a:t>Recall judges the deployed system</a:t>
            </a:r>
            <a:r>
              <a:rPr sz="1400" b="0">
                <a:solidFill>
                  <a:srgbClr val="595959"/>
                </a:solidFill>
                <a:latin typeface="Calibri"/>
              </a:rPr>
              <a:t>, once a cutoff exists. Recall is the share of real dropouts caught, set by the model and the cutoff together.</a:t>
            </a:r>
          </a:p>
          <a:p>
            <a:pPr algn="l">
              <a:lnSpc>
                <a:spcPct val="130000"/>
              </a:lnSpc>
              <a:spcAft>
                <a:spcPts val="900"/>
              </a:spcAft>
            </a:pPr>
            <a:r>
              <a:rPr sz="1400" b="1">
                <a:solidFill>
                  <a:srgbClr val="1A1A1A"/>
                </a:solidFill>
                <a:latin typeface="Calibri"/>
              </a:rPr>
              <a:t>Accuracy is reported and not trusted</a:t>
            </a:r>
            <a:r>
              <a:rPr sz="1400" b="0">
                <a:solidFill>
                  <a:srgbClr val="595959"/>
                </a:solidFill>
                <a:latin typeface="Calibri"/>
              </a:rPr>
              <a:t>. Call everyone a graduate and you are right 61 percent of the time and catch nobody.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The gaps were there before the model</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Dropout rate by group, against an overall 39.1 percent. Notebook 02.</a:t>
            </a:r>
          </a:p>
        </p:txBody>
      </p:sp>
      <p:graphicFrame>
        <p:nvGraphicFramePr>
          <p:cNvPr id="4" name="Table 3"/>
          <p:cNvGraphicFramePr>
            <a:graphicFrameLocks noGrp="1"/>
          </p:cNvGraphicFramePr>
          <p:nvPr/>
        </p:nvGraphicFramePr>
        <p:xfrm>
          <a:off x="566928" y="1600200"/>
          <a:ext cx="5852159" cy="3456432"/>
        </p:xfrm>
        <a:graphic>
          <a:graphicData uri="http://schemas.openxmlformats.org/drawingml/2006/table">
            <a:tbl>
              <a:tblPr>
                <a:tableStyleId>{5C22544A-7EE6-4342-B048-85BDC9FD1C3A}</a:tableStyleId>
              </a:tblPr>
              <a:tblGrid>
                <a:gridCol w="3251200">
                  <a:extLst>
                    <a:ext uri="{9D8B030D-6E8A-4147-A177-3AD203B41FA5}">
                      <a16:colId xmlns:a16="http://schemas.microsoft.com/office/drawing/2014/main" val="20000"/>
                    </a:ext>
                  </a:extLst>
                </a:gridCol>
                <a:gridCol w="1517226">
                  <a:extLst>
                    <a:ext uri="{9D8B030D-6E8A-4147-A177-3AD203B41FA5}">
                      <a16:colId xmlns:a16="http://schemas.microsoft.com/office/drawing/2014/main" val="20001"/>
                    </a:ext>
                  </a:extLst>
                </a:gridCol>
                <a:gridCol w="1083733">
                  <a:extLst>
                    <a:ext uri="{9D8B030D-6E8A-4147-A177-3AD203B41FA5}">
                      <a16:colId xmlns:a16="http://schemas.microsoft.com/office/drawing/2014/main" val="20002"/>
                    </a:ext>
                  </a:extLst>
                </a:gridCol>
              </a:tblGrid>
              <a:tr h="384048">
                <a:tc>
                  <a:txBody>
                    <a:bodyPr/>
                    <a:lstStyle/>
                    <a:p>
                      <a:pPr algn="l"/>
                      <a:r>
                        <a:rPr sz="1000" b="1">
                          <a:solidFill>
                            <a:srgbClr val="FFFFFF"/>
                          </a:solidFill>
                          <a:latin typeface="Calibri"/>
                        </a:rPr>
                        <a:t>Group</a:t>
                      </a:r>
                    </a:p>
                  </a:txBody>
                  <a:tcPr marL="64008" marR="64008" marT="9144" marB="9144" anchor="ctr">
                    <a:solidFill>
                      <a:srgbClr val="1A1A1A"/>
                    </a:solidFill>
                  </a:tcPr>
                </a:tc>
                <a:tc>
                  <a:txBody>
                    <a:bodyPr/>
                    <a:lstStyle/>
                    <a:p>
                      <a:pPr algn="r"/>
                      <a:r>
                        <a:rPr sz="1000" b="1">
                          <a:solidFill>
                            <a:srgbClr val="FFFFFF"/>
                          </a:solidFill>
                          <a:latin typeface="Calibri"/>
                        </a:rPr>
                        <a:t>Dropout rate</a:t>
                      </a:r>
                    </a:p>
                  </a:txBody>
                  <a:tcPr marL="64008" marR="64008" marT="9144" marB="9144" anchor="ctr">
                    <a:solidFill>
                      <a:srgbClr val="1A1A1A"/>
                    </a:solidFill>
                  </a:tcPr>
                </a:tc>
                <a:tc>
                  <a:txBody>
                    <a:bodyPr/>
                    <a:lstStyle/>
                    <a:p>
                      <a:pPr algn="r"/>
                      <a:r>
                        <a:rPr sz="1000" b="1">
                          <a:solidFill>
                            <a:srgbClr val="FFFFFF"/>
                          </a:solidFill>
                          <a:latin typeface="Calibri"/>
                        </a:rPr>
                        <a:t>n</a:t>
                      </a:r>
                    </a:p>
                  </a:txBody>
                  <a:tcPr marL="64008" marR="64008" marT="9144" marB="9144" anchor="ctr">
                    <a:solidFill>
                      <a:srgbClr val="1A1A1A"/>
                    </a:solidFill>
                  </a:tcPr>
                </a:tc>
                <a:extLst>
                  <a:ext uri="{0D108BD9-81ED-4DB2-BD59-A6C34878D82A}">
                    <a16:rowId xmlns:a16="http://schemas.microsoft.com/office/drawing/2014/main" val="10000"/>
                  </a:ext>
                </a:extLst>
              </a:tr>
              <a:tr h="384048">
                <a:tc>
                  <a:txBody>
                    <a:bodyPr/>
                    <a:lstStyle/>
                    <a:p>
                      <a:pPr algn="l"/>
                      <a:r>
                        <a:rPr sz="1100" b="0">
                          <a:solidFill>
                            <a:srgbClr val="1A1A1A"/>
                          </a:solidFill>
                          <a:latin typeface="Calibri"/>
                        </a:rPr>
                        <a:t>Men</a:t>
                      </a:r>
                    </a:p>
                  </a:txBody>
                  <a:tcPr marL="64008" marR="64008" marT="9144" marB="9144" anchor="ctr">
                    <a:solidFill>
                      <a:srgbClr val="FFFFFF"/>
                    </a:solidFill>
                  </a:tcPr>
                </a:tc>
                <a:tc>
                  <a:txBody>
                    <a:bodyPr/>
                    <a:lstStyle/>
                    <a:p>
                      <a:pPr algn="r"/>
                      <a:r>
                        <a:rPr sz="1100" b="0">
                          <a:solidFill>
                            <a:srgbClr val="595959"/>
                          </a:solidFill>
                          <a:latin typeface="Calibri"/>
                        </a:rPr>
                        <a:t>56.1%</a:t>
                      </a:r>
                    </a:p>
                  </a:txBody>
                  <a:tcPr marL="64008" marR="64008" marT="9144" marB="9144" anchor="ctr">
                    <a:solidFill>
                      <a:srgbClr val="FFFFFF"/>
                    </a:solidFill>
                  </a:tcPr>
                </a:tc>
                <a:tc>
                  <a:txBody>
                    <a:bodyPr/>
                    <a:lstStyle/>
                    <a:p>
                      <a:pPr algn="r"/>
                      <a:r>
                        <a:rPr sz="1100" b="0">
                          <a:solidFill>
                            <a:srgbClr val="595959"/>
                          </a:solidFill>
                          <a:latin typeface="Calibri"/>
                        </a:rPr>
                        <a:t>1,249</a:t>
                      </a:r>
                    </a:p>
                  </a:txBody>
                  <a:tcPr marL="64008" marR="64008" marT="9144" marB="9144" anchor="ctr">
                    <a:solidFill>
                      <a:srgbClr val="FFFFFF"/>
                    </a:solidFill>
                  </a:tcPr>
                </a:tc>
                <a:extLst>
                  <a:ext uri="{0D108BD9-81ED-4DB2-BD59-A6C34878D82A}">
                    <a16:rowId xmlns:a16="http://schemas.microsoft.com/office/drawing/2014/main" val="10001"/>
                  </a:ext>
                </a:extLst>
              </a:tr>
              <a:tr h="384048">
                <a:tc>
                  <a:txBody>
                    <a:bodyPr/>
                    <a:lstStyle/>
                    <a:p>
                      <a:pPr algn="l"/>
                      <a:r>
                        <a:rPr sz="1100" b="0">
                          <a:solidFill>
                            <a:srgbClr val="1A1A1A"/>
                          </a:solidFill>
                          <a:latin typeface="Calibri"/>
                        </a:rPr>
                        <a:t>Women</a:t>
                      </a:r>
                    </a:p>
                  </a:txBody>
                  <a:tcPr marL="64008" marR="64008" marT="9144" marB="9144" anchor="ctr">
                    <a:solidFill>
                      <a:srgbClr val="F2F2F2"/>
                    </a:solidFill>
                  </a:tcPr>
                </a:tc>
                <a:tc>
                  <a:txBody>
                    <a:bodyPr/>
                    <a:lstStyle/>
                    <a:p>
                      <a:pPr algn="r"/>
                      <a:r>
                        <a:rPr sz="1100" b="0">
                          <a:solidFill>
                            <a:srgbClr val="595959"/>
                          </a:solidFill>
                          <a:latin typeface="Calibri"/>
                        </a:rPr>
                        <a:t>30.2%</a:t>
                      </a:r>
                    </a:p>
                  </a:txBody>
                  <a:tcPr marL="64008" marR="64008" marT="9144" marB="9144" anchor="ctr">
                    <a:solidFill>
                      <a:srgbClr val="F2F2F2"/>
                    </a:solidFill>
                  </a:tcPr>
                </a:tc>
                <a:tc>
                  <a:txBody>
                    <a:bodyPr/>
                    <a:lstStyle/>
                    <a:p>
                      <a:pPr algn="r"/>
                      <a:r>
                        <a:rPr sz="1100" b="0">
                          <a:solidFill>
                            <a:srgbClr val="595959"/>
                          </a:solidFill>
                          <a:latin typeface="Calibri"/>
                        </a:rPr>
                        <a:t>2,381</a:t>
                      </a:r>
                    </a:p>
                  </a:txBody>
                  <a:tcPr marL="64008" marR="64008" marT="9144" marB="9144" anchor="ctr">
                    <a:solidFill>
                      <a:srgbClr val="F2F2F2"/>
                    </a:solidFill>
                  </a:tcPr>
                </a:tc>
                <a:extLst>
                  <a:ext uri="{0D108BD9-81ED-4DB2-BD59-A6C34878D82A}">
                    <a16:rowId xmlns:a16="http://schemas.microsoft.com/office/drawing/2014/main" val="10002"/>
                  </a:ext>
                </a:extLst>
              </a:tr>
              <a:tr h="384048">
                <a:tc>
                  <a:txBody>
                    <a:bodyPr/>
                    <a:lstStyle/>
                    <a:p>
                      <a:pPr algn="l"/>
                      <a:r>
                        <a:rPr sz="1100" b="0">
                          <a:solidFill>
                            <a:srgbClr val="1A1A1A"/>
                          </a:solidFill>
                          <a:latin typeface="Calibri"/>
                        </a:rPr>
                        <a:t>No scholarship</a:t>
                      </a:r>
                    </a:p>
                  </a:txBody>
                  <a:tcPr marL="64008" marR="64008" marT="9144" marB="9144" anchor="ctr">
                    <a:solidFill>
                      <a:srgbClr val="FFFFFF"/>
                    </a:solidFill>
                  </a:tcPr>
                </a:tc>
                <a:tc>
                  <a:txBody>
                    <a:bodyPr/>
                    <a:lstStyle/>
                    <a:p>
                      <a:pPr algn="r"/>
                      <a:r>
                        <a:rPr sz="1100" b="0">
                          <a:solidFill>
                            <a:srgbClr val="595959"/>
                          </a:solidFill>
                          <a:latin typeface="Calibri"/>
                        </a:rPr>
                        <a:t>48.4%</a:t>
                      </a:r>
                    </a:p>
                  </a:txBody>
                  <a:tcPr marL="64008" marR="64008" marT="9144" marB="9144" anchor="ctr">
                    <a:solidFill>
                      <a:srgbClr val="FFFFFF"/>
                    </a:solidFill>
                  </a:tcPr>
                </a:tc>
                <a:tc>
                  <a:txBody>
                    <a:bodyPr/>
                    <a:lstStyle/>
                    <a:p>
                      <a:pPr algn="r"/>
                      <a:r>
                        <a:rPr sz="1100" b="0">
                          <a:solidFill>
                            <a:srgbClr val="595959"/>
                          </a:solidFill>
                          <a:latin typeface="Calibri"/>
                        </a:rPr>
                        <a:t>2,661</a:t>
                      </a:r>
                    </a:p>
                  </a:txBody>
                  <a:tcPr marL="64008" marR="64008" marT="9144" marB="9144" anchor="ctr">
                    <a:solidFill>
                      <a:srgbClr val="FFFFFF"/>
                    </a:solidFill>
                  </a:tcPr>
                </a:tc>
                <a:extLst>
                  <a:ext uri="{0D108BD9-81ED-4DB2-BD59-A6C34878D82A}">
                    <a16:rowId xmlns:a16="http://schemas.microsoft.com/office/drawing/2014/main" val="10003"/>
                  </a:ext>
                </a:extLst>
              </a:tr>
              <a:tr h="384048">
                <a:tc>
                  <a:txBody>
                    <a:bodyPr/>
                    <a:lstStyle/>
                    <a:p>
                      <a:pPr algn="l"/>
                      <a:r>
                        <a:rPr sz="1100" b="0">
                          <a:solidFill>
                            <a:srgbClr val="1A1A1A"/>
                          </a:solidFill>
                          <a:latin typeface="Calibri"/>
                        </a:rPr>
                        <a:t>Scholarship holder</a:t>
                      </a:r>
                    </a:p>
                  </a:txBody>
                  <a:tcPr marL="64008" marR="64008" marT="9144" marB="9144" anchor="ctr">
                    <a:solidFill>
                      <a:srgbClr val="F2F2F2"/>
                    </a:solidFill>
                  </a:tcPr>
                </a:tc>
                <a:tc>
                  <a:txBody>
                    <a:bodyPr/>
                    <a:lstStyle/>
                    <a:p>
                      <a:pPr algn="r"/>
                      <a:r>
                        <a:rPr sz="1100" b="0">
                          <a:solidFill>
                            <a:srgbClr val="595959"/>
                          </a:solidFill>
                          <a:latin typeface="Calibri"/>
                        </a:rPr>
                        <a:t>13.8%</a:t>
                      </a:r>
                    </a:p>
                  </a:txBody>
                  <a:tcPr marL="64008" marR="64008" marT="9144" marB="9144" anchor="ctr">
                    <a:solidFill>
                      <a:srgbClr val="F2F2F2"/>
                    </a:solidFill>
                  </a:tcPr>
                </a:tc>
                <a:tc>
                  <a:txBody>
                    <a:bodyPr/>
                    <a:lstStyle/>
                    <a:p>
                      <a:pPr algn="r"/>
                      <a:r>
                        <a:rPr sz="1100" b="0">
                          <a:solidFill>
                            <a:srgbClr val="595959"/>
                          </a:solidFill>
                          <a:latin typeface="Calibri"/>
                        </a:rPr>
                        <a:t>969</a:t>
                      </a:r>
                    </a:p>
                  </a:txBody>
                  <a:tcPr marL="64008" marR="64008" marT="9144" marB="9144" anchor="ctr">
                    <a:solidFill>
                      <a:srgbClr val="F2F2F2"/>
                    </a:solidFill>
                  </a:tcPr>
                </a:tc>
                <a:extLst>
                  <a:ext uri="{0D108BD9-81ED-4DB2-BD59-A6C34878D82A}">
                    <a16:rowId xmlns:a16="http://schemas.microsoft.com/office/drawing/2014/main" val="10004"/>
                  </a:ext>
                </a:extLst>
              </a:tr>
              <a:tr h="384048">
                <a:tc>
                  <a:txBody>
                    <a:bodyPr/>
                    <a:lstStyle/>
                    <a:p>
                      <a:pPr algn="l"/>
                      <a:r>
                        <a:rPr sz="1100" b="0">
                          <a:solidFill>
                            <a:srgbClr val="1A1A1A"/>
                          </a:solidFill>
                          <a:latin typeface="Calibri"/>
                        </a:rPr>
                        <a:t>Debtor</a:t>
                      </a:r>
                    </a:p>
                  </a:txBody>
                  <a:tcPr marL="64008" marR="64008" marT="9144" marB="9144" anchor="ctr">
                    <a:solidFill>
                      <a:srgbClr val="FFFFFF"/>
                    </a:solidFill>
                  </a:tcPr>
                </a:tc>
                <a:tc>
                  <a:txBody>
                    <a:bodyPr/>
                    <a:lstStyle/>
                    <a:p>
                      <a:pPr algn="r"/>
                      <a:r>
                        <a:rPr sz="1100" b="0">
                          <a:solidFill>
                            <a:srgbClr val="595959"/>
                          </a:solidFill>
                          <a:latin typeface="Calibri"/>
                        </a:rPr>
                        <a:t>75.5%</a:t>
                      </a:r>
                    </a:p>
                  </a:txBody>
                  <a:tcPr marL="64008" marR="64008" marT="9144" marB="9144" anchor="ctr">
                    <a:solidFill>
                      <a:srgbClr val="FFFFFF"/>
                    </a:solidFill>
                  </a:tcPr>
                </a:tc>
                <a:tc>
                  <a:txBody>
                    <a:bodyPr/>
                    <a:lstStyle/>
                    <a:p>
                      <a:pPr algn="r"/>
                      <a:r>
                        <a:rPr sz="1100" b="0">
                          <a:solidFill>
                            <a:srgbClr val="595959"/>
                          </a:solidFill>
                          <a:latin typeface="Calibri"/>
                        </a:rPr>
                        <a:t>413</a:t>
                      </a:r>
                    </a:p>
                  </a:txBody>
                  <a:tcPr marL="64008" marR="64008" marT="9144" marB="9144" anchor="ctr">
                    <a:solidFill>
                      <a:srgbClr val="FFFFFF"/>
                    </a:solidFill>
                  </a:tcPr>
                </a:tc>
                <a:extLst>
                  <a:ext uri="{0D108BD9-81ED-4DB2-BD59-A6C34878D82A}">
                    <a16:rowId xmlns:a16="http://schemas.microsoft.com/office/drawing/2014/main" val="10005"/>
                  </a:ext>
                </a:extLst>
              </a:tr>
              <a:tr h="384048">
                <a:tc>
                  <a:txBody>
                    <a:bodyPr/>
                    <a:lstStyle/>
                    <a:p>
                      <a:pPr algn="l"/>
                      <a:r>
                        <a:rPr sz="1100" b="0">
                          <a:solidFill>
                            <a:srgbClr val="1A1A1A"/>
                          </a:solidFill>
                          <a:latin typeface="Calibri"/>
                        </a:rPr>
                        <a:t>Not a debtor</a:t>
                      </a:r>
                    </a:p>
                  </a:txBody>
                  <a:tcPr marL="64008" marR="64008" marT="9144" marB="9144" anchor="ctr">
                    <a:solidFill>
                      <a:srgbClr val="F2F2F2"/>
                    </a:solidFill>
                  </a:tcPr>
                </a:tc>
                <a:tc>
                  <a:txBody>
                    <a:bodyPr/>
                    <a:lstStyle/>
                    <a:p>
                      <a:pPr algn="r"/>
                      <a:r>
                        <a:rPr sz="1100" b="0">
                          <a:solidFill>
                            <a:srgbClr val="595959"/>
                          </a:solidFill>
                          <a:latin typeface="Calibri"/>
                        </a:rPr>
                        <a:t>34.5%</a:t>
                      </a:r>
                    </a:p>
                  </a:txBody>
                  <a:tcPr marL="64008" marR="64008" marT="9144" marB="9144" anchor="ctr">
                    <a:solidFill>
                      <a:srgbClr val="F2F2F2"/>
                    </a:solidFill>
                  </a:tcPr>
                </a:tc>
                <a:tc>
                  <a:txBody>
                    <a:bodyPr/>
                    <a:lstStyle/>
                    <a:p>
                      <a:pPr algn="r"/>
                      <a:r>
                        <a:rPr sz="1100" b="0">
                          <a:solidFill>
                            <a:srgbClr val="595959"/>
                          </a:solidFill>
                          <a:latin typeface="Calibri"/>
                        </a:rPr>
                        <a:t>3,217</a:t>
                      </a:r>
                    </a:p>
                  </a:txBody>
                  <a:tcPr marL="64008" marR="64008" marT="9144" marB="9144" anchor="ctr">
                    <a:solidFill>
                      <a:srgbClr val="F2F2F2"/>
                    </a:solidFill>
                  </a:tcPr>
                </a:tc>
                <a:extLst>
                  <a:ext uri="{0D108BD9-81ED-4DB2-BD59-A6C34878D82A}">
                    <a16:rowId xmlns:a16="http://schemas.microsoft.com/office/drawing/2014/main" val="10006"/>
                  </a:ext>
                </a:extLst>
              </a:tr>
              <a:tr h="384048">
                <a:tc>
                  <a:txBody>
                    <a:bodyPr/>
                    <a:lstStyle/>
                    <a:p>
                      <a:pPr algn="l"/>
                      <a:r>
                        <a:rPr sz="1100" b="0">
                          <a:solidFill>
                            <a:srgbClr val="1A1A1A"/>
                          </a:solidFill>
                          <a:latin typeface="Calibri"/>
                        </a:rPr>
                        <a:t>Age 24 to 30</a:t>
                      </a:r>
                    </a:p>
                  </a:txBody>
                  <a:tcPr marL="64008" marR="64008" marT="9144" marB="9144" anchor="ctr">
                    <a:solidFill>
                      <a:srgbClr val="FFFFFF"/>
                    </a:solidFill>
                  </a:tcPr>
                </a:tc>
                <a:tc>
                  <a:txBody>
                    <a:bodyPr/>
                    <a:lstStyle/>
                    <a:p>
                      <a:pPr algn="r"/>
                      <a:r>
                        <a:rPr sz="1100" b="0">
                          <a:solidFill>
                            <a:srgbClr val="595959"/>
                          </a:solidFill>
                          <a:latin typeface="Calibri"/>
                        </a:rPr>
                        <a:t>66.5%</a:t>
                      </a:r>
                    </a:p>
                  </a:txBody>
                  <a:tcPr marL="64008" marR="64008" marT="9144" marB="9144" anchor="ctr">
                    <a:solidFill>
                      <a:srgbClr val="FFFFFF"/>
                    </a:solidFill>
                  </a:tcPr>
                </a:tc>
                <a:tc>
                  <a:txBody>
                    <a:bodyPr/>
                    <a:lstStyle/>
                    <a:p>
                      <a:pPr algn="r"/>
                      <a:r>
                        <a:rPr sz="1100" b="0">
                          <a:solidFill>
                            <a:srgbClr val="595959"/>
                          </a:solidFill>
                          <a:latin typeface="Calibri"/>
                        </a:rPr>
                        <a:t>499</a:t>
                      </a:r>
                    </a:p>
                  </a:txBody>
                  <a:tcPr marL="64008" marR="64008" marT="9144" marB="9144" anchor="ctr">
                    <a:solidFill>
                      <a:srgbClr val="FFFFFF"/>
                    </a:solidFill>
                  </a:tcPr>
                </a:tc>
                <a:extLst>
                  <a:ext uri="{0D108BD9-81ED-4DB2-BD59-A6C34878D82A}">
                    <a16:rowId xmlns:a16="http://schemas.microsoft.com/office/drawing/2014/main" val="10007"/>
                  </a:ext>
                </a:extLst>
              </a:tr>
              <a:tr h="384048">
                <a:tc>
                  <a:txBody>
                    <a:bodyPr/>
                    <a:lstStyle/>
                    <a:p>
                      <a:pPr algn="l"/>
                      <a:r>
                        <a:rPr sz="1100" b="0">
                          <a:solidFill>
                            <a:srgbClr val="1A1A1A"/>
                          </a:solidFill>
                          <a:latin typeface="Calibri"/>
                        </a:rPr>
                        <a:t>Age 17 to 20</a:t>
                      </a:r>
                    </a:p>
                  </a:txBody>
                  <a:tcPr marL="64008" marR="64008" marT="9144" marB="9144" anchor="ctr">
                    <a:solidFill>
                      <a:srgbClr val="F2F2F2"/>
                    </a:solidFill>
                  </a:tcPr>
                </a:tc>
                <a:tc>
                  <a:txBody>
                    <a:bodyPr/>
                    <a:lstStyle/>
                    <a:p>
                      <a:pPr algn="r"/>
                      <a:r>
                        <a:rPr sz="1100" b="0">
                          <a:solidFill>
                            <a:srgbClr val="595959"/>
                          </a:solidFill>
                          <a:latin typeface="Calibri"/>
                        </a:rPr>
                        <a:t>26.1%</a:t>
                      </a:r>
                    </a:p>
                  </a:txBody>
                  <a:tcPr marL="64008" marR="64008" marT="9144" marB="9144" anchor="ctr">
                    <a:solidFill>
                      <a:srgbClr val="F2F2F2"/>
                    </a:solidFill>
                  </a:tcPr>
                </a:tc>
                <a:tc>
                  <a:txBody>
                    <a:bodyPr/>
                    <a:lstStyle/>
                    <a:p>
                      <a:pPr algn="r"/>
                      <a:r>
                        <a:rPr sz="1100" b="0">
                          <a:solidFill>
                            <a:srgbClr val="595959"/>
                          </a:solidFill>
                          <a:latin typeface="Calibri"/>
                        </a:rPr>
                        <a:t>2,080</a:t>
                      </a:r>
                    </a:p>
                  </a:txBody>
                  <a:tcPr marL="64008" marR="64008" marT="9144" marB="9144" anchor="ctr">
                    <a:solidFill>
                      <a:srgbClr val="F2F2F2"/>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7040880" y="1691640"/>
            <a:ext cx="4572000" cy="603504"/>
          </a:xfrm>
          <a:prstGeom prst="rect">
            <a:avLst/>
          </a:prstGeom>
          <a:noFill/>
        </p:spPr>
        <p:txBody>
          <a:bodyPr wrap="square" lIns="0" tIns="0" rIns="0" bIns="0">
            <a:spAutoFit/>
          </a:bodyPr>
          <a:lstStyle/>
          <a:p>
            <a:pPr algn="l">
              <a:spcAft>
                <a:spcPts val="0"/>
              </a:spcAft>
            </a:pPr>
            <a:r>
              <a:rPr sz="5200" b="1">
                <a:solidFill>
                  <a:srgbClr val="1A1A1A"/>
                </a:solidFill>
                <a:latin typeface="Cambria"/>
              </a:rPr>
              <a:t>94.0%</a:t>
            </a:r>
          </a:p>
        </p:txBody>
      </p:sp>
      <p:sp>
        <p:nvSpPr>
          <p:cNvPr id="6" name="TextBox 5"/>
          <p:cNvSpPr txBox="1"/>
          <p:nvPr/>
        </p:nvSpPr>
        <p:spPr>
          <a:xfrm>
            <a:off x="7040880" y="2487168"/>
            <a:ext cx="4572000" cy="2011680"/>
          </a:xfrm>
          <a:prstGeom prst="rect">
            <a:avLst/>
          </a:prstGeom>
          <a:noFill/>
        </p:spPr>
        <p:txBody>
          <a:bodyPr wrap="square" lIns="0" tIns="0" rIns="0" bIns="0">
            <a:spAutoFit/>
          </a:bodyPr>
          <a:lstStyle/>
          <a:p>
            <a:pPr algn="l">
              <a:lnSpc>
                <a:spcPct val="125000"/>
              </a:lnSpc>
              <a:spcAft>
                <a:spcPts val="800"/>
              </a:spcAft>
            </a:pPr>
            <a:r>
              <a:rPr sz="1300" b="0">
                <a:solidFill>
                  <a:srgbClr val="595959"/>
                </a:solidFill>
                <a:latin typeface="Calibri"/>
              </a:rPr>
              <a:t>Dropout rate for the 486 students not up to date on tuition, against 30.7 percent for those who are.</a:t>
            </a:r>
          </a:p>
          <a:p>
            <a:pPr algn="l">
              <a:lnSpc>
                <a:spcPct val="125000"/>
              </a:lnSpc>
              <a:spcAft>
                <a:spcPts val="800"/>
              </a:spcAft>
            </a:pPr>
            <a:r>
              <a:rPr sz="1300" b="0">
                <a:solidFill>
                  <a:srgbClr val="595959"/>
                </a:solidFill>
                <a:latin typeface="Calibri"/>
              </a:rPr>
              <a:t>A student who has stopped paying is often already leaving, so this feature nearly is the outcome, and it is kept but watched, because removing it costs about five points of PR-AUC.</a:t>
            </a:r>
          </a:p>
        </p:txBody>
      </p:sp>
      <p:sp>
        <p:nvSpPr>
          <p:cNvPr id="7" name="TextBox 6"/>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These group rates come back on slide 10, and they are the reason the fairness audit had to be rewritten.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What predicts dropout</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The right test for each feature type. Mann-Whitney U on the numbers, chi-square and Cramer's V on the categories.</a:t>
            </a:r>
          </a:p>
        </p:txBody>
      </p:sp>
      <p:pic>
        <p:nvPicPr>
          <p:cNvPr id="4" name="Picture 3" descr="continuous_by_dropout.png"/>
          <p:cNvPicPr>
            <a:picLocks noChangeAspect="1"/>
          </p:cNvPicPr>
          <p:nvPr/>
        </p:nvPicPr>
        <p:blipFill>
          <a:blip r:embed="rId2"/>
          <a:stretch>
            <a:fillRect/>
          </a:stretch>
        </p:blipFill>
        <p:spPr>
          <a:xfrm>
            <a:off x="566928" y="1645920"/>
            <a:ext cx="6035040" cy="3017520"/>
          </a:xfrm>
          <a:prstGeom prst="rect">
            <a:avLst/>
          </a:prstGeom>
        </p:spPr>
      </p:pic>
      <p:pic>
        <p:nvPicPr>
          <p:cNvPr id="5" name="Picture 4" descr="cramers_v_matrix.png"/>
          <p:cNvPicPr>
            <a:picLocks noChangeAspect="1"/>
          </p:cNvPicPr>
          <p:nvPr/>
        </p:nvPicPr>
        <p:blipFill>
          <a:blip r:embed="rId3"/>
          <a:stretch>
            <a:fillRect/>
          </a:stretch>
        </p:blipFill>
        <p:spPr>
          <a:xfrm>
            <a:off x="7406640" y="1508760"/>
            <a:ext cx="4206240" cy="3738880"/>
          </a:xfrm>
          <a:prstGeom prst="rect">
            <a:avLst/>
          </a:prstGeom>
        </p:spPr>
      </p:pic>
      <p:sp>
        <p:nvSpPr>
          <p:cNvPr id="6" name="TextBox 5"/>
          <p:cNvSpPr txBox="1"/>
          <p:nvPr/>
        </p:nvSpPr>
        <p:spPr>
          <a:xfrm>
            <a:off x="566928" y="4709160"/>
            <a:ext cx="6309360" cy="1371600"/>
          </a:xfrm>
          <a:prstGeom prst="rect">
            <a:avLst/>
          </a:prstGeom>
          <a:noFill/>
        </p:spPr>
        <p:txBody>
          <a:bodyPr wrap="square" lIns="0" tIns="0" rIns="0" bIns="0">
            <a:spAutoFit/>
          </a:bodyPr>
          <a:lstStyle/>
          <a:p>
            <a:pPr algn="l">
              <a:lnSpc>
                <a:spcPct val="120000"/>
              </a:lnSpc>
              <a:spcAft>
                <a:spcPts val="700"/>
              </a:spcAft>
            </a:pPr>
            <a:r>
              <a:rPr sz="1300" b="0">
                <a:solidFill>
                  <a:srgbClr val="595959"/>
                </a:solidFill>
                <a:latin typeface="Calibri"/>
              </a:rPr>
              <a:t>Age has the strongest link at p = 9.2e-65, because older entrants drop out more, and admission grade and previous qualification grade follow, while unemployment and inflation show no real difference at p = 0.75 and 0.21.</a:t>
            </a:r>
          </a:p>
          <a:p>
            <a:pPr algn="l">
              <a:lnSpc>
                <a:spcPct val="120000"/>
              </a:lnSpc>
              <a:spcAft>
                <a:spcPts val="700"/>
              </a:spcAft>
            </a:pPr>
            <a:r>
              <a:rPr sz="1300" b="0">
                <a:solidFill>
                  <a:srgbClr val="595959"/>
                </a:solidFill>
                <a:latin typeface="Calibri"/>
              </a:rPr>
              <a:t>Tuition 0.437, Course 0.346, application mode 0.330 lead on Cramer's V.</a:t>
            </a:r>
          </a:p>
          <a:p>
            <a:pPr algn="l">
              <a:lnSpc>
                <a:spcPct val="120000"/>
              </a:lnSpc>
              <a:spcAft>
                <a:spcPts val="700"/>
              </a:spcAft>
            </a:pPr>
            <a:r>
              <a:rPr sz="1300" b="1">
                <a:solidFill>
                  <a:srgbClr val="1A1A1A"/>
                </a:solidFill>
                <a:latin typeface="Calibri"/>
              </a:rPr>
              <a:t>Every VIF is under 2.</a:t>
            </a:r>
            <a:r>
              <a:rPr sz="1300" b="0">
                <a:solidFill>
                  <a:srgbClr val="595959"/>
                </a:solidFill>
                <a:latin typeface="Calibri"/>
              </a:rPr>
              <a:t> VIF spots overlap in the six numbers only.</a:t>
            </a:r>
          </a:p>
        </p:txBody>
      </p:sp>
      <p:sp>
        <p:nvSpPr>
          <p:cNvPr id="7" name="TextBox 6"/>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matrix shows two pairs sitting at a perfect V = 1.000. I noted that and moved 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1A1A1A"/>
                </a:solidFill>
                <a:latin typeface="Cambria"/>
              </a:rPr>
              <a:t>1</a:t>
            </a:r>
          </a:p>
        </p:txBody>
      </p:sp>
      <p:sp>
        <p:nvSpPr>
          <p:cNvPr id="3" name="TextBox 2"/>
          <p:cNvSpPr txBox="1"/>
          <p:nvPr/>
        </p:nvSpPr>
        <p:spPr>
          <a:xfrm>
            <a:off x="1225296" y="457200"/>
            <a:ext cx="10399471"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The feature that broke the coefficients</a:t>
            </a:r>
          </a:p>
        </p:txBody>
      </p:sp>
      <p:sp>
        <p:nvSpPr>
          <p:cNvPr id="4" name="TextBox 3"/>
          <p:cNvSpPr txBox="1"/>
          <p:nvPr/>
        </p:nvSpPr>
        <p:spPr>
          <a:xfrm>
            <a:off x="566928" y="1280160"/>
            <a:ext cx="5760720" cy="1280160"/>
          </a:xfrm>
          <a:prstGeom prst="rect">
            <a:avLst/>
          </a:prstGeom>
          <a:noFill/>
        </p:spPr>
        <p:txBody>
          <a:bodyPr wrap="square" lIns="0" tIns="0" rIns="0" bIns="0">
            <a:spAutoFit/>
          </a:bodyPr>
          <a:lstStyle/>
          <a:p>
            <a:pPr algn="l">
              <a:lnSpc>
                <a:spcPct val="120000"/>
              </a:lnSpc>
              <a:spcAft>
                <a:spcPts val="700"/>
              </a:spcAft>
            </a:pPr>
            <a:r>
              <a:rPr sz="1300" b="0">
                <a:solidFill>
                  <a:srgbClr val="595959"/>
                </a:solidFill>
                <a:latin typeface="Calibri"/>
              </a:rPr>
              <a:t>I built a socioeconomic pressure score, one point each for owing money, falling behind on tuition, and holding no scholarship, and it ranked first on mutual information ahead of every raw column in the file.</a:t>
            </a:r>
          </a:p>
          <a:p>
            <a:pPr algn="l">
              <a:lnSpc>
                <a:spcPct val="120000"/>
              </a:lnSpc>
              <a:spcAft>
                <a:spcPts val="700"/>
              </a:spcAft>
            </a:pPr>
            <a:r>
              <a:rPr sz="1300" b="0">
                <a:solidFill>
                  <a:srgbClr val="595959"/>
                </a:solidFill>
                <a:latin typeface="Calibri"/>
              </a:rPr>
              <a:t>Then the model turned around and said that owing the school money makes a student less likely to drop out.</a:t>
            </a:r>
          </a:p>
        </p:txBody>
      </p:sp>
      <p:sp>
        <p:nvSpPr>
          <p:cNvPr id="5" name="Rectangle 4"/>
          <p:cNvSpPr/>
          <p:nvPr/>
        </p:nvSpPr>
        <p:spPr>
          <a:xfrm>
            <a:off x="566928" y="2788920"/>
            <a:ext cx="5760720" cy="914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91440" rtlCol="0" anchor="ctr"/>
          <a:lstStyle/>
          <a:p>
            <a:pPr algn="l">
              <a:spcAft>
                <a:spcPts val="400"/>
              </a:spcAft>
            </a:pPr>
            <a:r>
              <a:rPr sz="1300" b="1">
                <a:solidFill>
                  <a:srgbClr val="1A1A1A"/>
                </a:solidFill>
                <a:latin typeface="Courier New"/>
              </a:rPr>
              <a:t>pressure − Debtor + Tuition + Scholarship = [2]</a:t>
            </a:r>
          </a:p>
          <a:p>
            <a:pPr algn="l"/>
            <a:r>
              <a:rPr sz="1100">
                <a:solidFill>
                  <a:srgbClr val="595959"/>
                </a:solidFill>
                <a:latin typeface="Calibri"/>
              </a:rPr>
              <a:t>It takes one value, exactly 2, on all 2,904 training rows, because the score was three columns the matrix already held.</a:t>
            </a:r>
          </a:p>
        </p:txBody>
      </p:sp>
      <p:graphicFrame>
        <p:nvGraphicFramePr>
          <p:cNvPr id="6" name="Table 5"/>
          <p:cNvGraphicFramePr>
            <a:graphicFrameLocks noGrp="1"/>
          </p:cNvGraphicFramePr>
          <p:nvPr/>
        </p:nvGraphicFramePr>
        <p:xfrm>
          <a:off x="566928" y="4023360"/>
          <a:ext cx="5760720" cy="1243584"/>
        </p:xfrm>
        <a:graphic>
          <a:graphicData uri="http://schemas.openxmlformats.org/drawingml/2006/table">
            <a:tbl>
              <a:tblPr>
                <a:tableStyleId>{5C22544A-7EE6-4342-B048-85BDC9FD1C3A}</a:tableStyleId>
              </a:tblPr>
              <a:tblGrid>
                <a:gridCol w="3456432">
                  <a:extLst>
                    <a:ext uri="{9D8B030D-6E8A-4147-A177-3AD203B41FA5}">
                      <a16:colId xmlns:a16="http://schemas.microsoft.com/office/drawing/2014/main" val="20000"/>
                    </a:ext>
                  </a:extLst>
                </a:gridCol>
                <a:gridCol w="1152144">
                  <a:extLst>
                    <a:ext uri="{9D8B030D-6E8A-4147-A177-3AD203B41FA5}">
                      <a16:colId xmlns:a16="http://schemas.microsoft.com/office/drawing/2014/main" val="20001"/>
                    </a:ext>
                  </a:extLst>
                </a:gridCol>
                <a:gridCol w="1152144">
                  <a:extLst>
                    <a:ext uri="{9D8B030D-6E8A-4147-A177-3AD203B41FA5}">
                      <a16:colId xmlns:a16="http://schemas.microsoft.com/office/drawing/2014/main" val="20002"/>
                    </a:ext>
                  </a:extLst>
                </a:gridCol>
              </a:tblGrid>
              <a:tr h="310896">
                <a:tc>
                  <a:txBody>
                    <a:bodyPr/>
                    <a:lstStyle/>
                    <a:p>
                      <a:pPr algn="l"/>
                      <a:r>
                        <a:rPr sz="1000" b="1">
                          <a:solidFill>
                            <a:srgbClr val="FFFFFF"/>
                          </a:solidFill>
                          <a:latin typeface="Calibri"/>
                        </a:rPr>
                        <a:t>Design matrix</a:t>
                      </a:r>
                    </a:p>
                  </a:txBody>
                  <a:tcPr marL="64008" marR="64008" marT="9144" marB="9144" anchor="ctr">
                    <a:solidFill>
                      <a:srgbClr val="1A1A1A"/>
                    </a:solidFill>
                  </a:tcPr>
                </a:tc>
                <a:tc>
                  <a:txBody>
                    <a:bodyPr/>
                    <a:lstStyle/>
                    <a:p>
                      <a:pPr algn="r"/>
                      <a:r>
                        <a:rPr sz="1000" b="1">
                          <a:solidFill>
                            <a:srgbClr val="FFFFFF"/>
                          </a:solidFill>
                          <a:latin typeface="Calibri"/>
                        </a:rPr>
                        <a:t>Old</a:t>
                      </a:r>
                    </a:p>
                  </a:txBody>
                  <a:tcPr marL="64008" marR="64008" marT="9144" marB="9144" anchor="ctr">
                    <a:solidFill>
                      <a:srgbClr val="1A1A1A"/>
                    </a:solidFill>
                  </a:tcPr>
                </a:tc>
                <a:tc>
                  <a:txBody>
                    <a:bodyPr/>
                    <a:lstStyle/>
                    <a:p>
                      <a:pPr algn="r"/>
                      <a:r>
                        <a:rPr sz="1000" b="1">
                          <a:solidFill>
                            <a:srgbClr val="FFFFFF"/>
                          </a:solidFill>
                          <a:latin typeface="Calibri"/>
                        </a:rPr>
                        <a:t>Fixed</a:t>
                      </a:r>
                    </a:p>
                  </a:txBody>
                  <a:tcPr marL="64008" marR="64008" marT="9144" marB="9144" anchor="ctr">
                    <a:solidFill>
                      <a:srgbClr val="1A1A1A"/>
                    </a:solidFill>
                  </a:tcPr>
                </a:tc>
                <a:extLst>
                  <a:ext uri="{0D108BD9-81ED-4DB2-BD59-A6C34878D82A}">
                    <a16:rowId xmlns:a16="http://schemas.microsoft.com/office/drawing/2014/main" val="10000"/>
                  </a:ext>
                </a:extLst>
              </a:tr>
              <a:tr h="310896">
                <a:tc>
                  <a:txBody>
                    <a:bodyPr/>
                    <a:lstStyle/>
                    <a:p>
                      <a:pPr algn="l"/>
                      <a:r>
                        <a:rPr sz="1100" b="0">
                          <a:solidFill>
                            <a:srgbClr val="1A1A1A"/>
                          </a:solidFill>
                          <a:latin typeface="Calibri"/>
                        </a:rPr>
                        <a:t>Columns</a:t>
                      </a:r>
                    </a:p>
                  </a:txBody>
                  <a:tcPr marL="64008" marR="64008" marT="9144" marB="9144" anchor="ctr">
                    <a:solidFill>
                      <a:srgbClr val="FFFFFF"/>
                    </a:solidFill>
                  </a:tcPr>
                </a:tc>
                <a:tc>
                  <a:txBody>
                    <a:bodyPr/>
                    <a:lstStyle/>
                    <a:p>
                      <a:pPr algn="r"/>
                      <a:r>
                        <a:rPr sz="1100" b="0">
                          <a:solidFill>
                            <a:srgbClr val="595959"/>
                          </a:solidFill>
                          <a:latin typeface="Calibri"/>
                        </a:rPr>
                        <a:t>216</a:t>
                      </a:r>
                    </a:p>
                  </a:txBody>
                  <a:tcPr marL="64008" marR="64008" marT="9144" marB="9144" anchor="ctr">
                    <a:solidFill>
                      <a:srgbClr val="FFFFFF"/>
                    </a:solidFill>
                  </a:tcPr>
                </a:tc>
                <a:tc>
                  <a:txBody>
                    <a:bodyPr/>
                    <a:lstStyle/>
                    <a:p>
                      <a:pPr algn="r"/>
                      <a:r>
                        <a:rPr sz="1100" b="0">
                          <a:solidFill>
                            <a:srgbClr val="595959"/>
                          </a:solidFill>
                          <a:latin typeface="Calibri"/>
                        </a:rPr>
                        <a:t>84</a:t>
                      </a:r>
                    </a:p>
                  </a:txBody>
                  <a:tcPr marL="64008" marR="64008" marT="9144" marB="9144" anchor="ctr">
                    <a:solidFill>
                      <a:srgbClr val="FFFFFF"/>
                    </a:solidFill>
                  </a:tcPr>
                </a:tc>
                <a:extLst>
                  <a:ext uri="{0D108BD9-81ED-4DB2-BD59-A6C34878D82A}">
                    <a16:rowId xmlns:a16="http://schemas.microsoft.com/office/drawing/2014/main" val="10001"/>
                  </a:ext>
                </a:extLst>
              </a:tr>
              <a:tr h="310896">
                <a:tc>
                  <a:txBody>
                    <a:bodyPr/>
                    <a:lstStyle/>
                    <a:p>
                      <a:pPr algn="l"/>
                      <a:r>
                        <a:rPr sz="1100" b="0">
                          <a:solidFill>
                            <a:srgbClr val="1A1A1A"/>
                          </a:solidFill>
                          <a:latin typeface="Calibri"/>
                        </a:rPr>
                        <a:t>One-hot blocks</a:t>
                      </a:r>
                    </a:p>
                  </a:txBody>
                  <a:tcPr marL="64008" marR="64008" marT="9144" marB="9144" anchor="ctr">
                    <a:solidFill>
                      <a:srgbClr val="F2F2F2"/>
                    </a:solidFill>
                  </a:tcPr>
                </a:tc>
                <a:tc>
                  <a:txBody>
                    <a:bodyPr/>
                    <a:lstStyle/>
                    <a:p>
                      <a:pPr algn="r"/>
                      <a:r>
                        <a:rPr sz="1100" b="0">
                          <a:solidFill>
                            <a:srgbClr val="595959"/>
                          </a:solidFill>
                          <a:latin typeface="Calibri"/>
                        </a:rPr>
                        <a:t>9</a:t>
                      </a:r>
                    </a:p>
                  </a:txBody>
                  <a:tcPr marL="64008" marR="64008" marT="9144" marB="9144" anchor="ctr">
                    <a:solidFill>
                      <a:srgbClr val="F2F2F2"/>
                    </a:solidFill>
                  </a:tcPr>
                </a:tc>
                <a:tc>
                  <a:txBody>
                    <a:bodyPr/>
                    <a:lstStyle/>
                    <a:p>
                      <a:pPr algn="r"/>
                      <a:r>
                        <a:rPr sz="1100" b="0">
                          <a:solidFill>
                            <a:srgbClr val="595959"/>
                          </a:solidFill>
                          <a:latin typeface="Calibri"/>
                        </a:rPr>
                        <a:t>6</a:t>
                      </a:r>
                    </a:p>
                  </a:txBody>
                  <a:tcPr marL="64008" marR="64008" marT="9144" marB="9144" anchor="ctr">
                    <a:solidFill>
                      <a:srgbClr val="F2F2F2"/>
                    </a:solidFill>
                  </a:tcPr>
                </a:tc>
                <a:extLst>
                  <a:ext uri="{0D108BD9-81ED-4DB2-BD59-A6C34878D82A}">
                    <a16:rowId xmlns:a16="http://schemas.microsoft.com/office/drawing/2014/main" val="10002"/>
                  </a:ext>
                </a:extLst>
              </a:tr>
              <a:tr h="310896">
                <a:tc>
                  <a:txBody>
                    <a:bodyPr/>
                    <a:lstStyle/>
                    <a:p>
                      <a:pPr algn="l"/>
                      <a:r>
                        <a:rPr sz="1100" b="0">
                          <a:solidFill>
                            <a:srgbClr val="1A1A1A"/>
                          </a:solidFill>
                          <a:latin typeface="Calibri"/>
                        </a:rPr>
                        <a:t>Exact linear dependencies</a:t>
                      </a:r>
                    </a:p>
                  </a:txBody>
                  <a:tcPr marL="64008" marR="64008" marT="9144" marB="9144" anchor="ctr">
                    <a:solidFill>
                      <a:srgbClr val="FFFFFF"/>
                    </a:solidFill>
                  </a:tcPr>
                </a:tc>
                <a:tc>
                  <a:txBody>
                    <a:bodyPr/>
                    <a:lstStyle/>
                    <a:p>
                      <a:pPr algn="r"/>
                      <a:r>
                        <a:rPr sz="1100" b="0">
                          <a:solidFill>
                            <a:srgbClr val="595959"/>
                          </a:solidFill>
                          <a:latin typeface="Calibri"/>
                        </a:rPr>
                        <a:t>19</a:t>
                      </a:r>
                    </a:p>
                  </a:txBody>
                  <a:tcPr marL="64008" marR="64008" marT="9144" marB="9144" anchor="ctr">
                    <a:solidFill>
                      <a:srgbClr val="FFFFFF"/>
                    </a:solidFill>
                  </a:tcPr>
                </a:tc>
                <a:tc>
                  <a:txBody>
                    <a:bodyPr/>
                    <a:lstStyle/>
                    <a:p>
                      <a:pPr algn="r"/>
                      <a:r>
                        <a:rPr sz="1100" b="0">
                          <a:solidFill>
                            <a:srgbClr val="595959"/>
                          </a:solidFill>
                          <a:latin typeface="Calibri"/>
                        </a:rPr>
                        <a:t>6</a:t>
                      </a:r>
                    </a:p>
                  </a:txBody>
                  <a:tcPr marL="64008" marR="64008" marT="9144" marB="9144"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66928" y="5440680"/>
            <a:ext cx="5760720" cy="731520"/>
          </a:xfrm>
          <a:prstGeom prst="rect">
            <a:avLst/>
          </a:prstGeom>
          <a:noFill/>
        </p:spPr>
        <p:txBody>
          <a:bodyPr wrap="square" lIns="0" tIns="0" rIns="0" bIns="0">
            <a:spAutoFit/>
          </a:bodyPr>
          <a:lstStyle/>
          <a:p>
            <a:pPr algn="l">
              <a:lnSpc>
                <a:spcPct val="115000"/>
              </a:lnSpc>
              <a:spcAft>
                <a:spcPts val="600"/>
              </a:spcAft>
            </a:pPr>
            <a:r>
              <a:rPr sz="1200" b="1">
                <a:solidFill>
                  <a:srgbClr val="1A1A1A"/>
                </a:solidFill>
                <a:latin typeface="Calibri"/>
              </a:rPr>
              <a:t>Slide 4 said overlap was fine because VIF said so.</a:t>
            </a:r>
            <a:r>
              <a:rPr sz="1200" b="0">
                <a:solidFill>
                  <a:srgbClr val="595959"/>
                </a:solidFill>
                <a:latin typeface="Calibri"/>
              </a:rPr>
              <a:t> But VIF only reads the six numbers, so it never saw the category columns and never saw a feature built after it ran.</a:t>
            </a:r>
          </a:p>
        </p:txBody>
      </p:sp>
      <p:sp>
        <p:nvSpPr>
          <p:cNvPr id="8" name="TextBox 7"/>
          <p:cNvSpPr txBox="1"/>
          <p:nvPr/>
        </p:nvSpPr>
        <p:spPr>
          <a:xfrm>
            <a:off x="6720840" y="1280160"/>
            <a:ext cx="4892040" cy="457200"/>
          </a:xfrm>
          <a:prstGeom prst="rect">
            <a:avLst/>
          </a:prstGeom>
          <a:noFill/>
        </p:spPr>
        <p:txBody>
          <a:bodyPr wrap="square" lIns="0" tIns="0" rIns="0" bIns="0">
            <a:spAutoFit/>
          </a:bodyPr>
          <a:lstStyle/>
          <a:p>
            <a:pPr algn="l">
              <a:lnSpc>
                <a:spcPct val="120000"/>
              </a:lnSpc>
              <a:spcAft>
                <a:spcPts val="600"/>
              </a:spcAft>
            </a:pPr>
            <a:r>
              <a:rPr sz="1300" b="0">
                <a:solidFill>
                  <a:srgbClr val="595959"/>
                </a:solidFill>
                <a:latin typeface="Calibri"/>
              </a:rPr>
              <a:t>The model and the data are the same, and the only change is whether the score sits in the matrix.</a:t>
            </a:r>
          </a:p>
        </p:txBody>
      </p:sp>
      <p:graphicFrame>
        <p:nvGraphicFramePr>
          <p:cNvPr id="9" name="Table 8"/>
          <p:cNvGraphicFramePr>
            <a:graphicFrameLocks noGrp="1"/>
          </p:cNvGraphicFramePr>
          <p:nvPr/>
        </p:nvGraphicFramePr>
        <p:xfrm>
          <a:off x="6720840" y="1874519"/>
          <a:ext cx="4892039" cy="1389888"/>
        </p:xfrm>
        <a:graphic>
          <a:graphicData uri="http://schemas.openxmlformats.org/drawingml/2006/table">
            <a:tbl>
              <a:tblPr>
                <a:tableStyleId>{5C22544A-7EE6-4342-B048-85BDC9FD1C3A}</a:tableStyleId>
              </a:tblPr>
              <a:tblGrid>
                <a:gridCol w="1956816">
                  <a:extLst>
                    <a:ext uri="{9D8B030D-6E8A-4147-A177-3AD203B41FA5}">
                      <a16:colId xmlns:a16="http://schemas.microsoft.com/office/drawing/2014/main" val="20000"/>
                    </a:ext>
                  </a:extLst>
                </a:gridCol>
                <a:gridCol w="893329">
                  <a:extLst>
                    <a:ext uri="{9D8B030D-6E8A-4147-A177-3AD203B41FA5}">
                      <a16:colId xmlns:a16="http://schemas.microsoft.com/office/drawing/2014/main" val="20001"/>
                    </a:ext>
                  </a:extLst>
                </a:gridCol>
                <a:gridCol w="893329">
                  <a:extLst>
                    <a:ext uri="{9D8B030D-6E8A-4147-A177-3AD203B41FA5}">
                      <a16:colId xmlns:a16="http://schemas.microsoft.com/office/drawing/2014/main" val="20002"/>
                    </a:ext>
                  </a:extLst>
                </a:gridCol>
                <a:gridCol w="1148565">
                  <a:extLst>
                    <a:ext uri="{9D8B030D-6E8A-4147-A177-3AD203B41FA5}">
                      <a16:colId xmlns:a16="http://schemas.microsoft.com/office/drawing/2014/main" val="20003"/>
                    </a:ext>
                  </a:extLst>
                </a:gridCol>
              </a:tblGrid>
              <a:tr h="347472">
                <a:tc>
                  <a:txBody>
                    <a:bodyPr/>
                    <a:lstStyle/>
                    <a:p>
                      <a:pPr algn="l"/>
                      <a:r>
                        <a:rPr sz="1000" b="1">
                          <a:solidFill>
                            <a:srgbClr val="FFFFFF"/>
                          </a:solidFill>
                          <a:latin typeface="Calibri"/>
                        </a:rPr>
                        <a:t>Coefficient</a:t>
                      </a:r>
                    </a:p>
                  </a:txBody>
                  <a:tcPr marL="64008" marR="64008" marT="9144" marB="9144" anchor="ctr">
                    <a:solidFill>
                      <a:srgbClr val="1A1A1A"/>
                    </a:solidFill>
                  </a:tcPr>
                </a:tc>
                <a:tc>
                  <a:txBody>
                    <a:bodyPr/>
                    <a:lstStyle/>
                    <a:p>
                      <a:pPr algn="r"/>
                      <a:r>
                        <a:rPr sz="1000" b="1">
                          <a:solidFill>
                            <a:srgbClr val="FFFFFF"/>
                          </a:solidFill>
                          <a:latin typeface="Calibri"/>
                        </a:rPr>
                        <a:t>Score in</a:t>
                      </a:r>
                    </a:p>
                  </a:txBody>
                  <a:tcPr marL="64008" marR="64008" marT="9144" marB="9144" anchor="ctr">
                    <a:solidFill>
                      <a:srgbClr val="1A1A1A"/>
                    </a:solidFill>
                  </a:tcPr>
                </a:tc>
                <a:tc>
                  <a:txBody>
                    <a:bodyPr/>
                    <a:lstStyle/>
                    <a:p>
                      <a:pPr algn="r"/>
                      <a:r>
                        <a:rPr sz="1000" b="1">
                          <a:solidFill>
                            <a:srgbClr val="FFFFFF"/>
                          </a:solidFill>
                          <a:latin typeface="Calibri"/>
                        </a:rPr>
                        <a:t>Score out</a:t>
                      </a:r>
                    </a:p>
                  </a:txBody>
                  <a:tcPr marL="64008" marR="64008" marT="9144" marB="9144" anchor="ctr">
                    <a:solidFill>
                      <a:srgbClr val="1A1A1A"/>
                    </a:solidFill>
                  </a:tcPr>
                </a:tc>
                <a:tc>
                  <a:txBody>
                    <a:bodyPr/>
                    <a:lstStyle/>
                    <a:p>
                      <a:pPr algn="r"/>
                      <a:r>
                        <a:rPr sz="1000" b="1">
                          <a:solidFill>
                            <a:srgbClr val="FFFFFF"/>
                          </a:solidFill>
                          <a:latin typeface="Calibri"/>
                        </a:rPr>
                        <a:t>Real rate</a:t>
                      </a:r>
                    </a:p>
                  </a:txBody>
                  <a:tcPr marL="64008" marR="64008" marT="9144" marB="9144" anchor="ctr">
                    <a:solidFill>
                      <a:srgbClr val="1A1A1A"/>
                    </a:solidFill>
                  </a:tcPr>
                </a:tc>
                <a:extLst>
                  <a:ext uri="{0D108BD9-81ED-4DB2-BD59-A6C34878D82A}">
                    <a16:rowId xmlns:a16="http://schemas.microsoft.com/office/drawing/2014/main" val="10000"/>
                  </a:ext>
                </a:extLst>
              </a:tr>
              <a:tr h="347472">
                <a:tc>
                  <a:txBody>
                    <a:bodyPr/>
                    <a:lstStyle/>
                    <a:p>
                      <a:pPr algn="l"/>
                      <a:r>
                        <a:rPr sz="1100" b="0">
                          <a:solidFill>
                            <a:srgbClr val="1A1A1A"/>
                          </a:solidFill>
                          <a:latin typeface="Calibri"/>
                        </a:rPr>
                        <a:t>Debtor</a:t>
                      </a:r>
                    </a:p>
                  </a:txBody>
                  <a:tcPr marL="64008" marR="64008" marT="9144" marB="9144" anchor="ctr">
                    <a:solidFill>
                      <a:srgbClr val="FFFFFF"/>
                    </a:solidFill>
                  </a:tcPr>
                </a:tc>
                <a:tc>
                  <a:txBody>
                    <a:bodyPr/>
                    <a:lstStyle/>
                    <a:p>
                      <a:pPr algn="r"/>
                      <a:r>
                        <a:rPr sz="1100" b="0">
                          <a:solidFill>
                            <a:srgbClr val="595959"/>
                          </a:solidFill>
                          <a:latin typeface="Calibri"/>
                        </a:rPr>
                        <a:t>−0.465</a:t>
                      </a:r>
                    </a:p>
                  </a:txBody>
                  <a:tcPr marL="64008" marR="64008" marT="9144" marB="9144" anchor="ctr">
                    <a:solidFill>
                      <a:srgbClr val="FFFFFF"/>
                    </a:solidFill>
                  </a:tcPr>
                </a:tc>
                <a:tc>
                  <a:txBody>
                    <a:bodyPr/>
                    <a:lstStyle/>
                    <a:p>
                      <a:pPr algn="r"/>
                      <a:r>
                        <a:rPr sz="1100" b="0">
                          <a:solidFill>
                            <a:srgbClr val="595959"/>
                          </a:solidFill>
                          <a:latin typeface="Calibri"/>
                        </a:rPr>
                        <a:t>+1.006</a:t>
                      </a:r>
                    </a:p>
                  </a:txBody>
                  <a:tcPr marL="64008" marR="64008" marT="9144" marB="9144" anchor="ctr">
                    <a:solidFill>
                      <a:srgbClr val="FFFFFF"/>
                    </a:solidFill>
                  </a:tcPr>
                </a:tc>
                <a:tc>
                  <a:txBody>
                    <a:bodyPr/>
                    <a:lstStyle/>
                    <a:p>
                      <a:pPr algn="r"/>
                      <a:r>
                        <a:rPr sz="1100" b="0">
                          <a:solidFill>
                            <a:srgbClr val="595959"/>
                          </a:solidFill>
                          <a:latin typeface="Calibri"/>
                        </a:rPr>
                        <a:t>76% vs 34%</a:t>
                      </a:r>
                    </a:p>
                  </a:txBody>
                  <a:tcPr marL="64008" marR="64008" marT="9144" marB="9144" anchor="ctr">
                    <a:solidFill>
                      <a:srgbClr val="FFFFFF"/>
                    </a:solidFill>
                  </a:tcPr>
                </a:tc>
                <a:extLst>
                  <a:ext uri="{0D108BD9-81ED-4DB2-BD59-A6C34878D82A}">
                    <a16:rowId xmlns:a16="http://schemas.microsoft.com/office/drawing/2014/main" val="10001"/>
                  </a:ext>
                </a:extLst>
              </a:tr>
              <a:tr h="347472">
                <a:tc>
                  <a:txBody>
                    <a:bodyPr/>
                    <a:lstStyle/>
                    <a:p>
                      <a:pPr algn="l"/>
                      <a:r>
                        <a:rPr sz="1100" b="0">
                          <a:solidFill>
                            <a:srgbClr val="1A1A1A"/>
                          </a:solidFill>
                          <a:latin typeface="Calibri"/>
                        </a:rPr>
                        <a:t>Scholarship holder</a:t>
                      </a:r>
                    </a:p>
                  </a:txBody>
                  <a:tcPr marL="64008" marR="64008" marT="9144" marB="9144" anchor="ctr">
                    <a:solidFill>
                      <a:srgbClr val="F2F2F2"/>
                    </a:solidFill>
                  </a:tcPr>
                </a:tc>
                <a:tc>
                  <a:txBody>
                    <a:bodyPr/>
                    <a:lstStyle/>
                    <a:p>
                      <a:pPr algn="r"/>
                      <a:r>
                        <a:rPr sz="1100" b="0">
                          <a:solidFill>
                            <a:srgbClr val="595959"/>
                          </a:solidFill>
                          <a:latin typeface="Calibri"/>
                        </a:rPr>
                        <a:t>+0.138</a:t>
                      </a:r>
                    </a:p>
                  </a:txBody>
                  <a:tcPr marL="64008" marR="64008" marT="9144" marB="9144" anchor="ctr">
                    <a:solidFill>
                      <a:srgbClr val="F2F2F2"/>
                    </a:solidFill>
                  </a:tcPr>
                </a:tc>
                <a:tc>
                  <a:txBody>
                    <a:bodyPr/>
                    <a:lstStyle/>
                    <a:p>
                      <a:pPr algn="r"/>
                      <a:r>
                        <a:rPr sz="1100" b="0">
                          <a:solidFill>
                            <a:srgbClr val="595959"/>
                          </a:solidFill>
                          <a:latin typeface="Calibri"/>
                        </a:rPr>
                        <a:t>−1.344</a:t>
                      </a:r>
                    </a:p>
                  </a:txBody>
                  <a:tcPr marL="64008" marR="64008" marT="9144" marB="9144" anchor="ctr">
                    <a:solidFill>
                      <a:srgbClr val="F2F2F2"/>
                    </a:solidFill>
                  </a:tcPr>
                </a:tc>
                <a:tc>
                  <a:txBody>
                    <a:bodyPr/>
                    <a:lstStyle/>
                    <a:p>
                      <a:pPr algn="r"/>
                      <a:r>
                        <a:rPr sz="1100" b="0">
                          <a:solidFill>
                            <a:srgbClr val="595959"/>
                          </a:solidFill>
                          <a:latin typeface="Calibri"/>
                        </a:rPr>
                        <a:t>14% vs 49%</a:t>
                      </a:r>
                    </a:p>
                  </a:txBody>
                  <a:tcPr marL="64008" marR="64008" marT="9144" marB="9144" anchor="ctr">
                    <a:solidFill>
                      <a:srgbClr val="F2F2F2"/>
                    </a:solidFill>
                  </a:tcPr>
                </a:tc>
                <a:extLst>
                  <a:ext uri="{0D108BD9-81ED-4DB2-BD59-A6C34878D82A}">
                    <a16:rowId xmlns:a16="http://schemas.microsoft.com/office/drawing/2014/main" val="10002"/>
                  </a:ext>
                </a:extLst>
              </a:tr>
              <a:tr h="347472">
                <a:tc>
                  <a:txBody>
                    <a:bodyPr/>
                    <a:lstStyle/>
                    <a:p>
                      <a:pPr algn="l"/>
                      <a:r>
                        <a:rPr sz="1100" b="0">
                          <a:solidFill>
                            <a:srgbClr val="1A1A1A"/>
                          </a:solidFill>
                          <a:latin typeface="Calibri"/>
                        </a:rPr>
                        <a:t>Tuition fees up to date</a:t>
                      </a:r>
                    </a:p>
                  </a:txBody>
                  <a:tcPr marL="64008" marR="64008" marT="9144" marB="9144" anchor="ctr">
                    <a:solidFill>
                      <a:srgbClr val="FFFFFF"/>
                    </a:solidFill>
                  </a:tcPr>
                </a:tc>
                <a:tc>
                  <a:txBody>
                    <a:bodyPr/>
                    <a:lstStyle/>
                    <a:p>
                      <a:pPr algn="r"/>
                      <a:r>
                        <a:rPr sz="1100" b="0">
                          <a:solidFill>
                            <a:srgbClr val="595959"/>
                          </a:solidFill>
                          <a:latin typeface="Calibri"/>
                        </a:rPr>
                        <a:t>−1.480</a:t>
                      </a:r>
                    </a:p>
                  </a:txBody>
                  <a:tcPr marL="64008" marR="64008" marT="9144" marB="9144" anchor="ctr">
                    <a:solidFill>
                      <a:srgbClr val="FFFFFF"/>
                    </a:solidFill>
                  </a:tcPr>
                </a:tc>
                <a:tc>
                  <a:txBody>
                    <a:bodyPr/>
                    <a:lstStyle/>
                    <a:p>
                      <a:pPr algn="r"/>
                      <a:r>
                        <a:rPr sz="1100" b="0">
                          <a:solidFill>
                            <a:srgbClr val="595959"/>
                          </a:solidFill>
                          <a:latin typeface="Calibri"/>
                        </a:rPr>
                        <a:t>−2.913</a:t>
                      </a:r>
                    </a:p>
                  </a:txBody>
                  <a:tcPr marL="64008" marR="64008" marT="9144" marB="9144" anchor="ctr">
                    <a:solidFill>
                      <a:srgbClr val="FFFFFF"/>
                    </a:solidFill>
                  </a:tcPr>
                </a:tc>
                <a:tc>
                  <a:txBody>
                    <a:bodyPr/>
                    <a:lstStyle/>
                    <a:p>
                      <a:pPr algn="r"/>
                      <a:r>
                        <a:rPr sz="1100" b="0">
                          <a:solidFill>
                            <a:srgbClr val="595959"/>
                          </a:solidFill>
                          <a:latin typeface="Calibri"/>
                        </a:rPr>
                        <a:t>31% vs 94%</a:t>
                      </a:r>
                    </a:p>
                  </a:txBody>
                  <a:tcPr marL="64008" marR="64008" marT="9144" marB="9144" anchor="ctr">
                    <a:solidFill>
                      <a:srgbClr val="FFFFFF"/>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6720840" y="3474720"/>
            <a:ext cx="4892040" cy="1828800"/>
          </a:xfrm>
          <a:prstGeom prst="rect">
            <a:avLst/>
          </a:prstGeom>
          <a:noFill/>
        </p:spPr>
        <p:txBody>
          <a:bodyPr wrap="square" lIns="0" tIns="0" rIns="0" bIns="0">
            <a:spAutoFit/>
          </a:bodyPr>
          <a:lstStyle/>
          <a:p>
            <a:pPr algn="l">
              <a:lnSpc>
                <a:spcPct val="120000"/>
              </a:lnSpc>
              <a:spcAft>
                <a:spcPts val="700"/>
              </a:spcAft>
            </a:pPr>
            <a:r>
              <a:rPr sz="1300" b="0">
                <a:solidFill>
                  <a:srgbClr val="595959"/>
                </a:solidFill>
                <a:latin typeface="Calibri"/>
              </a:rPr>
              <a:t>Two signs flip, because the model reads owing money as protective and a scholarship as a risk, when the data says the opposite.</a:t>
            </a:r>
          </a:p>
          <a:p>
            <a:pPr algn="l">
              <a:lnSpc>
                <a:spcPct val="120000"/>
              </a:lnSpc>
              <a:spcAft>
                <a:spcPts val="700"/>
              </a:spcAft>
            </a:pPr>
            <a:r>
              <a:rPr sz="1300" b="0">
                <a:solidFill>
                  <a:srgbClr val="595959"/>
                </a:solidFill>
                <a:latin typeface="Calibri"/>
              </a:rPr>
              <a:t>Accuracy never moved, because the score carried no new information. It only made the model unreadable, and every Step 5 explanation is read off these coefficients.</a:t>
            </a:r>
          </a:p>
        </p:txBody>
      </p:sp>
      <p:sp>
        <p:nvSpPr>
          <p:cNvPr id="11" name="TextBox 10"/>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A feature that adds no information cannot help a model, but it can destroy its ability to explain itself.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Features that replace, instead of repeat</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A feature built from columns that stay in the matrix adds nothing to a linear model, so it earns its place only by replacing its sources.</a:t>
            </a:r>
          </a:p>
        </p:txBody>
      </p:sp>
      <p:sp>
        <p:nvSpPr>
          <p:cNvPr id="4" name="TextBox 3"/>
          <p:cNvSpPr txBox="1"/>
          <p:nvPr/>
        </p:nvSpPr>
        <p:spPr>
          <a:xfrm>
            <a:off x="566928" y="1691640"/>
            <a:ext cx="6309360" cy="1371600"/>
          </a:xfrm>
          <a:prstGeom prst="rect">
            <a:avLst/>
          </a:prstGeom>
          <a:noFill/>
        </p:spPr>
        <p:txBody>
          <a:bodyPr wrap="square" lIns="0" tIns="0" rIns="0" bIns="0">
            <a:spAutoFit/>
          </a:bodyPr>
          <a:lstStyle/>
          <a:p>
            <a:pPr algn="l">
              <a:lnSpc>
                <a:spcPct val="120000"/>
              </a:lnSpc>
              <a:spcAft>
                <a:spcPts val="700"/>
              </a:spcAft>
            </a:pPr>
            <a:r>
              <a:rPr sz="1300" b="0">
                <a:solidFill>
                  <a:srgbClr val="595959"/>
                </a:solidFill>
                <a:latin typeface="Calibri"/>
              </a:rPr>
              <a:t>The same rank check caught two more repeats, both already flagged at V = 1.000 and both waved past.</a:t>
            </a:r>
          </a:p>
          <a:p>
            <a:pPr algn="l">
              <a:lnSpc>
                <a:spcPct val="120000"/>
              </a:lnSpc>
              <a:spcAft>
                <a:spcPts val="700"/>
              </a:spcAft>
            </a:pPr>
            <a:r>
              <a:rPr sz="1300" b="1">
                <a:solidFill>
                  <a:srgbClr val="1A1A1A"/>
                </a:solidFill>
                <a:latin typeface="Calibri"/>
              </a:rPr>
              <a:t>International</a:t>
            </a:r>
            <a:r>
              <a:rPr sz="1300" b="0">
                <a:solidFill>
                  <a:srgbClr val="595959"/>
                </a:solidFill>
                <a:latin typeface="Calibri"/>
              </a:rPr>
              <a:t> equals (Nacionality != 1) on 100 percent of rows, which is the same column twice.</a:t>
            </a:r>
          </a:p>
          <a:p>
            <a:pPr algn="l">
              <a:lnSpc>
                <a:spcPct val="120000"/>
              </a:lnSpc>
              <a:spcAft>
                <a:spcPts val="700"/>
              </a:spcAft>
            </a:pPr>
            <a:r>
              <a:rPr sz="1300" b="1">
                <a:solidFill>
                  <a:srgbClr val="1A1A1A"/>
                </a:solidFill>
                <a:latin typeface="Calibri"/>
              </a:rPr>
              <a:t>Daytime attendance</a:t>
            </a:r>
            <a:r>
              <a:rPr sz="1300" b="0">
                <a:solidFill>
                  <a:srgbClr val="595959"/>
                </a:solidFill>
                <a:latin typeface="Calibri"/>
              </a:rPr>
              <a:t> is decided entirely by Course, because zero of the 17 courses run both a day and an evening class.</a:t>
            </a:r>
          </a:p>
        </p:txBody>
      </p:sp>
      <p:sp>
        <p:nvSpPr>
          <p:cNvPr id="5" name="TextBox 4"/>
          <p:cNvSpPr txBox="1"/>
          <p:nvPr/>
        </p:nvSpPr>
        <p:spPr>
          <a:xfrm>
            <a:off x="566928" y="3246120"/>
            <a:ext cx="6309360" cy="1097280"/>
          </a:xfrm>
          <a:prstGeom prst="rect">
            <a:avLst/>
          </a:prstGeom>
          <a:noFill/>
        </p:spPr>
        <p:txBody>
          <a:bodyPr wrap="square" lIns="0" tIns="0" rIns="0" bIns="0">
            <a:spAutoFit/>
          </a:bodyPr>
          <a:lstStyle/>
          <a:p>
            <a:pPr algn="l">
              <a:lnSpc>
                <a:spcPct val="120000"/>
              </a:lnSpc>
              <a:spcAft>
                <a:spcPts val="700"/>
              </a:spcAft>
            </a:pPr>
            <a:r>
              <a:rPr sz="1300" b="0">
                <a:solidFill>
                  <a:srgbClr val="595959"/>
                </a:solidFill>
                <a:latin typeface="Calibri"/>
              </a:rPr>
              <a:t>Five engineered features replace their sources and four weak columns come out, and then the cost is measured on training slices rather than assumed.</a:t>
            </a:r>
          </a:p>
          <a:p>
            <a:pPr algn="l">
              <a:lnSpc>
                <a:spcPct val="120000"/>
              </a:lnSpc>
              <a:spcAft>
                <a:spcPts val="700"/>
              </a:spcAft>
            </a:pPr>
            <a:r>
              <a:rPr sz="1300" b="1">
                <a:solidFill>
                  <a:srgbClr val="1A1A1A"/>
                </a:solidFill>
                <a:latin typeface="Calibri"/>
              </a:rPr>
              <a:t>mature entry</a:t>
            </a:r>
            <a:r>
              <a:rPr sz="1300" b="0">
                <a:solidFill>
                  <a:srgbClr val="595959"/>
                </a:solidFill>
                <a:latin typeface="Calibri"/>
              </a:rPr>
              <a:t> lands sixth at 0.0534, below the raw age column it bends, because it reads the whole age signal, so a cutoff drawn from it ranks lower, as it should.</a:t>
            </a:r>
          </a:p>
        </p:txBody>
      </p:sp>
      <p:graphicFrame>
        <p:nvGraphicFramePr>
          <p:cNvPr id="6" name="Table 5"/>
          <p:cNvGraphicFramePr>
            <a:graphicFrameLocks noGrp="1"/>
          </p:cNvGraphicFramePr>
          <p:nvPr/>
        </p:nvGraphicFramePr>
        <p:xfrm>
          <a:off x="566928" y="4709160"/>
          <a:ext cx="6309359" cy="960120"/>
        </p:xfrm>
        <a:graphic>
          <a:graphicData uri="http://schemas.openxmlformats.org/drawingml/2006/table">
            <a:tbl>
              <a:tblPr>
                <a:tableStyleId>{5C22544A-7EE6-4342-B048-85BDC9FD1C3A}</a:tableStyleId>
              </a:tblPr>
              <a:tblGrid>
                <a:gridCol w="3640015">
                  <a:extLst>
                    <a:ext uri="{9D8B030D-6E8A-4147-A177-3AD203B41FA5}">
                      <a16:colId xmlns:a16="http://schemas.microsoft.com/office/drawing/2014/main" val="20000"/>
                    </a:ext>
                  </a:extLst>
                </a:gridCol>
                <a:gridCol w="1456006">
                  <a:extLst>
                    <a:ext uri="{9D8B030D-6E8A-4147-A177-3AD203B41FA5}">
                      <a16:colId xmlns:a16="http://schemas.microsoft.com/office/drawing/2014/main" val="20001"/>
                    </a:ext>
                  </a:extLst>
                </a:gridCol>
                <a:gridCol w="1213338">
                  <a:extLst>
                    <a:ext uri="{9D8B030D-6E8A-4147-A177-3AD203B41FA5}">
                      <a16:colId xmlns:a16="http://schemas.microsoft.com/office/drawing/2014/main" val="20002"/>
                    </a:ext>
                  </a:extLst>
                </a:gridCol>
              </a:tblGrid>
              <a:tr h="320040">
                <a:tc>
                  <a:txBody>
                    <a:bodyPr/>
                    <a:lstStyle/>
                    <a:p>
                      <a:pPr algn="l"/>
                      <a:r>
                        <a:rPr sz="1000" b="1">
                          <a:solidFill>
                            <a:srgbClr val="FFFFFF"/>
                          </a:solidFill>
                          <a:latin typeface="Calibri"/>
                        </a:rPr>
                        <a:t>Feature set</a:t>
                      </a:r>
                    </a:p>
                  </a:txBody>
                  <a:tcPr marL="64008" marR="64008" marT="9144" marB="9144" anchor="ctr">
                    <a:solidFill>
                      <a:srgbClr val="1A1A1A"/>
                    </a:solidFill>
                  </a:tcPr>
                </a:tc>
                <a:tc>
                  <a:txBody>
                    <a:bodyPr/>
                    <a:lstStyle/>
                    <a:p>
                      <a:pPr algn="r"/>
                      <a:r>
                        <a:rPr sz="1000" b="1">
                          <a:solidFill>
                            <a:srgbClr val="FFFFFF"/>
                          </a:solidFill>
                          <a:latin typeface="Calibri"/>
                        </a:rPr>
                        <a:t>CV PR-AUC</a:t>
                      </a:r>
                    </a:p>
                  </a:txBody>
                  <a:tcPr marL="64008" marR="64008" marT="9144" marB="9144" anchor="ctr">
                    <a:solidFill>
                      <a:srgbClr val="1A1A1A"/>
                    </a:solidFill>
                  </a:tcPr>
                </a:tc>
                <a:tc>
                  <a:txBody>
                    <a:bodyPr/>
                    <a:lstStyle/>
                    <a:p>
                      <a:pPr algn="r"/>
                      <a:r>
                        <a:rPr sz="1000" b="1">
                          <a:solidFill>
                            <a:srgbClr val="FFFFFF"/>
                          </a:solidFill>
                          <a:latin typeface="Calibri"/>
                        </a:rPr>
                        <a:t>Columns</a:t>
                      </a:r>
                    </a:p>
                  </a:txBody>
                  <a:tcPr marL="64008" marR="64008" marT="9144" marB="9144" anchor="ctr">
                    <a:solidFill>
                      <a:srgbClr val="1A1A1A"/>
                    </a:solidFill>
                  </a:tcPr>
                </a:tc>
                <a:extLst>
                  <a:ext uri="{0D108BD9-81ED-4DB2-BD59-A6C34878D82A}">
                    <a16:rowId xmlns:a16="http://schemas.microsoft.com/office/drawing/2014/main" val="10000"/>
                  </a:ext>
                </a:extLst>
              </a:tr>
              <a:tr h="320040">
                <a:tc>
                  <a:txBody>
                    <a:bodyPr/>
                    <a:lstStyle/>
                    <a:p>
                      <a:pPr algn="l"/>
                      <a:r>
                        <a:rPr sz="1100" b="0">
                          <a:solidFill>
                            <a:srgbClr val="1A1A1A"/>
                          </a:solidFill>
                          <a:latin typeface="Calibri"/>
                        </a:rPr>
                        <a:t>Every raw feature</a:t>
                      </a:r>
                    </a:p>
                  </a:txBody>
                  <a:tcPr marL="64008" marR="64008" marT="9144" marB="9144" anchor="ctr">
                    <a:solidFill>
                      <a:srgbClr val="FFFFFF"/>
                    </a:solidFill>
                  </a:tcPr>
                </a:tc>
                <a:tc>
                  <a:txBody>
                    <a:bodyPr/>
                    <a:lstStyle/>
                    <a:p>
                      <a:pPr algn="r"/>
                      <a:r>
                        <a:rPr sz="1100" b="0">
                          <a:solidFill>
                            <a:srgbClr val="595959"/>
                          </a:solidFill>
                          <a:latin typeface="Calibri"/>
                        </a:rPr>
                        <a:t>0.817</a:t>
                      </a:r>
                    </a:p>
                  </a:txBody>
                  <a:tcPr marL="64008" marR="64008" marT="9144" marB="9144" anchor="ctr">
                    <a:solidFill>
                      <a:srgbClr val="FFFFFF"/>
                    </a:solidFill>
                  </a:tcPr>
                </a:tc>
                <a:tc>
                  <a:txBody>
                    <a:bodyPr/>
                    <a:lstStyle/>
                    <a:p>
                      <a:pPr algn="r"/>
                      <a:r>
                        <a:rPr sz="1100" b="0">
                          <a:solidFill>
                            <a:srgbClr val="595959"/>
                          </a:solidFill>
                          <a:latin typeface="Calibri"/>
                        </a:rPr>
                        <a:t>215</a:t>
                      </a:r>
                    </a:p>
                  </a:txBody>
                  <a:tcPr marL="64008" marR="64008" marT="9144" marB="9144" anchor="ctr">
                    <a:solidFill>
                      <a:srgbClr val="FFFFFF"/>
                    </a:solidFill>
                  </a:tcPr>
                </a:tc>
                <a:extLst>
                  <a:ext uri="{0D108BD9-81ED-4DB2-BD59-A6C34878D82A}">
                    <a16:rowId xmlns:a16="http://schemas.microsoft.com/office/drawing/2014/main" val="10001"/>
                  </a:ext>
                </a:extLst>
              </a:tr>
              <a:tr h="320040">
                <a:tc>
                  <a:txBody>
                    <a:bodyPr/>
                    <a:lstStyle/>
                    <a:p>
                      <a:pPr algn="l"/>
                      <a:r>
                        <a:rPr sz="1100" b="1">
                          <a:solidFill>
                            <a:srgbClr val="1A1A1A"/>
                          </a:solidFill>
                          <a:latin typeface="Calibri"/>
                        </a:rPr>
                        <a:t>Engineered and selected</a:t>
                      </a:r>
                    </a:p>
                  </a:txBody>
                  <a:tcPr marL="64008" marR="64008" marT="9144" marB="9144" anchor="ctr">
                    <a:solidFill>
                      <a:srgbClr val="FFF3CC"/>
                    </a:solidFill>
                  </a:tcPr>
                </a:tc>
                <a:tc>
                  <a:txBody>
                    <a:bodyPr/>
                    <a:lstStyle/>
                    <a:p>
                      <a:pPr algn="r"/>
                      <a:r>
                        <a:rPr sz="1100" b="1">
                          <a:solidFill>
                            <a:srgbClr val="1A1A1A"/>
                          </a:solidFill>
                          <a:latin typeface="Calibri"/>
                        </a:rPr>
                        <a:t>0.819</a:t>
                      </a:r>
                    </a:p>
                  </a:txBody>
                  <a:tcPr marL="64008" marR="64008" marT="9144" marB="9144" anchor="ctr">
                    <a:solidFill>
                      <a:srgbClr val="FFF3CC"/>
                    </a:solidFill>
                  </a:tcPr>
                </a:tc>
                <a:tc>
                  <a:txBody>
                    <a:bodyPr/>
                    <a:lstStyle/>
                    <a:p>
                      <a:pPr algn="r"/>
                      <a:r>
                        <a:rPr sz="1100" b="1">
                          <a:solidFill>
                            <a:srgbClr val="1A1A1A"/>
                          </a:solidFill>
                          <a:latin typeface="Calibri"/>
                        </a:rPr>
                        <a:t>84</a:t>
                      </a:r>
                    </a:p>
                  </a:txBody>
                  <a:tcPr marL="64008" marR="64008" marT="9144" marB="9144" anchor="ctr">
                    <a:solidFill>
                      <a:srgbClr val="FFF3CC"/>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566928" y="5760720"/>
            <a:ext cx="6309360" cy="320040"/>
          </a:xfrm>
          <a:prstGeom prst="rect">
            <a:avLst/>
          </a:prstGeom>
          <a:noFill/>
        </p:spPr>
        <p:txBody>
          <a:bodyPr wrap="square" lIns="0" tIns="0" rIns="0" bIns="0">
            <a:spAutoFit/>
          </a:bodyPr>
          <a:lstStyle/>
          <a:p>
            <a:pPr algn="l">
              <a:spcAft>
                <a:spcPts val="600"/>
              </a:spcAft>
            </a:pPr>
            <a:r>
              <a:rPr sz="1000" b="0">
                <a:solidFill>
                  <a:srgbClr val="767676"/>
                </a:solidFill>
                <a:latin typeface="Calibri"/>
              </a:rPr>
              <a:t>215, not the 216 on the last slide. The difference is the pressure score, now gone.</a:t>
            </a:r>
          </a:p>
        </p:txBody>
      </p:sp>
      <p:pic>
        <p:nvPicPr>
          <p:cNvPr id="8" name="Picture 7" descr="pca_scree.png"/>
          <p:cNvPicPr>
            <a:picLocks noChangeAspect="1"/>
          </p:cNvPicPr>
          <p:nvPr/>
        </p:nvPicPr>
        <p:blipFill>
          <a:blip r:embed="rId2"/>
          <a:stretch>
            <a:fillRect/>
          </a:stretch>
        </p:blipFill>
        <p:spPr>
          <a:xfrm>
            <a:off x="7543800" y="2286000"/>
            <a:ext cx="3840480" cy="2560320"/>
          </a:xfrm>
          <a:prstGeom prst="rect">
            <a:avLst/>
          </a:prstGeom>
        </p:spPr>
      </p:pic>
      <p:sp>
        <p:nvSpPr>
          <p:cNvPr id="9" name="TextBox 8"/>
          <p:cNvSpPr txBox="1"/>
          <p:nvPr/>
        </p:nvSpPr>
        <p:spPr>
          <a:xfrm>
            <a:off x="7543800" y="4983480"/>
            <a:ext cx="4023360" cy="1097280"/>
          </a:xfrm>
          <a:prstGeom prst="rect">
            <a:avLst/>
          </a:prstGeom>
          <a:noFill/>
        </p:spPr>
        <p:txBody>
          <a:bodyPr wrap="square" lIns="0" tIns="0" rIns="0" bIns="0">
            <a:spAutoFit/>
          </a:bodyPr>
          <a:lstStyle/>
          <a:p>
            <a:pPr algn="l">
              <a:lnSpc>
                <a:spcPct val="120000"/>
              </a:lnSpc>
              <a:spcAft>
                <a:spcPts val="600"/>
              </a:spcAft>
            </a:pPr>
            <a:r>
              <a:rPr sz="1200" b="0">
                <a:solidFill>
                  <a:srgbClr val="595959"/>
                </a:solidFill>
                <a:latin typeface="Calibri"/>
              </a:rPr>
              <a:t>PCA needs seven of its nine parts to reach 90 percent of the variance, so there is nothing to compress, which matches the low VIF, and it rides into Step 4 as a seventh model rather than a chart nobody uses.</a:t>
            </a:r>
          </a:p>
        </p:txBody>
      </p:sp>
      <p:sp>
        <p:nvSpPr>
          <p:cNvPr id="10" name="TextBox 9"/>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Sixty percent of the columns are gone and the score went slightly up, so the result is 131 columns cut for free.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Seven models, and whether the lead is real</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Tuned by cross-validation on five held-out slices of the training set, with the test set scored once.</a:t>
            </a:r>
          </a:p>
        </p:txBody>
      </p:sp>
      <p:graphicFrame>
        <p:nvGraphicFramePr>
          <p:cNvPr id="4" name="Table 3"/>
          <p:cNvGraphicFramePr>
            <a:graphicFrameLocks noGrp="1"/>
          </p:cNvGraphicFramePr>
          <p:nvPr/>
        </p:nvGraphicFramePr>
        <p:xfrm>
          <a:off x="566928" y="1645920"/>
          <a:ext cx="5760719" cy="2633472"/>
        </p:xfrm>
        <a:graphic>
          <a:graphicData uri="http://schemas.openxmlformats.org/drawingml/2006/table">
            <a:tbl>
              <a:tblPr>
                <a:tableStyleId>{5C22544A-7EE6-4342-B048-85BDC9FD1C3A}</a:tableStyleId>
              </a:tblPr>
              <a:tblGrid>
                <a:gridCol w="2560320">
                  <a:extLst>
                    <a:ext uri="{9D8B030D-6E8A-4147-A177-3AD203B41FA5}">
                      <a16:colId xmlns:a16="http://schemas.microsoft.com/office/drawing/2014/main" val="20000"/>
                    </a:ext>
                  </a:extLst>
                </a:gridCol>
                <a:gridCol w="1083212">
                  <a:extLst>
                    <a:ext uri="{9D8B030D-6E8A-4147-A177-3AD203B41FA5}">
                      <a16:colId xmlns:a16="http://schemas.microsoft.com/office/drawing/2014/main" val="20001"/>
                    </a:ext>
                  </a:extLst>
                </a:gridCol>
                <a:gridCol w="1132449">
                  <a:extLst>
                    <a:ext uri="{9D8B030D-6E8A-4147-A177-3AD203B41FA5}">
                      <a16:colId xmlns:a16="http://schemas.microsoft.com/office/drawing/2014/main" val="20002"/>
                    </a:ext>
                  </a:extLst>
                </a:gridCol>
                <a:gridCol w="984738">
                  <a:extLst>
                    <a:ext uri="{9D8B030D-6E8A-4147-A177-3AD203B41FA5}">
                      <a16:colId xmlns:a16="http://schemas.microsoft.com/office/drawing/2014/main" val="20003"/>
                    </a:ext>
                  </a:extLst>
                </a:gridCol>
              </a:tblGrid>
              <a:tr h="329184">
                <a:tc>
                  <a:txBody>
                    <a:bodyPr/>
                    <a:lstStyle/>
                    <a:p>
                      <a:pPr algn="l"/>
                      <a:r>
                        <a:rPr sz="1000" b="1">
                          <a:solidFill>
                            <a:srgbClr val="FFFFFF"/>
                          </a:solidFill>
                          <a:latin typeface="Calibri"/>
                        </a:rPr>
                        <a:t>Model</a:t>
                      </a:r>
                    </a:p>
                  </a:txBody>
                  <a:tcPr marL="64008" marR="64008" marT="9144" marB="9144" anchor="ctr">
                    <a:solidFill>
                      <a:srgbClr val="1A1A1A"/>
                    </a:solidFill>
                  </a:tcPr>
                </a:tc>
                <a:tc>
                  <a:txBody>
                    <a:bodyPr/>
                    <a:lstStyle/>
                    <a:p>
                      <a:pPr algn="r"/>
                      <a:r>
                        <a:rPr sz="1000" b="1">
                          <a:solidFill>
                            <a:srgbClr val="FFFFFF"/>
                          </a:solidFill>
                          <a:latin typeface="Calibri"/>
                        </a:rPr>
                        <a:t>CV PR-AUC</a:t>
                      </a:r>
                    </a:p>
                  </a:txBody>
                  <a:tcPr marL="64008" marR="64008" marT="9144" marB="9144" anchor="ctr">
                    <a:solidFill>
                      <a:srgbClr val="1A1A1A"/>
                    </a:solidFill>
                  </a:tcPr>
                </a:tc>
                <a:tc>
                  <a:txBody>
                    <a:bodyPr/>
                    <a:lstStyle/>
                    <a:p>
                      <a:pPr algn="r"/>
                      <a:r>
                        <a:rPr sz="1000" b="1">
                          <a:solidFill>
                            <a:srgbClr val="FFFFFF"/>
                          </a:solidFill>
                          <a:latin typeface="Calibri"/>
                        </a:rPr>
                        <a:t>Test PR-AUC</a:t>
                      </a:r>
                    </a:p>
                  </a:txBody>
                  <a:tcPr marL="64008" marR="64008" marT="9144" marB="9144" anchor="ctr">
                    <a:solidFill>
                      <a:srgbClr val="1A1A1A"/>
                    </a:solidFill>
                  </a:tcPr>
                </a:tc>
                <a:tc>
                  <a:txBody>
                    <a:bodyPr/>
                    <a:lstStyle/>
                    <a:p>
                      <a:pPr algn="r"/>
                      <a:r>
                        <a:rPr sz="1000" b="1">
                          <a:solidFill>
                            <a:srgbClr val="FFFFFF"/>
                          </a:solidFill>
                          <a:latin typeface="Calibri"/>
                        </a:rPr>
                        <a:t>ROC-AUC</a:t>
                      </a:r>
                    </a:p>
                  </a:txBody>
                  <a:tcPr marL="64008" marR="64008" marT="9144" marB="9144" anchor="ctr">
                    <a:solidFill>
                      <a:srgbClr val="1A1A1A"/>
                    </a:solidFill>
                  </a:tcPr>
                </a:tc>
                <a:extLst>
                  <a:ext uri="{0D108BD9-81ED-4DB2-BD59-A6C34878D82A}">
                    <a16:rowId xmlns:a16="http://schemas.microsoft.com/office/drawing/2014/main" val="10000"/>
                  </a:ext>
                </a:extLst>
              </a:tr>
              <a:tr h="329184">
                <a:tc>
                  <a:txBody>
                    <a:bodyPr/>
                    <a:lstStyle/>
                    <a:p>
                      <a:pPr algn="l"/>
                      <a:r>
                        <a:rPr sz="1100" b="0">
                          <a:solidFill>
                            <a:srgbClr val="1A1A1A"/>
                          </a:solidFill>
                          <a:latin typeface="Calibri"/>
                        </a:rPr>
                        <a:t>XGBoost</a:t>
                      </a:r>
                    </a:p>
                  </a:txBody>
                  <a:tcPr marL="64008" marR="64008" marT="9144" marB="9144" anchor="ctr">
                    <a:solidFill>
                      <a:srgbClr val="FFFFFF"/>
                    </a:solidFill>
                  </a:tcPr>
                </a:tc>
                <a:tc>
                  <a:txBody>
                    <a:bodyPr/>
                    <a:lstStyle/>
                    <a:p>
                      <a:pPr algn="r"/>
                      <a:r>
                        <a:rPr sz="1100" b="0">
                          <a:solidFill>
                            <a:srgbClr val="595959"/>
                          </a:solidFill>
                          <a:latin typeface="Calibri"/>
                        </a:rPr>
                        <a:t>0.824</a:t>
                      </a:r>
                    </a:p>
                  </a:txBody>
                  <a:tcPr marL="64008" marR="64008" marT="9144" marB="9144" anchor="ctr">
                    <a:solidFill>
                      <a:srgbClr val="FFFFFF"/>
                    </a:solidFill>
                  </a:tcPr>
                </a:tc>
                <a:tc>
                  <a:txBody>
                    <a:bodyPr/>
                    <a:lstStyle/>
                    <a:p>
                      <a:pPr algn="r"/>
                      <a:r>
                        <a:rPr sz="1100" b="0">
                          <a:solidFill>
                            <a:srgbClr val="595959"/>
                          </a:solidFill>
                          <a:latin typeface="Calibri"/>
                        </a:rPr>
                        <a:t>0.828</a:t>
                      </a:r>
                    </a:p>
                  </a:txBody>
                  <a:tcPr marL="64008" marR="64008" marT="9144" marB="9144" anchor="ctr">
                    <a:solidFill>
                      <a:srgbClr val="FFFFFF"/>
                    </a:solidFill>
                  </a:tcPr>
                </a:tc>
                <a:tc>
                  <a:txBody>
                    <a:bodyPr/>
                    <a:lstStyle/>
                    <a:p>
                      <a:pPr algn="r"/>
                      <a:r>
                        <a:rPr sz="1100" b="0">
                          <a:solidFill>
                            <a:srgbClr val="595959"/>
                          </a:solidFill>
                          <a:latin typeface="Calibri"/>
                        </a:rPr>
                        <a:t>0.857</a:t>
                      </a:r>
                    </a:p>
                  </a:txBody>
                  <a:tcPr marL="64008" marR="64008" marT="9144" marB="9144" anchor="ctr">
                    <a:solidFill>
                      <a:srgbClr val="FFFFFF"/>
                    </a:solidFill>
                  </a:tcPr>
                </a:tc>
                <a:extLst>
                  <a:ext uri="{0D108BD9-81ED-4DB2-BD59-A6C34878D82A}">
                    <a16:rowId xmlns:a16="http://schemas.microsoft.com/office/drawing/2014/main" val="10001"/>
                  </a:ext>
                </a:extLst>
              </a:tr>
              <a:tr h="329184">
                <a:tc>
                  <a:txBody>
                    <a:bodyPr/>
                    <a:lstStyle/>
                    <a:p>
                      <a:pPr algn="l"/>
                      <a:r>
                        <a:rPr sz="1100" b="0">
                          <a:solidFill>
                            <a:srgbClr val="1A1A1A"/>
                          </a:solidFill>
                          <a:latin typeface="Calibri"/>
                        </a:rPr>
                        <a:t>Random forest</a:t>
                      </a:r>
                    </a:p>
                  </a:txBody>
                  <a:tcPr marL="64008" marR="64008" marT="9144" marB="9144" anchor="ctr">
                    <a:solidFill>
                      <a:srgbClr val="F2F2F2"/>
                    </a:solidFill>
                  </a:tcPr>
                </a:tc>
                <a:tc>
                  <a:txBody>
                    <a:bodyPr/>
                    <a:lstStyle/>
                    <a:p>
                      <a:pPr algn="r"/>
                      <a:r>
                        <a:rPr sz="1100" b="0">
                          <a:solidFill>
                            <a:srgbClr val="595959"/>
                          </a:solidFill>
                          <a:latin typeface="Calibri"/>
                        </a:rPr>
                        <a:t>0.820</a:t>
                      </a:r>
                    </a:p>
                  </a:txBody>
                  <a:tcPr marL="64008" marR="64008" marT="9144" marB="9144" anchor="ctr">
                    <a:solidFill>
                      <a:srgbClr val="F2F2F2"/>
                    </a:solidFill>
                  </a:tcPr>
                </a:tc>
                <a:tc>
                  <a:txBody>
                    <a:bodyPr/>
                    <a:lstStyle/>
                    <a:p>
                      <a:pPr algn="r"/>
                      <a:r>
                        <a:rPr sz="1100" b="0">
                          <a:solidFill>
                            <a:srgbClr val="595959"/>
                          </a:solidFill>
                          <a:latin typeface="Calibri"/>
                        </a:rPr>
                        <a:t>0.823</a:t>
                      </a:r>
                    </a:p>
                  </a:txBody>
                  <a:tcPr marL="64008" marR="64008" marT="9144" marB="9144" anchor="ctr">
                    <a:solidFill>
                      <a:srgbClr val="F2F2F2"/>
                    </a:solidFill>
                  </a:tcPr>
                </a:tc>
                <a:tc>
                  <a:txBody>
                    <a:bodyPr/>
                    <a:lstStyle/>
                    <a:p>
                      <a:pPr algn="r"/>
                      <a:r>
                        <a:rPr sz="1100" b="0">
                          <a:solidFill>
                            <a:srgbClr val="595959"/>
                          </a:solidFill>
                          <a:latin typeface="Calibri"/>
                        </a:rPr>
                        <a:t>0.855</a:t>
                      </a:r>
                    </a:p>
                  </a:txBody>
                  <a:tcPr marL="64008" marR="64008" marT="9144" marB="9144" anchor="ctr">
                    <a:solidFill>
                      <a:srgbClr val="F2F2F2"/>
                    </a:solidFill>
                  </a:tcPr>
                </a:tc>
                <a:extLst>
                  <a:ext uri="{0D108BD9-81ED-4DB2-BD59-A6C34878D82A}">
                    <a16:rowId xmlns:a16="http://schemas.microsoft.com/office/drawing/2014/main" val="10002"/>
                  </a:ext>
                </a:extLst>
              </a:tr>
              <a:tr h="329184">
                <a:tc>
                  <a:txBody>
                    <a:bodyPr/>
                    <a:lstStyle/>
                    <a:p>
                      <a:pPr algn="l"/>
                      <a:r>
                        <a:rPr sz="1100" b="1">
                          <a:solidFill>
                            <a:srgbClr val="1A1A1A"/>
                          </a:solidFill>
                          <a:latin typeface="Calibri"/>
                        </a:rPr>
                        <a:t>Logistic regression</a:t>
                      </a:r>
                    </a:p>
                  </a:txBody>
                  <a:tcPr marL="64008" marR="64008" marT="9144" marB="9144" anchor="ctr">
                    <a:solidFill>
                      <a:srgbClr val="FFF3CC"/>
                    </a:solidFill>
                  </a:tcPr>
                </a:tc>
                <a:tc>
                  <a:txBody>
                    <a:bodyPr/>
                    <a:lstStyle/>
                    <a:p>
                      <a:pPr algn="r"/>
                      <a:r>
                        <a:rPr sz="1100" b="1">
                          <a:solidFill>
                            <a:srgbClr val="1A1A1A"/>
                          </a:solidFill>
                          <a:latin typeface="Calibri"/>
                        </a:rPr>
                        <a:t>0.819</a:t>
                      </a:r>
                    </a:p>
                  </a:txBody>
                  <a:tcPr marL="64008" marR="64008" marT="9144" marB="9144" anchor="ctr">
                    <a:solidFill>
                      <a:srgbClr val="FFF3CC"/>
                    </a:solidFill>
                  </a:tcPr>
                </a:tc>
                <a:tc>
                  <a:txBody>
                    <a:bodyPr/>
                    <a:lstStyle/>
                    <a:p>
                      <a:pPr algn="r"/>
                      <a:r>
                        <a:rPr sz="1100" b="1">
                          <a:solidFill>
                            <a:srgbClr val="1A1A1A"/>
                          </a:solidFill>
                          <a:latin typeface="Calibri"/>
                        </a:rPr>
                        <a:t>0.822</a:t>
                      </a:r>
                    </a:p>
                  </a:txBody>
                  <a:tcPr marL="64008" marR="64008" marT="9144" marB="9144" anchor="ctr">
                    <a:solidFill>
                      <a:srgbClr val="FFF3CC"/>
                    </a:solidFill>
                  </a:tcPr>
                </a:tc>
                <a:tc>
                  <a:txBody>
                    <a:bodyPr/>
                    <a:lstStyle/>
                    <a:p>
                      <a:pPr algn="r"/>
                      <a:r>
                        <a:rPr sz="1100" b="1">
                          <a:solidFill>
                            <a:srgbClr val="1A1A1A"/>
                          </a:solidFill>
                          <a:latin typeface="Calibri"/>
                        </a:rPr>
                        <a:t>0.851</a:t>
                      </a:r>
                    </a:p>
                  </a:txBody>
                  <a:tcPr marL="64008" marR="64008" marT="9144" marB="9144" anchor="ctr">
                    <a:solidFill>
                      <a:srgbClr val="FFF3CC"/>
                    </a:solidFill>
                  </a:tcPr>
                </a:tc>
                <a:extLst>
                  <a:ext uri="{0D108BD9-81ED-4DB2-BD59-A6C34878D82A}">
                    <a16:rowId xmlns:a16="http://schemas.microsoft.com/office/drawing/2014/main" val="10003"/>
                  </a:ext>
                </a:extLst>
              </a:tr>
              <a:tr h="329184">
                <a:tc>
                  <a:txBody>
                    <a:bodyPr/>
                    <a:lstStyle/>
                    <a:p>
                      <a:pPr algn="l"/>
                      <a:r>
                        <a:rPr sz="1100" b="0">
                          <a:solidFill>
                            <a:srgbClr val="1A1A1A"/>
                          </a:solidFill>
                          <a:latin typeface="Calibri"/>
                        </a:rPr>
                        <a:t>Logistic regression + PCA</a:t>
                      </a:r>
                    </a:p>
                  </a:txBody>
                  <a:tcPr marL="64008" marR="64008" marT="9144" marB="9144" anchor="ctr">
                    <a:solidFill>
                      <a:srgbClr val="F2F2F2"/>
                    </a:solidFill>
                  </a:tcPr>
                </a:tc>
                <a:tc>
                  <a:txBody>
                    <a:bodyPr/>
                    <a:lstStyle/>
                    <a:p>
                      <a:pPr algn="r"/>
                      <a:r>
                        <a:rPr sz="1100" b="0">
                          <a:solidFill>
                            <a:srgbClr val="595959"/>
                          </a:solidFill>
                          <a:latin typeface="Calibri"/>
                        </a:rPr>
                        <a:t>0.818</a:t>
                      </a:r>
                    </a:p>
                  </a:txBody>
                  <a:tcPr marL="64008" marR="64008" marT="9144" marB="9144" anchor="ctr">
                    <a:solidFill>
                      <a:srgbClr val="F2F2F2"/>
                    </a:solidFill>
                  </a:tcPr>
                </a:tc>
                <a:tc>
                  <a:txBody>
                    <a:bodyPr/>
                    <a:lstStyle/>
                    <a:p>
                      <a:pPr algn="r"/>
                      <a:r>
                        <a:rPr sz="1100" b="0">
                          <a:solidFill>
                            <a:srgbClr val="595959"/>
                          </a:solidFill>
                          <a:latin typeface="Calibri"/>
                        </a:rPr>
                        <a:t>0.821</a:t>
                      </a:r>
                    </a:p>
                  </a:txBody>
                  <a:tcPr marL="64008" marR="64008" marT="9144" marB="9144" anchor="ctr">
                    <a:solidFill>
                      <a:srgbClr val="F2F2F2"/>
                    </a:solidFill>
                  </a:tcPr>
                </a:tc>
                <a:tc>
                  <a:txBody>
                    <a:bodyPr/>
                    <a:lstStyle/>
                    <a:p>
                      <a:pPr algn="r"/>
                      <a:r>
                        <a:rPr sz="1100" b="0">
                          <a:solidFill>
                            <a:srgbClr val="595959"/>
                          </a:solidFill>
                          <a:latin typeface="Calibri"/>
                        </a:rPr>
                        <a:t>0.852</a:t>
                      </a:r>
                    </a:p>
                  </a:txBody>
                  <a:tcPr marL="64008" marR="64008" marT="9144" marB="9144" anchor="ctr">
                    <a:solidFill>
                      <a:srgbClr val="F2F2F2"/>
                    </a:solidFill>
                  </a:tcPr>
                </a:tc>
                <a:extLst>
                  <a:ext uri="{0D108BD9-81ED-4DB2-BD59-A6C34878D82A}">
                    <a16:rowId xmlns:a16="http://schemas.microsoft.com/office/drawing/2014/main" val="10004"/>
                  </a:ext>
                </a:extLst>
              </a:tr>
              <a:tr h="329184">
                <a:tc>
                  <a:txBody>
                    <a:bodyPr/>
                    <a:lstStyle/>
                    <a:p>
                      <a:pPr algn="l"/>
                      <a:r>
                        <a:rPr sz="1100" b="0">
                          <a:solidFill>
                            <a:srgbClr val="1A1A1A"/>
                          </a:solidFill>
                          <a:latin typeface="Calibri"/>
                        </a:rPr>
                        <a:t>SVM</a:t>
                      </a:r>
                    </a:p>
                  </a:txBody>
                  <a:tcPr marL="64008" marR="64008" marT="9144" marB="9144" anchor="ctr">
                    <a:solidFill>
                      <a:srgbClr val="FFFFFF"/>
                    </a:solidFill>
                  </a:tcPr>
                </a:tc>
                <a:tc>
                  <a:txBody>
                    <a:bodyPr/>
                    <a:lstStyle/>
                    <a:p>
                      <a:pPr algn="r"/>
                      <a:r>
                        <a:rPr sz="1100" b="0">
                          <a:solidFill>
                            <a:srgbClr val="595959"/>
                          </a:solidFill>
                          <a:latin typeface="Calibri"/>
                        </a:rPr>
                        <a:t>0.808</a:t>
                      </a:r>
                    </a:p>
                  </a:txBody>
                  <a:tcPr marL="64008" marR="64008" marT="9144" marB="9144" anchor="ctr">
                    <a:solidFill>
                      <a:srgbClr val="FFFFFF"/>
                    </a:solidFill>
                  </a:tcPr>
                </a:tc>
                <a:tc>
                  <a:txBody>
                    <a:bodyPr/>
                    <a:lstStyle/>
                    <a:p>
                      <a:pPr algn="r"/>
                      <a:r>
                        <a:rPr sz="1100" b="0">
                          <a:solidFill>
                            <a:srgbClr val="595959"/>
                          </a:solidFill>
                          <a:latin typeface="Calibri"/>
                        </a:rPr>
                        <a:t>0.817</a:t>
                      </a:r>
                    </a:p>
                  </a:txBody>
                  <a:tcPr marL="64008" marR="64008" marT="9144" marB="9144" anchor="ctr">
                    <a:solidFill>
                      <a:srgbClr val="FFFFFF"/>
                    </a:solidFill>
                  </a:tcPr>
                </a:tc>
                <a:tc>
                  <a:txBody>
                    <a:bodyPr/>
                    <a:lstStyle/>
                    <a:p>
                      <a:pPr algn="r"/>
                      <a:r>
                        <a:rPr sz="1100" b="0">
                          <a:solidFill>
                            <a:srgbClr val="595959"/>
                          </a:solidFill>
                          <a:latin typeface="Calibri"/>
                        </a:rPr>
                        <a:t>0.858</a:t>
                      </a:r>
                    </a:p>
                  </a:txBody>
                  <a:tcPr marL="64008" marR="64008" marT="9144" marB="9144" anchor="ctr">
                    <a:solidFill>
                      <a:srgbClr val="FFFFFF"/>
                    </a:solidFill>
                  </a:tcPr>
                </a:tc>
                <a:extLst>
                  <a:ext uri="{0D108BD9-81ED-4DB2-BD59-A6C34878D82A}">
                    <a16:rowId xmlns:a16="http://schemas.microsoft.com/office/drawing/2014/main" val="10005"/>
                  </a:ext>
                </a:extLst>
              </a:tr>
              <a:tr h="329184">
                <a:tc>
                  <a:txBody>
                    <a:bodyPr/>
                    <a:lstStyle/>
                    <a:p>
                      <a:pPr algn="l"/>
                      <a:r>
                        <a:rPr sz="1100" b="0">
                          <a:solidFill>
                            <a:srgbClr val="1A1A1A"/>
                          </a:solidFill>
                          <a:latin typeface="Calibri"/>
                        </a:rPr>
                        <a:t>MLP (neural net)</a:t>
                      </a:r>
                    </a:p>
                  </a:txBody>
                  <a:tcPr marL="64008" marR="64008" marT="9144" marB="9144" anchor="ctr">
                    <a:solidFill>
                      <a:srgbClr val="F2F2F2"/>
                    </a:solidFill>
                  </a:tcPr>
                </a:tc>
                <a:tc>
                  <a:txBody>
                    <a:bodyPr/>
                    <a:lstStyle/>
                    <a:p>
                      <a:pPr algn="r"/>
                      <a:r>
                        <a:rPr sz="1100" b="0">
                          <a:solidFill>
                            <a:srgbClr val="595959"/>
                          </a:solidFill>
                          <a:latin typeface="Calibri"/>
                        </a:rPr>
                        <a:t>0.752</a:t>
                      </a:r>
                    </a:p>
                  </a:txBody>
                  <a:tcPr marL="64008" marR="64008" marT="9144" marB="9144" anchor="ctr">
                    <a:solidFill>
                      <a:srgbClr val="F2F2F2"/>
                    </a:solidFill>
                  </a:tcPr>
                </a:tc>
                <a:tc>
                  <a:txBody>
                    <a:bodyPr/>
                    <a:lstStyle/>
                    <a:p>
                      <a:pPr algn="r"/>
                      <a:r>
                        <a:rPr sz="1100" b="0">
                          <a:solidFill>
                            <a:srgbClr val="595959"/>
                          </a:solidFill>
                          <a:latin typeface="Calibri"/>
                        </a:rPr>
                        <a:t>0.753</a:t>
                      </a:r>
                    </a:p>
                  </a:txBody>
                  <a:tcPr marL="64008" marR="64008" marT="9144" marB="9144" anchor="ctr">
                    <a:solidFill>
                      <a:srgbClr val="F2F2F2"/>
                    </a:solidFill>
                  </a:tcPr>
                </a:tc>
                <a:tc>
                  <a:txBody>
                    <a:bodyPr/>
                    <a:lstStyle/>
                    <a:p>
                      <a:pPr algn="r"/>
                      <a:r>
                        <a:rPr sz="1100" b="0">
                          <a:solidFill>
                            <a:srgbClr val="595959"/>
                          </a:solidFill>
                          <a:latin typeface="Calibri"/>
                        </a:rPr>
                        <a:t>0.798</a:t>
                      </a:r>
                    </a:p>
                  </a:txBody>
                  <a:tcPr marL="64008" marR="64008" marT="9144" marB="9144" anchor="ctr">
                    <a:solidFill>
                      <a:srgbClr val="F2F2F2"/>
                    </a:solidFill>
                  </a:tcPr>
                </a:tc>
                <a:extLst>
                  <a:ext uri="{0D108BD9-81ED-4DB2-BD59-A6C34878D82A}">
                    <a16:rowId xmlns:a16="http://schemas.microsoft.com/office/drawing/2014/main" val="10006"/>
                  </a:ext>
                </a:extLst>
              </a:tr>
              <a:tr h="329184">
                <a:tc>
                  <a:txBody>
                    <a:bodyPr/>
                    <a:lstStyle/>
                    <a:p>
                      <a:pPr algn="l"/>
                      <a:r>
                        <a:rPr sz="1100" b="0">
                          <a:solidFill>
                            <a:srgbClr val="1A1A1A"/>
                          </a:solidFill>
                          <a:latin typeface="Calibri"/>
                        </a:rPr>
                        <a:t>Decision tree</a:t>
                      </a:r>
                    </a:p>
                  </a:txBody>
                  <a:tcPr marL="64008" marR="64008" marT="9144" marB="9144" anchor="ctr">
                    <a:solidFill>
                      <a:srgbClr val="FFFFFF"/>
                    </a:solidFill>
                  </a:tcPr>
                </a:tc>
                <a:tc>
                  <a:txBody>
                    <a:bodyPr/>
                    <a:lstStyle/>
                    <a:p>
                      <a:pPr algn="r"/>
                      <a:r>
                        <a:rPr sz="1100" b="0">
                          <a:solidFill>
                            <a:srgbClr val="595959"/>
                          </a:solidFill>
                          <a:latin typeface="Calibri"/>
                        </a:rPr>
                        <a:t>0.723</a:t>
                      </a:r>
                    </a:p>
                  </a:txBody>
                  <a:tcPr marL="64008" marR="64008" marT="9144" marB="9144" anchor="ctr">
                    <a:solidFill>
                      <a:srgbClr val="FFFFFF"/>
                    </a:solidFill>
                  </a:tcPr>
                </a:tc>
                <a:tc>
                  <a:txBody>
                    <a:bodyPr/>
                    <a:lstStyle/>
                    <a:p>
                      <a:pPr algn="r"/>
                      <a:r>
                        <a:rPr sz="1100" b="0">
                          <a:solidFill>
                            <a:srgbClr val="595959"/>
                          </a:solidFill>
                          <a:latin typeface="Calibri"/>
                        </a:rPr>
                        <a:t>0.699</a:t>
                      </a:r>
                    </a:p>
                  </a:txBody>
                  <a:tcPr marL="64008" marR="64008" marT="9144" marB="9144" anchor="ctr">
                    <a:solidFill>
                      <a:srgbClr val="FFFFFF"/>
                    </a:solidFill>
                  </a:tcPr>
                </a:tc>
                <a:tc>
                  <a:txBody>
                    <a:bodyPr/>
                    <a:lstStyle/>
                    <a:p>
                      <a:pPr algn="r"/>
                      <a:r>
                        <a:rPr sz="1100" b="0">
                          <a:solidFill>
                            <a:srgbClr val="595959"/>
                          </a:solidFill>
                          <a:latin typeface="Calibri"/>
                        </a:rPr>
                        <a:t>0.762</a:t>
                      </a:r>
                    </a:p>
                  </a:txBody>
                  <a:tcPr marL="64008" marR="64008" marT="9144" marB="9144" anchor="ctr">
                    <a:solidFill>
                      <a:srgbClr val="FFFFFF"/>
                    </a:solidFill>
                  </a:tcPr>
                </a:tc>
                <a:extLst>
                  <a:ext uri="{0D108BD9-81ED-4DB2-BD59-A6C34878D82A}">
                    <a16:rowId xmlns:a16="http://schemas.microsoft.com/office/drawing/2014/main" val="10007"/>
                  </a:ext>
                </a:extLst>
              </a:tr>
            </a:tbl>
          </a:graphicData>
        </a:graphic>
      </p:graphicFrame>
      <p:pic>
        <p:nvPicPr>
          <p:cNvPr id="5" name="Picture 4" descr="model_fold_noise.png"/>
          <p:cNvPicPr>
            <a:picLocks noChangeAspect="1"/>
          </p:cNvPicPr>
          <p:nvPr/>
        </p:nvPicPr>
        <p:blipFill>
          <a:blip r:embed="rId2"/>
          <a:stretch>
            <a:fillRect/>
          </a:stretch>
        </p:blipFill>
        <p:spPr>
          <a:xfrm>
            <a:off x="6675120" y="1783080"/>
            <a:ext cx="4937760" cy="1851660"/>
          </a:xfrm>
          <a:prstGeom prst="rect">
            <a:avLst/>
          </a:prstGeom>
        </p:spPr>
      </p:pic>
      <p:sp>
        <p:nvSpPr>
          <p:cNvPr id="6" name="TextBox 5"/>
          <p:cNvSpPr txBox="1"/>
          <p:nvPr/>
        </p:nvSpPr>
        <p:spPr>
          <a:xfrm>
            <a:off x="6675120" y="3703320"/>
            <a:ext cx="4937760" cy="1828800"/>
          </a:xfrm>
          <a:prstGeom prst="rect">
            <a:avLst/>
          </a:prstGeom>
          <a:noFill/>
        </p:spPr>
        <p:txBody>
          <a:bodyPr wrap="square" lIns="0" tIns="0" rIns="0" bIns="0">
            <a:spAutoFit/>
          </a:bodyPr>
          <a:lstStyle/>
          <a:p>
            <a:pPr algn="l">
              <a:lnSpc>
                <a:spcPct val="120000"/>
              </a:lnSpc>
              <a:spcAft>
                <a:spcPts val="700"/>
              </a:spcAft>
            </a:pPr>
            <a:r>
              <a:rPr sz="1300" b="1">
                <a:solidFill>
                  <a:srgbClr val="1A1A1A"/>
                </a:solidFill>
                <a:latin typeface="Calibri"/>
              </a:rPr>
              <a:t>The gap is 0.005. Slices swing by 0.020.</a:t>
            </a:r>
          </a:p>
          <a:p>
            <a:pPr algn="l">
              <a:lnSpc>
                <a:spcPct val="120000"/>
              </a:lnSpc>
              <a:spcAft>
                <a:spcPts val="700"/>
              </a:spcAft>
            </a:pPr>
            <a:r>
              <a:rPr sz="1300" b="0">
                <a:solidFill>
                  <a:srgbClr val="595959"/>
                </a:solidFill>
                <a:latin typeface="Calibri"/>
              </a:rPr>
              <a:t>Each dot is one slice, and the two ranges overlap almost completely, so the gap between the means disappears inside them.</a:t>
            </a:r>
          </a:p>
          <a:p>
            <a:pPr algn="l">
              <a:lnSpc>
                <a:spcPct val="120000"/>
              </a:lnSpc>
              <a:spcAft>
                <a:spcPts val="700"/>
              </a:spcAft>
            </a:pPr>
            <a:r>
              <a:rPr sz="1300" b="0">
                <a:solidFill>
                  <a:srgbClr val="595959"/>
                </a:solidFill>
                <a:latin typeface="Calibri"/>
              </a:rPr>
              <a:t>XGBoost is not better than logistic regression here but only tied with it, and it happened to land on top.</a:t>
            </a:r>
          </a:p>
        </p:txBody>
      </p:sp>
      <p:sp>
        <p:nvSpPr>
          <p:cNvPr id="7" name="TextBox 6"/>
          <p:cNvSpPr txBox="1"/>
          <p:nvPr/>
        </p:nvSpPr>
        <p:spPr>
          <a:xfrm>
            <a:off x="566928" y="4480560"/>
            <a:ext cx="5760720" cy="1645920"/>
          </a:xfrm>
          <a:prstGeom prst="rect">
            <a:avLst/>
          </a:prstGeom>
          <a:noFill/>
        </p:spPr>
        <p:txBody>
          <a:bodyPr wrap="square" lIns="0" tIns="0" rIns="0" bIns="0">
            <a:spAutoFit/>
          </a:bodyPr>
          <a:lstStyle/>
          <a:p>
            <a:pPr algn="l">
              <a:lnSpc>
                <a:spcPct val="120000"/>
              </a:lnSpc>
              <a:spcAft>
                <a:spcPts val="700"/>
              </a:spcAft>
            </a:pPr>
            <a:r>
              <a:rPr sz="1200" b="0">
                <a:solidFill>
                  <a:srgbClr val="595959"/>
                </a:solidFill>
                <a:latin typeface="Calibri"/>
              </a:rPr>
              <a:t>Logistic regression ships, and not because it scores highest. When two models tie, the tiebreak that matters is whether a student can be told why they were flagged.</a:t>
            </a:r>
          </a:p>
          <a:p>
            <a:pPr algn="l">
              <a:lnSpc>
                <a:spcPct val="120000"/>
              </a:lnSpc>
              <a:spcAft>
                <a:spcPts val="700"/>
              </a:spcAft>
            </a:pPr>
            <a:r>
              <a:rPr sz="1200" b="0">
                <a:solidFill>
                  <a:srgbClr val="595959"/>
                </a:solidFill>
                <a:latin typeface="Calibri"/>
              </a:rPr>
              <a:t>PCA lands fourth, a thousandth behind, and a component is a blend of nine columns, so it could never explain a flag in a sentence that means anything.</a:t>
            </a:r>
          </a:p>
        </p:txBody>
      </p:sp>
      <p:sp>
        <p:nvSpPr>
          <p:cNvPr id="8" name="TextBox 7"/>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200" b="0">
                <a:solidFill>
                  <a:srgbClr val="595959"/>
                </a:solidFill>
                <a:latin typeface="Calibri"/>
              </a:rPr>
              <a:t>A gap smaller than the measured noise is not a gap, and this deck has to keep that standard everywhere.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The cutoff nobody chose</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Recall depends on the model and the cutoff together rather than the model alone, and the default cutoff is 0.5, which nobody chose.</a:t>
            </a:r>
          </a:p>
        </p:txBody>
      </p:sp>
      <p:graphicFrame>
        <p:nvGraphicFramePr>
          <p:cNvPr id="4" name="Table 3"/>
          <p:cNvGraphicFramePr>
            <a:graphicFrameLocks noGrp="1"/>
          </p:cNvGraphicFramePr>
          <p:nvPr/>
        </p:nvGraphicFramePr>
        <p:xfrm>
          <a:off x="566928" y="1691640"/>
          <a:ext cx="5669279" cy="1865376"/>
        </p:xfrm>
        <a:graphic>
          <a:graphicData uri="http://schemas.openxmlformats.org/drawingml/2006/table">
            <a:tbl>
              <a:tblPr>
                <a:tableStyleId>{5C22544A-7EE6-4342-B048-85BDC9FD1C3A}</a:tableStyleId>
              </a:tblPr>
              <a:tblGrid>
                <a:gridCol w="1858780">
                  <a:extLst>
                    <a:ext uri="{9D8B030D-6E8A-4147-A177-3AD203B41FA5}">
                      <a16:colId xmlns:a16="http://schemas.microsoft.com/office/drawing/2014/main" val="20000"/>
                    </a:ext>
                  </a:extLst>
                </a:gridCol>
                <a:gridCol w="929390">
                  <a:extLst>
                    <a:ext uri="{9D8B030D-6E8A-4147-A177-3AD203B41FA5}">
                      <a16:colId xmlns:a16="http://schemas.microsoft.com/office/drawing/2014/main" val="20001"/>
                    </a:ext>
                  </a:extLst>
                </a:gridCol>
                <a:gridCol w="929390">
                  <a:extLst>
                    <a:ext uri="{9D8B030D-6E8A-4147-A177-3AD203B41FA5}">
                      <a16:colId xmlns:a16="http://schemas.microsoft.com/office/drawing/2014/main" val="20002"/>
                    </a:ext>
                  </a:extLst>
                </a:gridCol>
                <a:gridCol w="1022329">
                  <a:extLst>
                    <a:ext uri="{9D8B030D-6E8A-4147-A177-3AD203B41FA5}">
                      <a16:colId xmlns:a16="http://schemas.microsoft.com/office/drawing/2014/main" val="20003"/>
                    </a:ext>
                  </a:extLst>
                </a:gridCol>
                <a:gridCol w="929390">
                  <a:extLst>
                    <a:ext uri="{9D8B030D-6E8A-4147-A177-3AD203B41FA5}">
                      <a16:colId xmlns:a16="http://schemas.microsoft.com/office/drawing/2014/main" val="20004"/>
                    </a:ext>
                  </a:extLst>
                </a:gridCol>
              </a:tblGrid>
              <a:tr h="310896">
                <a:tc>
                  <a:txBody>
                    <a:bodyPr/>
                    <a:lstStyle/>
                    <a:p>
                      <a:pPr algn="l"/>
                      <a:r>
                        <a:rPr sz="1000" b="1">
                          <a:solidFill>
                            <a:srgbClr val="FFFFFF"/>
                          </a:solidFill>
                          <a:latin typeface="Calibri"/>
                        </a:rPr>
                        <a:t>Rule</a:t>
                      </a:r>
                    </a:p>
                  </a:txBody>
                  <a:tcPr marL="64008" marR="64008" marT="9144" marB="9144" anchor="ctr">
                    <a:solidFill>
                      <a:srgbClr val="1A1A1A"/>
                    </a:solidFill>
                  </a:tcPr>
                </a:tc>
                <a:tc>
                  <a:txBody>
                    <a:bodyPr/>
                    <a:lstStyle/>
                    <a:p>
                      <a:pPr algn="r"/>
                      <a:r>
                        <a:rPr sz="1000" b="1">
                          <a:solidFill>
                            <a:srgbClr val="FFFFFF"/>
                          </a:solidFill>
                          <a:latin typeface="Calibri"/>
                        </a:rPr>
                        <a:t>Cutoff</a:t>
                      </a:r>
                    </a:p>
                  </a:txBody>
                  <a:tcPr marL="64008" marR="64008" marT="9144" marB="9144" anchor="ctr">
                    <a:solidFill>
                      <a:srgbClr val="1A1A1A"/>
                    </a:solidFill>
                  </a:tcPr>
                </a:tc>
                <a:tc>
                  <a:txBody>
                    <a:bodyPr/>
                    <a:lstStyle/>
                    <a:p>
                      <a:pPr algn="r"/>
                      <a:r>
                        <a:rPr sz="1000" b="1">
                          <a:solidFill>
                            <a:srgbClr val="FFFFFF"/>
                          </a:solidFill>
                          <a:latin typeface="Calibri"/>
                        </a:rPr>
                        <a:t>Recall</a:t>
                      </a:r>
                    </a:p>
                  </a:txBody>
                  <a:tcPr marL="64008" marR="64008" marT="9144" marB="9144" anchor="ctr">
                    <a:solidFill>
                      <a:srgbClr val="1A1A1A"/>
                    </a:solidFill>
                  </a:tcPr>
                </a:tc>
                <a:tc>
                  <a:txBody>
                    <a:bodyPr/>
                    <a:lstStyle/>
                    <a:p>
                      <a:pPr algn="r"/>
                      <a:r>
                        <a:rPr sz="1000" b="1">
                          <a:solidFill>
                            <a:srgbClr val="FFFFFF"/>
                          </a:solidFill>
                          <a:latin typeface="Calibri"/>
                        </a:rPr>
                        <a:t>Precision</a:t>
                      </a:r>
                    </a:p>
                  </a:txBody>
                  <a:tcPr marL="64008" marR="64008" marT="9144" marB="9144" anchor="ctr">
                    <a:solidFill>
                      <a:srgbClr val="1A1A1A"/>
                    </a:solidFill>
                  </a:tcPr>
                </a:tc>
                <a:tc>
                  <a:txBody>
                    <a:bodyPr/>
                    <a:lstStyle/>
                    <a:p>
                      <a:pPr algn="r"/>
                      <a:r>
                        <a:rPr sz="1000" b="1">
                          <a:solidFill>
                            <a:srgbClr val="FFFFFF"/>
                          </a:solidFill>
                          <a:latin typeface="Calibri"/>
                        </a:rPr>
                        <a:t>Flagged</a:t>
                      </a:r>
                    </a:p>
                  </a:txBody>
                  <a:tcPr marL="64008" marR="64008" marT="9144" marB="9144" anchor="ctr">
                    <a:solidFill>
                      <a:srgbClr val="1A1A1A"/>
                    </a:solidFill>
                  </a:tcPr>
                </a:tc>
                <a:extLst>
                  <a:ext uri="{0D108BD9-81ED-4DB2-BD59-A6C34878D82A}">
                    <a16:rowId xmlns:a16="http://schemas.microsoft.com/office/drawing/2014/main" val="10000"/>
                  </a:ext>
                </a:extLst>
              </a:tr>
              <a:tr h="310896">
                <a:tc>
                  <a:txBody>
                    <a:bodyPr/>
                    <a:lstStyle/>
                    <a:p>
                      <a:pPr algn="l"/>
                      <a:r>
                        <a:rPr sz="1100" b="0">
                          <a:solidFill>
                            <a:srgbClr val="1A1A1A"/>
                          </a:solidFill>
                          <a:latin typeface="Calibri"/>
                        </a:rPr>
                        <a:t>Default 0.5</a:t>
                      </a:r>
                    </a:p>
                  </a:txBody>
                  <a:tcPr marL="64008" marR="64008" marT="9144" marB="9144" anchor="ctr">
                    <a:solidFill>
                      <a:srgbClr val="FFFFFF"/>
                    </a:solidFill>
                  </a:tcPr>
                </a:tc>
                <a:tc>
                  <a:txBody>
                    <a:bodyPr/>
                    <a:lstStyle/>
                    <a:p>
                      <a:pPr algn="r"/>
                      <a:r>
                        <a:rPr sz="1100" b="0">
                          <a:solidFill>
                            <a:srgbClr val="595959"/>
                          </a:solidFill>
                          <a:latin typeface="Calibri"/>
                        </a:rPr>
                        <a:t>0.50</a:t>
                      </a:r>
                    </a:p>
                  </a:txBody>
                  <a:tcPr marL="64008" marR="64008" marT="9144" marB="9144" anchor="ctr">
                    <a:solidFill>
                      <a:srgbClr val="FFFFFF"/>
                    </a:solidFill>
                  </a:tcPr>
                </a:tc>
                <a:tc>
                  <a:txBody>
                    <a:bodyPr/>
                    <a:lstStyle/>
                    <a:p>
                      <a:pPr algn="r"/>
                      <a:r>
                        <a:rPr sz="1100" b="0">
                          <a:solidFill>
                            <a:srgbClr val="595959"/>
                          </a:solidFill>
                          <a:latin typeface="Calibri"/>
                        </a:rPr>
                        <a:t>0.750</a:t>
                      </a:r>
                    </a:p>
                  </a:txBody>
                  <a:tcPr marL="64008" marR="64008" marT="9144" marB="9144" anchor="ctr">
                    <a:solidFill>
                      <a:srgbClr val="FFFFFF"/>
                    </a:solidFill>
                  </a:tcPr>
                </a:tc>
                <a:tc>
                  <a:txBody>
                    <a:bodyPr/>
                    <a:lstStyle/>
                    <a:p>
                      <a:pPr algn="r"/>
                      <a:r>
                        <a:rPr sz="1100" b="0">
                          <a:solidFill>
                            <a:srgbClr val="595959"/>
                          </a:solidFill>
                          <a:latin typeface="Calibri"/>
                        </a:rPr>
                        <a:t>0.670</a:t>
                      </a:r>
                    </a:p>
                  </a:txBody>
                  <a:tcPr marL="64008" marR="64008" marT="9144" marB="9144" anchor="ctr">
                    <a:solidFill>
                      <a:srgbClr val="FFFFFF"/>
                    </a:solidFill>
                  </a:tcPr>
                </a:tc>
                <a:tc>
                  <a:txBody>
                    <a:bodyPr/>
                    <a:lstStyle/>
                    <a:p>
                      <a:pPr algn="r"/>
                      <a:r>
                        <a:rPr sz="1100" b="0">
                          <a:solidFill>
                            <a:srgbClr val="595959"/>
                          </a:solidFill>
                          <a:latin typeface="Calibri"/>
                        </a:rPr>
                        <a:t>43.8%</a:t>
                      </a:r>
                    </a:p>
                  </a:txBody>
                  <a:tcPr marL="64008" marR="64008" marT="9144" marB="9144" anchor="ctr">
                    <a:solidFill>
                      <a:srgbClr val="FFFFFF"/>
                    </a:solidFill>
                  </a:tcPr>
                </a:tc>
                <a:extLst>
                  <a:ext uri="{0D108BD9-81ED-4DB2-BD59-A6C34878D82A}">
                    <a16:rowId xmlns:a16="http://schemas.microsoft.com/office/drawing/2014/main" val="10001"/>
                  </a:ext>
                </a:extLst>
              </a:tr>
              <a:tr h="310896">
                <a:tc>
                  <a:txBody>
                    <a:bodyPr/>
                    <a:lstStyle/>
                    <a:p>
                      <a:pPr algn="l"/>
                      <a:r>
                        <a:rPr sz="1100" b="0">
                          <a:solidFill>
                            <a:srgbClr val="1A1A1A"/>
                          </a:solidFill>
                          <a:latin typeface="Calibri"/>
                        </a:rPr>
                        <a:t>Capacity 50%</a:t>
                      </a:r>
                    </a:p>
                  </a:txBody>
                  <a:tcPr marL="64008" marR="64008" marT="9144" marB="9144" anchor="ctr">
                    <a:solidFill>
                      <a:srgbClr val="F2F2F2"/>
                    </a:solidFill>
                  </a:tcPr>
                </a:tc>
                <a:tc>
                  <a:txBody>
                    <a:bodyPr/>
                    <a:lstStyle/>
                    <a:p>
                      <a:pPr algn="r"/>
                      <a:r>
                        <a:rPr sz="1100" b="0">
                          <a:solidFill>
                            <a:srgbClr val="595959"/>
                          </a:solidFill>
                          <a:latin typeface="Calibri"/>
                        </a:rPr>
                        <a:t>0.38</a:t>
                      </a:r>
                    </a:p>
                  </a:txBody>
                  <a:tcPr marL="64008" marR="64008" marT="9144" marB="9144" anchor="ctr">
                    <a:solidFill>
                      <a:srgbClr val="F2F2F2"/>
                    </a:solidFill>
                  </a:tcPr>
                </a:tc>
                <a:tc>
                  <a:txBody>
                    <a:bodyPr/>
                    <a:lstStyle/>
                    <a:p>
                      <a:pPr algn="r"/>
                      <a:r>
                        <a:rPr sz="1100" b="0">
                          <a:solidFill>
                            <a:srgbClr val="595959"/>
                          </a:solidFill>
                          <a:latin typeface="Calibri"/>
                        </a:rPr>
                        <a:t>0.838</a:t>
                      </a:r>
                    </a:p>
                  </a:txBody>
                  <a:tcPr marL="64008" marR="64008" marT="9144" marB="9144" anchor="ctr">
                    <a:solidFill>
                      <a:srgbClr val="F2F2F2"/>
                    </a:solidFill>
                  </a:tcPr>
                </a:tc>
                <a:tc>
                  <a:txBody>
                    <a:bodyPr/>
                    <a:lstStyle/>
                    <a:p>
                      <a:pPr algn="r"/>
                      <a:r>
                        <a:rPr sz="1100" b="0">
                          <a:solidFill>
                            <a:srgbClr val="595959"/>
                          </a:solidFill>
                          <a:latin typeface="Calibri"/>
                        </a:rPr>
                        <a:t>0.609</a:t>
                      </a:r>
                    </a:p>
                  </a:txBody>
                  <a:tcPr marL="64008" marR="64008" marT="9144" marB="9144" anchor="ctr">
                    <a:solidFill>
                      <a:srgbClr val="F2F2F2"/>
                    </a:solidFill>
                  </a:tcPr>
                </a:tc>
                <a:tc>
                  <a:txBody>
                    <a:bodyPr/>
                    <a:lstStyle/>
                    <a:p>
                      <a:pPr algn="r"/>
                      <a:r>
                        <a:rPr sz="1100" b="0">
                          <a:solidFill>
                            <a:srgbClr val="595959"/>
                          </a:solidFill>
                          <a:latin typeface="Calibri"/>
                        </a:rPr>
                        <a:t>53.9%</a:t>
                      </a:r>
                    </a:p>
                  </a:txBody>
                  <a:tcPr marL="64008" marR="64008" marT="9144" marB="9144" anchor="ctr">
                    <a:solidFill>
                      <a:srgbClr val="F2F2F2"/>
                    </a:solidFill>
                  </a:tcPr>
                </a:tc>
                <a:extLst>
                  <a:ext uri="{0D108BD9-81ED-4DB2-BD59-A6C34878D82A}">
                    <a16:rowId xmlns:a16="http://schemas.microsoft.com/office/drawing/2014/main" val="10002"/>
                  </a:ext>
                </a:extLst>
              </a:tr>
              <a:tr h="310896">
                <a:tc>
                  <a:txBody>
                    <a:bodyPr/>
                    <a:lstStyle/>
                    <a:p>
                      <a:pPr algn="l"/>
                      <a:r>
                        <a:rPr sz="1100" b="1">
                          <a:solidFill>
                            <a:srgbClr val="1A1A1A"/>
                          </a:solidFill>
                          <a:latin typeface="Calibri"/>
                        </a:rPr>
                        <a:t>Capacity 45%</a:t>
                      </a:r>
                    </a:p>
                  </a:txBody>
                  <a:tcPr marL="64008" marR="64008" marT="9144" marB="9144" anchor="ctr">
                    <a:solidFill>
                      <a:srgbClr val="FFF3CC"/>
                    </a:solidFill>
                  </a:tcPr>
                </a:tc>
                <a:tc>
                  <a:txBody>
                    <a:bodyPr/>
                    <a:lstStyle/>
                    <a:p>
                      <a:pPr algn="r"/>
                      <a:r>
                        <a:rPr sz="1100" b="1">
                          <a:solidFill>
                            <a:srgbClr val="1A1A1A"/>
                          </a:solidFill>
                          <a:latin typeface="Calibri"/>
                        </a:rPr>
                        <a:t>0.45</a:t>
                      </a:r>
                    </a:p>
                  </a:txBody>
                  <a:tcPr marL="64008" marR="64008" marT="9144" marB="9144" anchor="ctr">
                    <a:solidFill>
                      <a:srgbClr val="FFF3CC"/>
                    </a:solidFill>
                  </a:tcPr>
                </a:tc>
                <a:tc>
                  <a:txBody>
                    <a:bodyPr/>
                    <a:lstStyle/>
                    <a:p>
                      <a:pPr algn="r"/>
                      <a:r>
                        <a:rPr sz="1100" b="1">
                          <a:solidFill>
                            <a:srgbClr val="1A1A1A"/>
                          </a:solidFill>
                          <a:latin typeface="Calibri"/>
                        </a:rPr>
                        <a:t>0.796</a:t>
                      </a:r>
                    </a:p>
                  </a:txBody>
                  <a:tcPr marL="64008" marR="64008" marT="9144" marB="9144" anchor="ctr">
                    <a:solidFill>
                      <a:srgbClr val="FFF3CC"/>
                    </a:solidFill>
                  </a:tcPr>
                </a:tc>
                <a:tc>
                  <a:txBody>
                    <a:bodyPr/>
                    <a:lstStyle/>
                    <a:p>
                      <a:pPr algn="r"/>
                      <a:r>
                        <a:rPr sz="1100" b="1">
                          <a:solidFill>
                            <a:srgbClr val="1A1A1A"/>
                          </a:solidFill>
                          <a:latin typeface="Calibri"/>
                        </a:rPr>
                        <a:t>0.644</a:t>
                      </a:r>
                    </a:p>
                  </a:txBody>
                  <a:tcPr marL="64008" marR="64008" marT="9144" marB="9144" anchor="ctr">
                    <a:solidFill>
                      <a:srgbClr val="FFF3CC"/>
                    </a:solidFill>
                  </a:tcPr>
                </a:tc>
                <a:tc>
                  <a:txBody>
                    <a:bodyPr/>
                    <a:lstStyle/>
                    <a:p>
                      <a:pPr algn="r"/>
                      <a:r>
                        <a:rPr sz="1100" b="1">
                          <a:solidFill>
                            <a:srgbClr val="1A1A1A"/>
                          </a:solidFill>
                          <a:latin typeface="Calibri"/>
                        </a:rPr>
                        <a:t>48.3%</a:t>
                      </a:r>
                    </a:p>
                  </a:txBody>
                  <a:tcPr marL="64008" marR="64008" marT="9144" marB="9144" anchor="ctr">
                    <a:solidFill>
                      <a:srgbClr val="FFF3CC"/>
                    </a:solidFill>
                  </a:tcPr>
                </a:tc>
                <a:extLst>
                  <a:ext uri="{0D108BD9-81ED-4DB2-BD59-A6C34878D82A}">
                    <a16:rowId xmlns:a16="http://schemas.microsoft.com/office/drawing/2014/main" val="10003"/>
                  </a:ext>
                </a:extLst>
              </a:tr>
              <a:tr h="310896">
                <a:tc>
                  <a:txBody>
                    <a:bodyPr/>
                    <a:lstStyle/>
                    <a:p>
                      <a:pPr algn="l"/>
                      <a:r>
                        <a:rPr sz="1100" b="0">
                          <a:solidFill>
                            <a:srgbClr val="1A1A1A"/>
                          </a:solidFill>
                          <a:latin typeface="Calibri"/>
                        </a:rPr>
                        <a:t>Capacity 40%</a:t>
                      </a:r>
                    </a:p>
                  </a:txBody>
                  <a:tcPr marL="64008" marR="64008" marT="9144" marB="9144" anchor="ctr">
                    <a:solidFill>
                      <a:srgbClr val="F2F2F2"/>
                    </a:solidFill>
                  </a:tcPr>
                </a:tc>
                <a:tc>
                  <a:txBody>
                    <a:bodyPr/>
                    <a:lstStyle/>
                    <a:p>
                      <a:pPr algn="r"/>
                      <a:r>
                        <a:rPr sz="1100" b="0">
                          <a:solidFill>
                            <a:srgbClr val="595959"/>
                          </a:solidFill>
                          <a:latin typeface="Calibri"/>
                        </a:rPr>
                        <a:t>0.50</a:t>
                      </a:r>
                    </a:p>
                  </a:txBody>
                  <a:tcPr marL="64008" marR="64008" marT="9144" marB="9144" anchor="ctr">
                    <a:solidFill>
                      <a:srgbClr val="F2F2F2"/>
                    </a:solidFill>
                  </a:tcPr>
                </a:tc>
                <a:tc>
                  <a:txBody>
                    <a:bodyPr/>
                    <a:lstStyle/>
                    <a:p>
                      <a:pPr algn="r"/>
                      <a:r>
                        <a:rPr sz="1100" b="0">
                          <a:solidFill>
                            <a:srgbClr val="595959"/>
                          </a:solidFill>
                          <a:latin typeface="Calibri"/>
                        </a:rPr>
                        <a:t>0.750</a:t>
                      </a:r>
                    </a:p>
                  </a:txBody>
                  <a:tcPr marL="64008" marR="64008" marT="9144" marB="9144" anchor="ctr">
                    <a:solidFill>
                      <a:srgbClr val="F2F2F2"/>
                    </a:solidFill>
                  </a:tcPr>
                </a:tc>
                <a:tc>
                  <a:txBody>
                    <a:bodyPr/>
                    <a:lstStyle/>
                    <a:p>
                      <a:pPr algn="r"/>
                      <a:r>
                        <a:rPr sz="1100" b="0">
                          <a:solidFill>
                            <a:srgbClr val="595959"/>
                          </a:solidFill>
                          <a:latin typeface="Calibri"/>
                        </a:rPr>
                        <a:t>0.670</a:t>
                      </a:r>
                    </a:p>
                  </a:txBody>
                  <a:tcPr marL="64008" marR="64008" marT="9144" marB="9144" anchor="ctr">
                    <a:solidFill>
                      <a:srgbClr val="F2F2F2"/>
                    </a:solidFill>
                  </a:tcPr>
                </a:tc>
                <a:tc>
                  <a:txBody>
                    <a:bodyPr/>
                    <a:lstStyle/>
                    <a:p>
                      <a:pPr algn="r"/>
                      <a:r>
                        <a:rPr sz="1100" b="0">
                          <a:solidFill>
                            <a:srgbClr val="595959"/>
                          </a:solidFill>
                          <a:latin typeface="Calibri"/>
                        </a:rPr>
                        <a:t>43.8%</a:t>
                      </a:r>
                    </a:p>
                  </a:txBody>
                  <a:tcPr marL="64008" marR="64008" marT="9144" marB="9144" anchor="ctr">
                    <a:solidFill>
                      <a:srgbClr val="F2F2F2"/>
                    </a:solidFill>
                  </a:tcPr>
                </a:tc>
                <a:extLst>
                  <a:ext uri="{0D108BD9-81ED-4DB2-BD59-A6C34878D82A}">
                    <a16:rowId xmlns:a16="http://schemas.microsoft.com/office/drawing/2014/main" val="10004"/>
                  </a:ext>
                </a:extLst>
              </a:tr>
              <a:tr h="310896">
                <a:tc>
                  <a:txBody>
                    <a:bodyPr/>
                    <a:lstStyle/>
                    <a:p>
                      <a:pPr algn="l"/>
                      <a:r>
                        <a:rPr sz="1100" b="0">
                          <a:solidFill>
                            <a:srgbClr val="1A1A1A"/>
                          </a:solidFill>
                          <a:latin typeface="Calibri"/>
                        </a:rPr>
                        <a:t>Capacity 35%</a:t>
                      </a:r>
                    </a:p>
                  </a:txBody>
                  <a:tcPr marL="64008" marR="64008" marT="9144" marB="9144" anchor="ctr">
                    <a:solidFill>
                      <a:srgbClr val="FFFFFF"/>
                    </a:solidFill>
                  </a:tcPr>
                </a:tc>
                <a:tc>
                  <a:txBody>
                    <a:bodyPr/>
                    <a:lstStyle/>
                    <a:p>
                      <a:pPr algn="r"/>
                      <a:r>
                        <a:rPr sz="1100" b="0">
                          <a:solidFill>
                            <a:srgbClr val="595959"/>
                          </a:solidFill>
                          <a:latin typeface="Calibri"/>
                        </a:rPr>
                        <a:t>0.57</a:t>
                      </a:r>
                    </a:p>
                  </a:txBody>
                  <a:tcPr marL="64008" marR="64008" marT="9144" marB="9144" anchor="ctr">
                    <a:solidFill>
                      <a:srgbClr val="FFFFFF"/>
                    </a:solidFill>
                  </a:tcPr>
                </a:tc>
                <a:tc>
                  <a:txBody>
                    <a:bodyPr/>
                    <a:lstStyle/>
                    <a:p>
                      <a:pPr algn="r"/>
                      <a:r>
                        <a:rPr sz="1100" b="0">
                          <a:solidFill>
                            <a:srgbClr val="595959"/>
                          </a:solidFill>
                          <a:latin typeface="Calibri"/>
                        </a:rPr>
                        <a:t>0.697</a:t>
                      </a:r>
                    </a:p>
                  </a:txBody>
                  <a:tcPr marL="64008" marR="64008" marT="9144" marB="9144" anchor="ctr">
                    <a:solidFill>
                      <a:srgbClr val="FFFFFF"/>
                    </a:solidFill>
                  </a:tcPr>
                </a:tc>
                <a:tc>
                  <a:txBody>
                    <a:bodyPr/>
                    <a:lstStyle/>
                    <a:p>
                      <a:pPr algn="r"/>
                      <a:r>
                        <a:rPr sz="1100" b="0">
                          <a:solidFill>
                            <a:srgbClr val="595959"/>
                          </a:solidFill>
                          <a:latin typeface="Calibri"/>
                        </a:rPr>
                        <a:t>0.723</a:t>
                      </a:r>
                    </a:p>
                  </a:txBody>
                  <a:tcPr marL="64008" marR="64008" marT="9144" marB="9144" anchor="ctr">
                    <a:solidFill>
                      <a:srgbClr val="FFFFFF"/>
                    </a:solidFill>
                  </a:tcPr>
                </a:tc>
                <a:tc>
                  <a:txBody>
                    <a:bodyPr/>
                    <a:lstStyle/>
                    <a:p>
                      <a:pPr algn="r"/>
                      <a:r>
                        <a:rPr sz="1100" b="0">
                          <a:solidFill>
                            <a:srgbClr val="595959"/>
                          </a:solidFill>
                          <a:latin typeface="Calibri"/>
                        </a:rPr>
                        <a:t>37.7%</a:t>
                      </a:r>
                    </a:p>
                  </a:txBody>
                  <a:tcPr marL="64008" marR="64008" marT="9144" marB="9144"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566928" y="3703320"/>
            <a:ext cx="5669280" cy="1097280"/>
          </a:xfrm>
          <a:prstGeom prst="rect">
            <a:avLst/>
          </a:prstGeom>
          <a:noFill/>
        </p:spPr>
        <p:txBody>
          <a:bodyPr wrap="square" lIns="0" tIns="0" rIns="0" bIns="0">
            <a:spAutoFit/>
          </a:bodyPr>
          <a:lstStyle/>
          <a:p>
            <a:pPr algn="l">
              <a:lnSpc>
                <a:spcPct val="120000"/>
              </a:lnSpc>
              <a:spcAft>
                <a:spcPts val="600"/>
              </a:spcAft>
            </a:pPr>
            <a:r>
              <a:rPr sz="1300" b="1">
                <a:solidFill>
                  <a:srgbClr val="1A1A1A"/>
                </a:solidFill>
                <a:latin typeface="Calibri"/>
              </a:rPr>
              <a:t>The default is capacity 40 percent.</a:t>
            </a:r>
            <a:r>
              <a:rPr sz="1300" b="0">
                <a:solidFill>
                  <a:srgbClr val="595959"/>
                </a:solidFill>
                <a:latin typeface="Calibri"/>
              </a:rPr>
              <a:t> It is a staffing decision made by accident, by a library default, and moving it to 45 percent climbs recall to 0.796 on the same model and the same data.</a:t>
            </a:r>
          </a:p>
        </p:txBody>
      </p:sp>
      <p:graphicFrame>
        <p:nvGraphicFramePr>
          <p:cNvPr id="6" name="Table 5"/>
          <p:cNvGraphicFramePr>
            <a:graphicFrameLocks noGrp="1"/>
          </p:cNvGraphicFramePr>
          <p:nvPr/>
        </p:nvGraphicFramePr>
        <p:xfrm>
          <a:off x="566928" y="4800600"/>
          <a:ext cx="5669278" cy="1243584"/>
        </p:xfrm>
        <a:graphic>
          <a:graphicData uri="http://schemas.openxmlformats.org/drawingml/2006/table">
            <a:tbl>
              <a:tblPr>
                <a:tableStyleId>{5C22544A-7EE6-4342-B048-85BDC9FD1C3A}</a:tableStyleId>
              </a:tblPr>
              <a:tblGrid>
                <a:gridCol w="1649245">
                  <a:extLst>
                    <a:ext uri="{9D8B030D-6E8A-4147-A177-3AD203B41FA5}">
                      <a16:colId xmlns:a16="http://schemas.microsoft.com/office/drawing/2014/main" val="20000"/>
                    </a:ext>
                  </a:extLst>
                </a:gridCol>
                <a:gridCol w="1236933">
                  <a:extLst>
                    <a:ext uri="{9D8B030D-6E8A-4147-A177-3AD203B41FA5}">
                      <a16:colId xmlns:a16="http://schemas.microsoft.com/office/drawing/2014/main" val="20001"/>
                    </a:ext>
                  </a:extLst>
                </a:gridCol>
                <a:gridCol w="1030778">
                  <a:extLst>
                    <a:ext uri="{9D8B030D-6E8A-4147-A177-3AD203B41FA5}">
                      <a16:colId xmlns:a16="http://schemas.microsoft.com/office/drawing/2014/main" val="20002"/>
                    </a:ext>
                  </a:extLst>
                </a:gridCol>
                <a:gridCol w="1752322">
                  <a:extLst>
                    <a:ext uri="{9D8B030D-6E8A-4147-A177-3AD203B41FA5}">
                      <a16:colId xmlns:a16="http://schemas.microsoft.com/office/drawing/2014/main" val="20003"/>
                    </a:ext>
                  </a:extLst>
                </a:gridCol>
              </a:tblGrid>
              <a:tr h="310896">
                <a:tc>
                  <a:txBody>
                    <a:bodyPr/>
                    <a:lstStyle/>
                    <a:p>
                      <a:pPr algn="l"/>
                      <a:r>
                        <a:rPr sz="1000" b="1">
                          <a:solidFill>
                            <a:srgbClr val="FFFFFF"/>
                          </a:solidFill>
                          <a:latin typeface="Calibri"/>
                        </a:rPr>
                        <a:t>Outreach cost</a:t>
                      </a:r>
                    </a:p>
                  </a:txBody>
                  <a:tcPr marL="64008" marR="64008" marT="9144" marB="9144" anchor="ctr">
                    <a:solidFill>
                      <a:srgbClr val="1A1A1A"/>
                    </a:solidFill>
                  </a:tcPr>
                </a:tc>
                <a:tc>
                  <a:txBody>
                    <a:bodyPr/>
                    <a:lstStyle/>
                    <a:p>
                      <a:pPr algn="r"/>
                      <a:r>
                        <a:rPr sz="1000" b="1">
                          <a:solidFill>
                            <a:srgbClr val="FFFFFF"/>
                          </a:solidFill>
                          <a:latin typeface="Calibri"/>
                        </a:rPr>
                        <a:t>Best cutoff</a:t>
                      </a:r>
                    </a:p>
                  </a:txBody>
                  <a:tcPr marL="64008" marR="64008" marT="9144" marB="9144" anchor="ctr">
                    <a:solidFill>
                      <a:srgbClr val="1A1A1A"/>
                    </a:solidFill>
                  </a:tcPr>
                </a:tc>
                <a:tc>
                  <a:txBody>
                    <a:bodyPr/>
                    <a:lstStyle/>
                    <a:p>
                      <a:pPr algn="r"/>
                      <a:r>
                        <a:rPr sz="1000" b="1">
                          <a:solidFill>
                            <a:srgbClr val="FFFFFF"/>
                          </a:solidFill>
                          <a:latin typeface="Calibri"/>
                        </a:rPr>
                        <a:t>Flagged</a:t>
                      </a:r>
                    </a:p>
                  </a:txBody>
                  <a:tcPr marL="64008" marR="64008" marT="9144" marB="9144" anchor="ctr">
                    <a:solidFill>
                      <a:srgbClr val="1A1A1A"/>
                    </a:solidFill>
                  </a:tcPr>
                </a:tc>
                <a:tc>
                  <a:txBody>
                    <a:bodyPr/>
                    <a:lstStyle/>
                    <a:p>
                      <a:pPr algn="r"/>
                      <a:r>
                        <a:rPr sz="1000" b="1">
                          <a:solidFill>
                            <a:srgbClr val="FFFFFF"/>
                          </a:solidFill>
                          <a:latin typeface="Calibri"/>
                        </a:rPr>
                        <a:t>Value per 1,000</a:t>
                      </a:r>
                    </a:p>
                  </a:txBody>
                  <a:tcPr marL="64008" marR="64008" marT="9144" marB="9144" anchor="ctr">
                    <a:solidFill>
                      <a:srgbClr val="1A1A1A"/>
                    </a:solidFill>
                  </a:tcPr>
                </a:tc>
                <a:extLst>
                  <a:ext uri="{0D108BD9-81ED-4DB2-BD59-A6C34878D82A}">
                    <a16:rowId xmlns:a16="http://schemas.microsoft.com/office/drawing/2014/main" val="10000"/>
                  </a:ext>
                </a:extLst>
              </a:tr>
              <a:tr h="310896">
                <a:tc>
                  <a:txBody>
                    <a:bodyPr/>
                    <a:lstStyle/>
                    <a:p>
                      <a:pPr algn="l"/>
                      <a:r>
                        <a:rPr sz="1100" b="0">
                          <a:solidFill>
                            <a:srgbClr val="1A1A1A"/>
                          </a:solidFill>
                          <a:latin typeface="Calibri"/>
                        </a:rPr>
                        <a:t>50 EUR</a:t>
                      </a:r>
                    </a:p>
                  </a:txBody>
                  <a:tcPr marL="64008" marR="64008" marT="9144" marB="9144" anchor="ctr">
                    <a:solidFill>
                      <a:srgbClr val="FFFFFF"/>
                    </a:solidFill>
                  </a:tcPr>
                </a:tc>
                <a:tc>
                  <a:txBody>
                    <a:bodyPr/>
                    <a:lstStyle/>
                    <a:p>
                      <a:pPr algn="r"/>
                      <a:r>
                        <a:rPr sz="1100" b="0">
                          <a:solidFill>
                            <a:srgbClr val="595959"/>
                          </a:solidFill>
                          <a:latin typeface="Calibri"/>
                        </a:rPr>
                        <a:t>0.08</a:t>
                      </a:r>
                    </a:p>
                  </a:txBody>
                  <a:tcPr marL="64008" marR="64008" marT="9144" marB="9144" anchor="ctr">
                    <a:solidFill>
                      <a:srgbClr val="FFFFFF"/>
                    </a:solidFill>
                  </a:tcPr>
                </a:tc>
                <a:tc>
                  <a:txBody>
                    <a:bodyPr/>
                    <a:lstStyle/>
                    <a:p>
                      <a:pPr algn="r"/>
                      <a:r>
                        <a:rPr sz="1100" b="0">
                          <a:solidFill>
                            <a:srgbClr val="595959"/>
                          </a:solidFill>
                          <a:latin typeface="Calibri"/>
                        </a:rPr>
                        <a:t>93.1%</a:t>
                      </a:r>
                    </a:p>
                  </a:txBody>
                  <a:tcPr marL="64008" marR="64008" marT="9144" marB="9144" anchor="ctr">
                    <a:solidFill>
                      <a:srgbClr val="FFFFFF"/>
                    </a:solidFill>
                  </a:tcPr>
                </a:tc>
                <a:tc>
                  <a:txBody>
                    <a:bodyPr/>
                    <a:lstStyle/>
                    <a:p>
                      <a:pPr algn="r"/>
                      <a:r>
                        <a:rPr sz="1100" b="0">
                          <a:solidFill>
                            <a:srgbClr val="595959"/>
                          </a:solidFill>
                          <a:latin typeface="Calibri"/>
                        </a:rPr>
                        <a:t>199,022 EUR</a:t>
                      </a:r>
                    </a:p>
                  </a:txBody>
                  <a:tcPr marL="64008" marR="64008" marT="9144" marB="9144" anchor="ctr">
                    <a:solidFill>
                      <a:srgbClr val="FFFFFF"/>
                    </a:solidFill>
                  </a:tcPr>
                </a:tc>
                <a:extLst>
                  <a:ext uri="{0D108BD9-81ED-4DB2-BD59-A6C34878D82A}">
                    <a16:rowId xmlns:a16="http://schemas.microsoft.com/office/drawing/2014/main" val="10001"/>
                  </a:ext>
                </a:extLst>
              </a:tr>
              <a:tr h="310896">
                <a:tc>
                  <a:txBody>
                    <a:bodyPr/>
                    <a:lstStyle/>
                    <a:p>
                      <a:pPr algn="l"/>
                      <a:r>
                        <a:rPr sz="1100" b="0">
                          <a:solidFill>
                            <a:srgbClr val="1A1A1A"/>
                          </a:solidFill>
                          <a:latin typeface="Calibri"/>
                        </a:rPr>
                        <a:t>150 EUR</a:t>
                      </a:r>
                    </a:p>
                  </a:txBody>
                  <a:tcPr marL="64008" marR="64008" marT="9144" marB="9144" anchor="ctr">
                    <a:solidFill>
                      <a:srgbClr val="F2F2F2"/>
                    </a:solidFill>
                  </a:tcPr>
                </a:tc>
                <a:tc>
                  <a:txBody>
                    <a:bodyPr/>
                    <a:lstStyle/>
                    <a:p>
                      <a:pPr algn="r"/>
                      <a:r>
                        <a:rPr sz="1100" b="0">
                          <a:solidFill>
                            <a:srgbClr val="595959"/>
                          </a:solidFill>
                          <a:latin typeface="Calibri"/>
                        </a:rPr>
                        <a:t>0.34</a:t>
                      </a:r>
                    </a:p>
                  </a:txBody>
                  <a:tcPr marL="64008" marR="64008" marT="9144" marB="9144" anchor="ctr">
                    <a:solidFill>
                      <a:srgbClr val="F2F2F2"/>
                    </a:solidFill>
                  </a:tcPr>
                </a:tc>
                <a:tc>
                  <a:txBody>
                    <a:bodyPr/>
                    <a:lstStyle/>
                    <a:p>
                      <a:pPr algn="r"/>
                      <a:r>
                        <a:rPr sz="1100" b="0">
                          <a:solidFill>
                            <a:srgbClr val="595959"/>
                          </a:solidFill>
                          <a:latin typeface="Calibri"/>
                        </a:rPr>
                        <a:t>59.4%</a:t>
                      </a:r>
                    </a:p>
                  </a:txBody>
                  <a:tcPr marL="64008" marR="64008" marT="9144" marB="9144" anchor="ctr">
                    <a:solidFill>
                      <a:srgbClr val="F2F2F2"/>
                    </a:solidFill>
                  </a:tcPr>
                </a:tc>
                <a:tc>
                  <a:txBody>
                    <a:bodyPr/>
                    <a:lstStyle/>
                    <a:p>
                      <a:pPr algn="r"/>
                      <a:r>
                        <a:rPr sz="1100" b="0">
                          <a:solidFill>
                            <a:srgbClr val="595959"/>
                          </a:solidFill>
                          <a:latin typeface="Calibri"/>
                        </a:rPr>
                        <a:t>125,289 EUR</a:t>
                      </a:r>
                    </a:p>
                  </a:txBody>
                  <a:tcPr marL="64008" marR="64008" marT="9144" marB="9144" anchor="ctr">
                    <a:solidFill>
                      <a:srgbClr val="F2F2F2"/>
                    </a:solidFill>
                  </a:tcPr>
                </a:tc>
                <a:extLst>
                  <a:ext uri="{0D108BD9-81ED-4DB2-BD59-A6C34878D82A}">
                    <a16:rowId xmlns:a16="http://schemas.microsoft.com/office/drawing/2014/main" val="10002"/>
                  </a:ext>
                </a:extLst>
              </a:tr>
              <a:tr h="310896">
                <a:tc>
                  <a:txBody>
                    <a:bodyPr/>
                    <a:lstStyle/>
                    <a:p>
                      <a:pPr algn="l"/>
                      <a:r>
                        <a:rPr sz="1100" b="0">
                          <a:solidFill>
                            <a:srgbClr val="1A1A1A"/>
                          </a:solidFill>
                          <a:latin typeface="Calibri"/>
                        </a:rPr>
                        <a:t>300 EUR</a:t>
                      </a:r>
                    </a:p>
                  </a:txBody>
                  <a:tcPr marL="64008" marR="64008" marT="9144" marB="9144" anchor="ctr">
                    <a:solidFill>
                      <a:srgbClr val="FFFFFF"/>
                    </a:solidFill>
                  </a:tcPr>
                </a:tc>
                <a:tc>
                  <a:txBody>
                    <a:bodyPr/>
                    <a:lstStyle/>
                    <a:p>
                      <a:pPr algn="r"/>
                      <a:r>
                        <a:rPr sz="1100" b="0">
                          <a:solidFill>
                            <a:srgbClr val="595959"/>
                          </a:solidFill>
                          <a:latin typeface="Calibri"/>
                        </a:rPr>
                        <a:t>0.61</a:t>
                      </a:r>
                    </a:p>
                  </a:txBody>
                  <a:tcPr marL="64008" marR="64008" marT="9144" marB="9144" anchor="ctr">
                    <a:solidFill>
                      <a:srgbClr val="FFFFFF"/>
                    </a:solidFill>
                  </a:tcPr>
                </a:tc>
                <a:tc>
                  <a:txBody>
                    <a:bodyPr/>
                    <a:lstStyle/>
                    <a:p>
                      <a:pPr algn="r"/>
                      <a:r>
                        <a:rPr sz="1100" b="0">
                          <a:solidFill>
                            <a:srgbClr val="595959"/>
                          </a:solidFill>
                          <a:latin typeface="Calibri"/>
                        </a:rPr>
                        <a:t>34.4%</a:t>
                      </a:r>
                    </a:p>
                  </a:txBody>
                  <a:tcPr marL="64008" marR="64008" marT="9144" marB="9144" anchor="ctr">
                    <a:solidFill>
                      <a:srgbClr val="FFFFFF"/>
                    </a:solidFill>
                  </a:tcPr>
                </a:tc>
                <a:tc>
                  <a:txBody>
                    <a:bodyPr/>
                    <a:lstStyle/>
                    <a:p>
                      <a:pPr algn="r"/>
                      <a:r>
                        <a:rPr sz="1100" b="0">
                          <a:solidFill>
                            <a:srgbClr val="595959"/>
                          </a:solidFill>
                          <a:latin typeface="Calibri"/>
                        </a:rPr>
                        <a:t>58,967 EUR</a:t>
                      </a:r>
                    </a:p>
                  </a:txBody>
                  <a:tcPr marL="64008" marR="64008" marT="9144" marB="9144" anchor="ctr">
                    <a:solidFill>
                      <a:srgbClr val="FFFFFF"/>
                    </a:solidFill>
                  </a:tcPr>
                </a:tc>
                <a:extLst>
                  <a:ext uri="{0D108BD9-81ED-4DB2-BD59-A6C34878D82A}">
                    <a16:rowId xmlns:a16="http://schemas.microsoft.com/office/drawing/2014/main" val="10003"/>
                  </a:ext>
                </a:extLst>
              </a:tr>
            </a:tbl>
          </a:graphicData>
        </a:graphic>
      </p:graphicFrame>
      <p:pic>
        <p:nvPicPr>
          <p:cNvPr id="7" name="Picture 6" descr="expected_value.png"/>
          <p:cNvPicPr>
            <a:picLocks noChangeAspect="1"/>
          </p:cNvPicPr>
          <p:nvPr/>
        </p:nvPicPr>
        <p:blipFill>
          <a:blip r:embed="rId2"/>
          <a:stretch>
            <a:fillRect/>
          </a:stretch>
        </p:blipFill>
        <p:spPr>
          <a:xfrm>
            <a:off x="6675120" y="1737360"/>
            <a:ext cx="4937760" cy="2323652"/>
          </a:xfrm>
          <a:prstGeom prst="rect">
            <a:avLst/>
          </a:prstGeom>
        </p:spPr>
      </p:pic>
      <p:sp>
        <p:nvSpPr>
          <p:cNvPr id="8" name="TextBox 7"/>
          <p:cNvSpPr txBox="1"/>
          <p:nvPr/>
        </p:nvSpPr>
        <p:spPr>
          <a:xfrm>
            <a:off x="6675120" y="4114800"/>
            <a:ext cx="4937760" cy="2011680"/>
          </a:xfrm>
          <a:prstGeom prst="rect">
            <a:avLst/>
          </a:prstGeom>
          <a:noFill/>
        </p:spPr>
        <p:txBody>
          <a:bodyPr wrap="square" lIns="0" tIns="0" rIns="0" bIns="0">
            <a:spAutoFit/>
          </a:bodyPr>
          <a:lstStyle/>
          <a:p>
            <a:pPr algn="l">
              <a:lnSpc>
                <a:spcPct val="120000"/>
              </a:lnSpc>
              <a:spcAft>
                <a:spcPts val="600"/>
              </a:spcAft>
            </a:pPr>
            <a:r>
              <a:rPr sz="1200" b="0">
                <a:solidFill>
                  <a:srgbClr val="595959"/>
                </a:solidFill>
                <a:latin typeface="Calibri"/>
              </a:rPr>
              <a:t>The chart caught me being sloppy where the table had not. I had written that staff time runs out long before the economics do.</a:t>
            </a:r>
          </a:p>
          <a:p>
            <a:pPr algn="l">
              <a:lnSpc>
                <a:spcPct val="120000"/>
              </a:lnSpc>
              <a:spcAft>
                <a:spcPts val="600"/>
              </a:spcAft>
            </a:pPr>
            <a:r>
              <a:rPr sz="1200" b="1">
                <a:solidFill>
                  <a:srgbClr val="1A1A1A"/>
                </a:solidFill>
                <a:latin typeface="Calibri"/>
              </a:rPr>
              <a:t>The 300 EUR curve peaks at 0.61, tighter than the capacity line.</a:t>
            </a:r>
          </a:p>
          <a:p>
            <a:pPr algn="l">
              <a:lnSpc>
                <a:spcPct val="120000"/>
              </a:lnSpc>
              <a:spcAft>
                <a:spcPts val="600"/>
              </a:spcAft>
            </a:pPr>
            <a:r>
              <a:rPr sz="1200" b="0">
                <a:solidFill>
                  <a:srgbClr val="595959"/>
                </a:solidFill>
                <a:latin typeface="Calibri"/>
              </a:rPr>
              <a:t>Staff capacity binds at 50 and 150 EUR per contact, but at 300 EUR the money binds first, and the economics want fewer flags than the team could handle.</a:t>
            </a:r>
          </a:p>
          <a:p>
            <a:pPr algn="l">
              <a:lnSpc>
                <a:spcPct val="120000"/>
              </a:lnSpc>
              <a:spcAft>
                <a:spcPts val="600"/>
              </a:spcAft>
            </a:pPr>
            <a:r>
              <a:rPr sz="1200" b="1">
                <a:solidFill>
                  <a:srgbClr val="1A1A1A"/>
                </a:solidFill>
                <a:latin typeface="Calibri"/>
              </a:rPr>
              <a:t>At the deployed 0.445 the value holds, 171,942 / 123,595 / 51,074 per 1,000. At 150 EUR that is 1,700 below the best case, so capacity is nearly free.</a:t>
            </a:r>
          </a:p>
        </p:txBody>
      </p:sp>
      <p:sp>
        <p:nvSpPr>
          <p:cNvPr id="9" name="TextBox 8"/>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ranked list is the product and the binary flag is not, and the cutoff goes at 0.445 to audit fairness and report one honest number.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1A1A1A"/>
                </a:solidFill>
                <a:latin typeface="Cambria"/>
              </a:rPr>
              <a:t>2</a:t>
            </a:r>
          </a:p>
        </p:txBody>
      </p:sp>
      <p:sp>
        <p:nvSpPr>
          <p:cNvPr id="3" name="TextBox 2"/>
          <p:cNvSpPr txBox="1"/>
          <p:nvPr/>
        </p:nvSpPr>
        <p:spPr>
          <a:xfrm>
            <a:off x="1225296" y="457200"/>
            <a:ext cx="10399471"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SHAP ranked columns, not features</a:t>
            </a:r>
          </a:p>
        </p:txBody>
      </p:sp>
      <p:sp>
        <p:nvSpPr>
          <p:cNvPr id="4" name="TextBox 3"/>
          <p:cNvSpPr txBox="1"/>
          <p:nvPr/>
        </p:nvSpPr>
        <p:spPr>
          <a:xfrm>
            <a:off x="566928" y="1280160"/>
            <a:ext cx="6035040" cy="914400"/>
          </a:xfrm>
          <a:prstGeom prst="rect">
            <a:avLst/>
          </a:prstGeom>
          <a:noFill/>
        </p:spPr>
        <p:txBody>
          <a:bodyPr wrap="square" lIns="0" tIns="0" rIns="0" bIns="0">
            <a:spAutoFit/>
          </a:bodyPr>
          <a:lstStyle/>
          <a:p>
            <a:pPr algn="l">
              <a:lnSpc>
                <a:spcPct val="120000"/>
              </a:lnSpc>
              <a:spcAft>
                <a:spcPts val="600"/>
              </a:spcAft>
            </a:pPr>
            <a:r>
              <a:rPr sz="1300" b="0">
                <a:solidFill>
                  <a:srgbClr val="595959"/>
                </a:solidFill>
                <a:latin typeface="Calibri"/>
              </a:rPr>
              <a:t>The first SHAP chart plotted one bar per column of the design matrix, but Course is not one column and instead seventeen of them, so its importance split into seventeen small bars while a single flag kept all its weight in one place.</a:t>
            </a:r>
          </a:p>
        </p:txBody>
      </p:sp>
      <p:graphicFrame>
        <p:nvGraphicFramePr>
          <p:cNvPr id="5" name="Table 4"/>
          <p:cNvGraphicFramePr>
            <a:graphicFrameLocks noGrp="1"/>
          </p:cNvGraphicFramePr>
          <p:nvPr/>
        </p:nvGraphicFramePr>
        <p:xfrm>
          <a:off x="566928" y="2286000"/>
          <a:ext cx="6035039" cy="2048256"/>
        </p:xfrm>
        <a:graphic>
          <a:graphicData uri="http://schemas.openxmlformats.org/drawingml/2006/table">
            <a:tbl>
              <a:tblPr>
                <a:tableStyleId>{5C22544A-7EE6-4342-B048-85BDC9FD1C3A}</a:tableStyleId>
              </a:tblPr>
              <a:tblGrid>
                <a:gridCol w="2451735">
                  <a:extLst>
                    <a:ext uri="{9D8B030D-6E8A-4147-A177-3AD203B41FA5}">
                      <a16:colId xmlns:a16="http://schemas.microsoft.com/office/drawing/2014/main" val="20000"/>
                    </a:ext>
                  </a:extLst>
                </a:gridCol>
                <a:gridCol w="707231">
                  <a:extLst>
                    <a:ext uri="{9D8B030D-6E8A-4147-A177-3AD203B41FA5}">
                      <a16:colId xmlns:a16="http://schemas.microsoft.com/office/drawing/2014/main" val="20001"/>
                    </a:ext>
                  </a:extLst>
                </a:gridCol>
                <a:gridCol w="2168842">
                  <a:extLst>
                    <a:ext uri="{9D8B030D-6E8A-4147-A177-3AD203B41FA5}">
                      <a16:colId xmlns:a16="http://schemas.microsoft.com/office/drawing/2014/main" val="20002"/>
                    </a:ext>
                  </a:extLst>
                </a:gridCol>
                <a:gridCol w="707231">
                  <a:extLst>
                    <a:ext uri="{9D8B030D-6E8A-4147-A177-3AD203B41FA5}">
                      <a16:colId xmlns:a16="http://schemas.microsoft.com/office/drawing/2014/main" val="20003"/>
                    </a:ext>
                  </a:extLst>
                </a:gridCol>
              </a:tblGrid>
              <a:tr h="292608">
                <a:tc>
                  <a:txBody>
                    <a:bodyPr/>
                    <a:lstStyle/>
                    <a:p>
                      <a:pPr algn="l"/>
                      <a:r>
                        <a:rPr sz="1000" b="1">
                          <a:solidFill>
                            <a:srgbClr val="FFFFFF"/>
                          </a:solidFill>
                          <a:latin typeface="Calibri"/>
                        </a:rPr>
                        <a:t>Old, per encoded column</a:t>
                      </a:r>
                    </a:p>
                  </a:txBody>
                  <a:tcPr marL="64008" marR="64008" marT="9144" marB="9144" anchor="ctr">
                    <a:solidFill>
                      <a:srgbClr val="1A1A1A"/>
                    </a:solidFill>
                  </a:tcPr>
                </a:tc>
                <a:tc>
                  <a:txBody>
                    <a:bodyPr/>
                    <a:lstStyle/>
                    <a:p>
                      <a:pPr algn="r"/>
                      <a:endParaRPr/>
                    </a:p>
                  </a:txBody>
                  <a:tcPr marL="64008" marR="64008" marT="9144" marB="9144" anchor="ctr">
                    <a:solidFill>
                      <a:srgbClr val="1A1A1A"/>
                    </a:solidFill>
                  </a:tcPr>
                </a:tc>
                <a:tc>
                  <a:txBody>
                    <a:bodyPr/>
                    <a:lstStyle/>
                    <a:p>
                      <a:pPr algn="r"/>
                      <a:r>
                        <a:rPr sz="1000" b="1">
                          <a:solidFill>
                            <a:srgbClr val="FFFFFF"/>
                          </a:solidFill>
                          <a:latin typeface="Calibri"/>
                        </a:rPr>
                        <a:t>Fixed, summed by feature</a:t>
                      </a:r>
                    </a:p>
                  </a:txBody>
                  <a:tcPr marL="64008" marR="64008" marT="9144" marB="9144" anchor="ctr">
                    <a:solidFill>
                      <a:srgbClr val="1A1A1A"/>
                    </a:solidFill>
                  </a:tcPr>
                </a:tc>
                <a:tc>
                  <a:txBody>
                    <a:bodyPr/>
                    <a:lstStyle/>
                    <a:p>
                      <a:pPr algn="r"/>
                      <a:endParaRPr/>
                    </a:p>
                  </a:txBody>
                  <a:tcPr marL="64008" marR="64008" marT="9144" marB="9144" anchor="ctr">
                    <a:solidFill>
                      <a:srgbClr val="1A1A1A"/>
                    </a:solidFill>
                  </a:tcPr>
                </a:tc>
                <a:extLst>
                  <a:ext uri="{0D108BD9-81ED-4DB2-BD59-A6C34878D82A}">
                    <a16:rowId xmlns:a16="http://schemas.microsoft.com/office/drawing/2014/main" val="10000"/>
                  </a:ext>
                </a:extLst>
              </a:tr>
              <a:tr h="292608">
                <a:tc>
                  <a:txBody>
                    <a:bodyPr/>
                    <a:lstStyle/>
                    <a:p>
                      <a:pPr algn="l"/>
                      <a:r>
                        <a:rPr sz="1000" b="0">
                          <a:solidFill>
                            <a:srgbClr val="1A1A1A"/>
                          </a:solidFill>
                          <a:latin typeface="Calibri"/>
                        </a:rPr>
                        <a:t>flag__Tuition fees up to date</a:t>
                      </a:r>
                    </a:p>
                  </a:txBody>
                  <a:tcPr marL="64008" marR="64008" marT="9144" marB="9144" anchor="ctr">
                    <a:solidFill>
                      <a:srgbClr val="FFFFFF"/>
                    </a:solidFill>
                  </a:tcPr>
                </a:tc>
                <a:tc>
                  <a:txBody>
                    <a:bodyPr/>
                    <a:lstStyle/>
                    <a:p>
                      <a:pPr algn="r"/>
                      <a:r>
                        <a:rPr sz="1000" b="0">
                          <a:solidFill>
                            <a:srgbClr val="595959"/>
                          </a:solidFill>
                          <a:latin typeface="Calibri"/>
                        </a:rPr>
                        <a:t>0.680</a:t>
                      </a:r>
                    </a:p>
                  </a:txBody>
                  <a:tcPr marL="64008" marR="64008" marT="9144" marB="9144" anchor="ctr">
                    <a:solidFill>
                      <a:srgbClr val="FFFFFF"/>
                    </a:solidFill>
                  </a:tcPr>
                </a:tc>
                <a:tc>
                  <a:txBody>
                    <a:bodyPr/>
                    <a:lstStyle/>
                    <a:p>
                      <a:pPr algn="r"/>
                      <a:r>
                        <a:rPr sz="1000" b="0">
                          <a:solidFill>
                            <a:srgbClr val="595959"/>
                          </a:solidFill>
                          <a:latin typeface="Calibri"/>
                        </a:rPr>
                        <a:t>Course</a:t>
                      </a:r>
                    </a:p>
                  </a:txBody>
                  <a:tcPr marL="64008" marR="64008" marT="9144" marB="9144" anchor="ctr">
                    <a:solidFill>
                      <a:srgbClr val="FFFFFF"/>
                    </a:solidFill>
                  </a:tcPr>
                </a:tc>
                <a:tc>
                  <a:txBody>
                    <a:bodyPr/>
                    <a:lstStyle/>
                    <a:p>
                      <a:pPr algn="r"/>
                      <a:r>
                        <a:rPr sz="1000" b="0">
                          <a:solidFill>
                            <a:srgbClr val="595959"/>
                          </a:solidFill>
                          <a:latin typeface="Calibri"/>
                        </a:rPr>
                        <a:t>1.126</a:t>
                      </a:r>
                    </a:p>
                  </a:txBody>
                  <a:tcPr marL="64008" marR="64008" marT="9144" marB="9144" anchor="ctr">
                    <a:solidFill>
                      <a:srgbClr val="FFFFFF"/>
                    </a:solidFill>
                  </a:tcPr>
                </a:tc>
                <a:extLst>
                  <a:ext uri="{0D108BD9-81ED-4DB2-BD59-A6C34878D82A}">
                    <a16:rowId xmlns:a16="http://schemas.microsoft.com/office/drawing/2014/main" val="10001"/>
                  </a:ext>
                </a:extLst>
              </a:tr>
              <a:tr h="292608">
                <a:tc>
                  <a:txBody>
                    <a:bodyPr/>
                    <a:lstStyle/>
                    <a:p>
                      <a:pPr algn="l"/>
                      <a:r>
                        <a:rPr sz="1000" b="0">
                          <a:solidFill>
                            <a:srgbClr val="1A1A1A"/>
                          </a:solidFill>
                          <a:latin typeface="Calibri"/>
                        </a:rPr>
                        <a:t>flag__Scholarship holder</a:t>
                      </a:r>
                    </a:p>
                  </a:txBody>
                  <a:tcPr marL="64008" marR="64008" marT="9144" marB="9144" anchor="ctr">
                    <a:solidFill>
                      <a:srgbClr val="F2F2F2"/>
                    </a:solidFill>
                  </a:tcPr>
                </a:tc>
                <a:tc>
                  <a:txBody>
                    <a:bodyPr/>
                    <a:lstStyle/>
                    <a:p>
                      <a:pPr algn="r"/>
                      <a:r>
                        <a:rPr sz="1000" b="0">
                          <a:solidFill>
                            <a:srgbClr val="595959"/>
                          </a:solidFill>
                          <a:latin typeface="Calibri"/>
                        </a:rPr>
                        <a:t>0.507</a:t>
                      </a:r>
                    </a:p>
                  </a:txBody>
                  <a:tcPr marL="64008" marR="64008" marT="9144" marB="9144" anchor="ctr">
                    <a:solidFill>
                      <a:srgbClr val="F2F2F2"/>
                    </a:solidFill>
                  </a:tcPr>
                </a:tc>
                <a:tc>
                  <a:txBody>
                    <a:bodyPr/>
                    <a:lstStyle/>
                    <a:p>
                      <a:pPr algn="r"/>
                      <a:r>
                        <a:rPr sz="1000" b="0">
                          <a:solidFill>
                            <a:srgbClr val="595959"/>
                          </a:solidFill>
                          <a:latin typeface="Calibri"/>
                        </a:rPr>
                        <a:t>Tuition fees up to date</a:t>
                      </a:r>
                    </a:p>
                  </a:txBody>
                  <a:tcPr marL="64008" marR="64008" marT="9144" marB="9144" anchor="ctr">
                    <a:solidFill>
                      <a:srgbClr val="F2F2F2"/>
                    </a:solidFill>
                  </a:tcPr>
                </a:tc>
                <a:tc>
                  <a:txBody>
                    <a:bodyPr/>
                    <a:lstStyle/>
                    <a:p>
                      <a:pPr algn="r"/>
                      <a:r>
                        <a:rPr sz="1000" b="0">
                          <a:solidFill>
                            <a:srgbClr val="595959"/>
                          </a:solidFill>
                          <a:latin typeface="Calibri"/>
                        </a:rPr>
                        <a:t>0.680</a:t>
                      </a:r>
                    </a:p>
                  </a:txBody>
                  <a:tcPr marL="64008" marR="64008" marT="9144" marB="9144" anchor="ctr">
                    <a:solidFill>
                      <a:srgbClr val="F2F2F2"/>
                    </a:solidFill>
                  </a:tcPr>
                </a:tc>
                <a:extLst>
                  <a:ext uri="{0D108BD9-81ED-4DB2-BD59-A6C34878D82A}">
                    <a16:rowId xmlns:a16="http://schemas.microsoft.com/office/drawing/2014/main" val="10002"/>
                  </a:ext>
                </a:extLst>
              </a:tr>
              <a:tr h="292608">
                <a:tc>
                  <a:txBody>
                    <a:bodyPr/>
                    <a:lstStyle/>
                    <a:p>
                      <a:pPr algn="l"/>
                      <a:r>
                        <a:rPr sz="1000" b="0">
                          <a:solidFill>
                            <a:srgbClr val="1A1A1A"/>
                          </a:solidFill>
                          <a:latin typeface="Calibri"/>
                        </a:rPr>
                        <a:t>flag__mature entry</a:t>
                      </a:r>
                    </a:p>
                  </a:txBody>
                  <a:tcPr marL="64008" marR="64008" marT="9144" marB="9144" anchor="ctr">
                    <a:solidFill>
                      <a:srgbClr val="FFFFFF"/>
                    </a:solidFill>
                  </a:tcPr>
                </a:tc>
                <a:tc>
                  <a:txBody>
                    <a:bodyPr/>
                    <a:lstStyle/>
                    <a:p>
                      <a:pPr algn="r"/>
                      <a:r>
                        <a:rPr sz="1000" b="0">
                          <a:solidFill>
                            <a:srgbClr val="595959"/>
                          </a:solidFill>
                          <a:latin typeface="Calibri"/>
                        </a:rPr>
                        <a:t>0.436</a:t>
                      </a:r>
                    </a:p>
                  </a:txBody>
                  <a:tcPr marL="64008" marR="64008" marT="9144" marB="9144" anchor="ctr">
                    <a:solidFill>
                      <a:srgbClr val="FFFFFF"/>
                    </a:solidFill>
                  </a:tcPr>
                </a:tc>
                <a:tc>
                  <a:txBody>
                    <a:bodyPr/>
                    <a:lstStyle/>
                    <a:p>
                      <a:pPr algn="r"/>
                      <a:r>
                        <a:rPr sz="1000" b="0">
                          <a:solidFill>
                            <a:srgbClr val="595959"/>
                          </a:solidFill>
                          <a:latin typeface="Calibri"/>
                        </a:rPr>
                        <a:t>mother isco</a:t>
                      </a:r>
                    </a:p>
                  </a:txBody>
                  <a:tcPr marL="64008" marR="64008" marT="9144" marB="9144" anchor="ctr">
                    <a:solidFill>
                      <a:srgbClr val="FFFFFF"/>
                    </a:solidFill>
                  </a:tcPr>
                </a:tc>
                <a:tc>
                  <a:txBody>
                    <a:bodyPr/>
                    <a:lstStyle/>
                    <a:p>
                      <a:pPr algn="r"/>
                      <a:r>
                        <a:rPr sz="1000" b="0">
                          <a:solidFill>
                            <a:srgbClr val="595959"/>
                          </a:solidFill>
                          <a:latin typeface="Calibri"/>
                        </a:rPr>
                        <a:t>0.509</a:t>
                      </a:r>
                    </a:p>
                  </a:txBody>
                  <a:tcPr marL="64008" marR="64008" marT="9144" marB="9144" anchor="ctr">
                    <a:solidFill>
                      <a:srgbClr val="FFFFFF"/>
                    </a:solidFill>
                  </a:tcPr>
                </a:tc>
                <a:extLst>
                  <a:ext uri="{0D108BD9-81ED-4DB2-BD59-A6C34878D82A}">
                    <a16:rowId xmlns:a16="http://schemas.microsoft.com/office/drawing/2014/main" val="10003"/>
                  </a:ext>
                </a:extLst>
              </a:tr>
              <a:tr h="292608">
                <a:tc>
                  <a:txBody>
                    <a:bodyPr/>
                    <a:lstStyle/>
                    <a:p>
                      <a:pPr algn="l"/>
                      <a:r>
                        <a:rPr sz="1000" b="0">
                          <a:solidFill>
                            <a:srgbClr val="1A1A1A"/>
                          </a:solidFill>
                          <a:latin typeface="Calibri"/>
                        </a:rPr>
                        <a:t>flag__Gender</a:t>
                      </a:r>
                    </a:p>
                  </a:txBody>
                  <a:tcPr marL="64008" marR="64008" marT="9144" marB="9144" anchor="ctr">
                    <a:solidFill>
                      <a:srgbClr val="F2F2F2"/>
                    </a:solidFill>
                  </a:tcPr>
                </a:tc>
                <a:tc>
                  <a:txBody>
                    <a:bodyPr/>
                    <a:lstStyle/>
                    <a:p>
                      <a:pPr algn="r"/>
                      <a:r>
                        <a:rPr sz="1000" b="0">
                          <a:solidFill>
                            <a:srgbClr val="595959"/>
                          </a:solidFill>
                          <a:latin typeface="Calibri"/>
                        </a:rPr>
                        <a:t>0.301</a:t>
                      </a:r>
                    </a:p>
                  </a:txBody>
                  <a:tcPr marL="64008" marR="64008" marT="9144" marB="9144" anchor="ctr">
                    <a:solidFill>
                      <a:srgbClr val="F2F2F2"/>
                    </a:solidFill>
                  </a:tcPr>
                </a:tc>
                <a:tc>
                  <a:txBody>
                    <a:bodyPr/>
                    <a:lstStyle/>
                    <a:p>
                      <a:pPr algn="r"/>
                      <a:r>
                        <a:rPr sz="1000" b="0">
                          <a:solidFill>
                            <a:srgbClr val="595959"/>
                          </a:solidFill>
                          <a:latin typeface="Calibri"/>
                        </a:rPr>
                        <a:t>Scholarship holder</a:t>
                      </a:r>
                    </a:p>
                  </a:txBody>
                  <a:tcPr marL="64008" marR="64008" marT="9144" marB="9144" anchor="ctr">
                    <a:solidFill>
                      <a:srgbClr val="F2F2F2"/>
                    </a:solidFill>
                  </a:tcPr>
                </a:tc>
                <a:tc>
                  <a:txBody>
                    <a:bodyPr/>
                    <a:lstStyle/>
                    <a:p>
                      <a:pPr algn="r"/>
                      <a:r>
                        <a:rPr sz="1000" b="0">
                          <a:solidFill>
                            <a:srgbClr val="595959"/>
                          </a:solidFill>
                          <a:latin typeface="Calibri"/>
                        </a:rPr>
                        <a:t>0.507</a:t>
                      </a:r>
                    </a:p>
                  </a:txBody>
                  <a:tcPr marL="64008" marR="64008" marT="9144" marB="9144" anchor="ctr">
                    <a:solidFill>
                      <a:srgbClr val="F2F2F2"/>
                    </a:solidFill>
                  </a:tcPr>
                </a:tc>
                <a:extLst>
                  <a:ext uri="{0D108BD9-81ED-4DB2-BD59-A6C34878D82A}">
                    <a16:rowId xmlns:a16="http://schemas.microsoft.com/office/drawing/2014/main" val="10004"/>
                  </a:ext>
                </a:extLst>
              </a:tr>
              <a:tr h="292608">
                <a:tc>
                  <a:txBody>
                    <a:bodyPr/>
                    <a:lstStyle/>
                    <a:p>
                      <a:pPr algn="l"/>
                      <a:r>
                        <a:rPr sz="1000" b="1">
                          <a:solidFill>
                            <a:srgbClr val="1A1A1A"/>
                          </a:solidFill>
                          <a:latin typeface="Calibri"/>
                        </a:rPr>
                        <a:t>cat__Course_9500</a:t>
                      </a:r>
                    </a:p>
                  </a:txBody>
                  <a:tcPr marL="64008" marR="64008" marT="9144" marB="9144" anchor="ctr">
                    <a:solidFill>
                      <a:srgbClr val="FFF3CC"/>
                    </a:solidFill>
                  </a:tcPr>
                </a:tc>
                <a:tc>
                  <a:txBody>
                    <a:bodyPr/>
                    <a:lstStyle/>
                    <a:p>
                      <a:pPr algn="r"/>
                      <a:r>
                        <a:rPr sz="1000" b="1">
                          <a:solidFill>
                            <a:srgbClr val="1A1A1A"/>
                          </a:solidFill>
                          <a:latin typeface="Calibri"/>
                        </a:rPr>
                        <a:t>0.284</a:t>
                      </a:r>
                    </a:p>
                  </a:txBody>
                  <a:tcPr marL="64008" marR="64008" marT="9144" marB="9144" anchor="ctr">
                    <a:solidFill>
                      <a:srgbClr val="FFF3CC"/>
                    </a:solidFill>
                  </a:tcPr>
                </a:tc>
                <a:tc>
                  <a:txBody>
                    <a:bodyPr/>
                    <a:lstStyle/>
                    <a:p>
                      <a:pPr algn="r"/>
                      <a:r>
                        <a:rPr sz="1000" b="1">
                          <a:solidFill>
                            <a:srgbClr val="1A1A1A"/>
                          </a:solidFill>
                          <a:latin typeface="Calibri"/>
                        </a:rPr>
                        <a:t>mature entry</a:t>
                      </a:r>
                    </a:p>
                  </a:txBody>
                  <a:tcPr marL="64008" marR="64008" marT="9144" marB="9144" anchor="ctr">
                    <a:solidFill>
                      <a:srgbClr val="FFF3CC"/>
                    </a:solidFill>
                  </a:tcPr>
                </a:tc>
                <a:tc>
                  <a:txBody>
                    <a:bodyPr/>
                    <a:lstStyle/>
                    <a:p>
                      <a:pPr algn="r"/>
                      <a:r>
                        <a:rPr sz="1000" b="1">
                          <a:solidFill>
                            <a:srgbClr val="1A1A1A"/>
                          </a:solidFill>
                          <a:latin typeface="Calibri"/>
                        </a:rPr>
                        <a:t>0.436</a:t>
                      </a:r>
                    </a:p>
                  </a:txBody>
                  <a:tcPr marL="64008" marR="64008" marT="9144" marB="9144" anchor="ctr">
                    <a:solidFill>
                      <a:srgbClr val="FFF3CC"/>
                    </a:solidFill>
                  </a:tcPr>
                </a:tc>
                <a:extLst>
                  <a:ext uri="{0D108BD9-81ED-4DB2-BD59-A6C34878D82A}">
                    <a16:rowId xmlns:a16="http://schemas.microsoft.com/office/drawing/2014/main" val="10005"/>
                  </a:ext>
                </a:extLst>
              </a:tr>
              <a:tr h="292608">
                <a:tc>
                  <a:txBody>
                    <a:bodyPr/>
                    <a:lstStyle/>
                    <a:p>
                      <a:pPr algn="l"/>
                      <a:r>
                        <a:rPr sz="1000" b="0">
                          <a:solidFill>
                            <a:srgbClr val="1A1A1A"/>
                          </a:solidFill>
                          <a:latin typeface="Calibri"/>
                        </a:rPr>
                        <a:t>num__Admission grade</a:t>
                      </a:r>
                    </a:p>
                  </a:txBody>
                  <a:tcPr marL="64008" marR="64008" marT="9144" marB="9144" anchor="ctr">
                    <a:solidFill>
                      <a:srgbClr val="F2F2F2"/>
                    </a:solidFill>
                  </a:tcPr>
                </a:tc>
                <a:tc>
                  <a:txBody>
                    <a:bodyPr/>
                    <a:lstStyle/>
                    <a:p>
                      <a:pPr algn="r"/>
                      <a:r>
                        <a:rPr sz="1000" b="0">
                          <a:solidFill>
                            <a:srgbClr val="595959"/>
                          </a:solidFill>
                          <a:latin typeface="Calibri"/>
                        </a:rPr>
                        <a:t>0.245</a:t>
                      </a:r>
                    </a:p>
                  </a:txBody>
                  <a:tcPr marL="64008" marR="64008" marT="9144" marB="9144" anchor="ctr">
                    <a:solidFill>
                      <a:srgbClr val="F2F2F2"/>
                    </a:solidFill>
                  </a:tcPr>
                </a:tc>
                <a:tc>
                  <a:txBody>
                    <a:bodyPr/>
                    <a:lstStyle/>
                    <a:p>
                      <a:pPr algn="r"/>
                      <a:r>
                        <a:rPr sz="1000" b="0">
                          <a:solidFill>
                            <a:srgbClr val="595959"/>
                          </a:solidFill>
                          <a:latin typeface="Calibri"/>
                        </a:rPr>
                        <a:t>Gender</a:t>
                      </a:r>
                    </a:p>
                  </a:txBody>
                  <a:tcPr marL="64008" marR="64008" marT="9144" marB="9144" anchor="ctr">
                    <a:solidFill>
                      <a:srgbClr val="F2F2F2"/>
                    </a:solidFill>
                  </a:tcPr>
                </a:tc>
                <a:tc>
                  <a:txBody>
                    <a:bodyPr/>
                    <a:lstStyle/>
                    <a:p>
                      <a:pPr algn="r"/>
                      <a:r>
                        <a:rPr sz="1000" b="0">
                          <a:solidFill>
                            <a:srgbClr val="595959"/>
                          </a:solidFill>
                          <a:latin typeface="Calibri"/>
                        </a:rPr>
                        <a:t>0.301</a:t>
                      </a:r>
                    </a:p>
                  </a:txBody>
                  <a:tcPr marL="64008" marR="64008" marT="9144" marB="9144" anchor="ctr">
                    <a:solidFill>
                      <a:srgbClr val="F2F2F2"/>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566928" y="4434840"/>
            <a:ext cx="6035040" cy="1097280"/>
          </a:xfrm>
          <a:prstGeom prst="rect">
            <a:avLst/>
          </a:prstGeom>
          <a:noFill/>
        </p:spPr>
        <p:txBody>
          <a:bodyPr wrap="square" lIns="0" tIns="0" rIns="0" bIns="0">
            <a:spAutoFit/>
          </a:bodyPr>
          <a:lstStyle/>
          <a:p>
            <a:pPr algn="l">
              <a:lnSpc>
                <a:spcPct val="120000"/>
              </a:lnSpc>
              <a:spcAft>
                <a:spcPts val="600"/>
              </a:spcAft>
            </a:pPr>
            <a:r>
              <a:rPr sz="1300" b="1">
                <a:solidFill>
                  <a:srgbClr val="1A1A1A"/>
                </a:solidFill>
                <a:latin typeface="Calibri"/>
              </a:rPr>
              <a:t>cat__Course_9500 is the proof.</a:t>
            </a:r>
            <a:r>
              <a:rPr sz="1300" b="0">
                <a:solidFill>
                  <a:srgbClr val="595959"/>
                </a:solidFill>
                <a:latin typeface="Calibri"/>
              </a:rPr>
              <a:t> The largest fragment of the strongest feature sat fifth, behind four flags, and mother's occupation did not appear at all. A second bug hid here too, because unseeded 100-row sampling drifted from 0.90 to 0.68 between runs, until the fix read all 2,904.</a:t>
            </a:r>
          </a:p>
        </p:txBody>
      </p:sp>
      <p:pic>
        <p:nvPicPr>
          <p:cNvPr id="7" name="Picture 6" descr="shap_importance.png"/>
          <p:cNvPicPr>
            <a:picLocks noChangeAspect="1"/>
          </p:cNvPicPr>
          <p:nvPr/>
        </p:nvPicPr>
        <p:blipFill>
          <a:blip r:embed="rId2"/>
          <a:stretch>
            <a:fillRect/>
          </a:stretch>
        </p:blipFill>
        <p:spPr>
          <a:xfrm>
            <a:off x="6812280" y="1280160"/>
            <a:ext cx="4846320" cy="3028950"/>
          </a:xfrm>
          <a:prstGeom prst="rect">
            <a:avLst/>
          </a:prstGeom>
        </p:spPr>
      </p:pic>
      <p:pic>
        <p:nvPicPr>
          <p:cNvPr id="8" name="Picture 7" descr="pdp.png"/>
          <p:cNvPicPr>
            <a:picLocks noChangeAspect="1"/>
          </p:cNvPicPr>
          <p:nvPr/>
        </p:nvPicPr>
        <p:blipFill>
          <a:blip r:embed="rId3"/>
          <a:stretch>
            <a:fillRect/>
          </a:stretch>
        </p:blipFill>
        <p:spPr>
          <a:xfrm>
            <a:off x="6812280" y="4526280"/>
            <a:ext cx="4846320" cy="1762298"/>
          </a:xfrm>
          <a:prstGeom prst="rect">
            <a:avLst/>
          </a:prstGeom>
        </p:spPr>
      </p:pic>
      <p:sp>
        <p:nvSpPr>
          <p:cNvPr id="9" name="TextBox 8"/>
          <p:cNvSpPr txBox="1"/>
          <p:nvPr/>
        </p:nvSpPr>
        <p:spPr>
          <a:xfrm>
            <a:off x="6812280" y="6382512"/>
            <a:ext cx="4846320" cy="365760"/>
          </a:xfrm>
          <a:prstGeom prst="rect">
            <a:avLst/>
          </a:prstGeom>
          <a:noFill/>
        </p:spPr>
        <p:txBody>
          <a:bodyPr wrap="square" lIns="0" tIns="0" rIns="0" bIns="0">
            <a:spAutoFit/>
          </a:bodyPr>
          <a:lstStyle/>
          <a:p>
            <a:pPr algn="l">
              <a:spcAft>
                <a:spcPts val="600"/>
              </a:spcAft>
            </a:pPr>
            <a:r>
              <a:rPr sz="900" b="0">
                <a:solidFill>
                  <a:srgbClr val="767676"/>
                </a:solidFill>
                <a:latin typeface="Calibri"/>
              </a:rPr>
              <a:t>Prediction vs one feature. The lines run parallel, a check passing rather than a finding.</a:t>
            </a:r>
          </a:p>
        </p:txBody>
      </p:sp>
      <p:sp>
        <p:nvSpPr>
          <p:cNvPr id="10" name="TextBox 9"/>
          <p:cNvSpPr txBox="1"/>
          <p:nvPr/>
        </p:nvSpPr>
        <p:spPr>
          <a:xfrm>
            <a:off x="566928" y="5623560"/>
            <a:ext cx="6035040" cy="91440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Course sits far ahead at 1.126, and where raw association put tuition first, inside the model course leads. Neither a course nor a parent's job is something a student can act on, and the model mostly finds students who started further back.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1A1A1A"/>
                </a:solidFill>
                <a:latin typeface="Cambria"/>
              </a:rPr>
              <a:t>3</a:t>
            </a:r>
          </a:p>
        </p:txBody>
      </p:sp>
      <p:sp>
        <p:nvSpPr>
          <p:cNvPr id="3" name="TextBox 2"/>
          <p:cNvSpPr txBox="1"/>
          <p:nvPr/>
        </p:nvSpPr>
        <p:spPr>
          <a:xfrm>
            <a:off x="1225296" y="457200"/>
            <a:ext cx="10399471"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Equal flagging asked the wrong question</a:t>
            </a:r>
          </a:p>
        </p:txBody>
      </p:sp>
      <p:sp>
        <p:nvSpPr>
          <p:cNvPr id="4" name="TextBox 3"/>
          <p:cNvSpPr txBox="1"/>
          <p:nvPr/>
        </p:nvSpPr>
        <p:spPr>
          <a:xfrm>
            <a:off x="566928" y="1280160"/>
            <a:ext cx="11057839" cy="822960"/>
          </a:xfrm>
          <a:prstGeom prst="rect">
            <a:avLst/>
          </a:prstGeom>
          <a:noFill/>
        </p:spPr>
        <p:txBody>
          <a:bodyPr wrap="square" lIns="0" tIns="0" rIns="0" bIns="0">
            <a:spAutoFit/>
          </a:bodyPr>
          <a:lstStyle/>
          <a:p>
            <a:pPr algn="l">
              <a:lnSpc>
                <a:spcPct val="120000"/>
              </a:lnSpc>
              <a:spcAft>
                <a:spcPts val="600"/>
              </a:spcAft>
            </a:pPr>
            <a:r>
              <a:rPr sz="1300" b="0">
                <a:solidFill>
                  <a:srgbClr val="595959"/>
                </a:solidFill>
                <a:latin typeface="Calibri"/>
              </a:rPr>
              <a:t>Debtors drop out at 76 percent against 34, so demanding equal flagging is demanding the model be wrong on purpose. The real-world gap sits next to the metric, so that a flagging gap near the outcome gap reports a disparity, and a bigger one makes one.</a:t>
            </a:r>
          </a:p>
        </p:txBody>
      </p:sp>
      <p:graphicFrame>
        <p:nvGraphicFramePr>
          <p:cNvPr id="5" name="Table 4"/>
          <p:cNvGraphicFramePr>
            <a:graphicFrameLocks noGrp="1"/>
          </p:cNvGraphicFramePr>
          <p:nvPr/>
        </p:nvGraphicFramePr>
        <p:xfrm>
          <a:off x="566928" y="2286000"/>
          <a:ext cx="6766557" cy="1783080"/>
        </p:xfrm>
        <a:graphic>
          <a:graphicData uri="http://schemas.openxmlformats.org/drawingml/2006/table">
            <a:tbl>
              <a:tblPr>
                <a:tableStyleId>{5C22544A-7EE6-4342-B048-85BDC9FD1C3A}</a:tableStyleId>
              </a:tblPr>
              <a:tblGrid>
                <a:gridCol w="1655129">
                  <a:extLst>
                    <a:ext uri="{9D8B030D-6E8A-4147-A177-3AD203B41FA5}">
                      <a16:colId xmlns:a16="http://schemas.microsoft.com/office/drawing/2014/main" val="20000"/>
                    </a:ext>
                  </a:extLst>
                </a:gridCol>
                <a:gridCol w="973605">
                  <a:extLst>
                    <a:ext uri="{9D8B030D-6E8A-4147-A177-3AD203B41FA5}">
                      <a16:colId xmlns:a16="http://schemas.microsoft.com/office/drawing/2014/main" val="20001"/>
                    </a:ext>
                  </a:extLst>
                </a:gridCol>
                <a:gridCol w="1217007">
                  <a:extLst>
                    <a:ext uri="{9D8B030D-6E8A-4147-A177-3AD203B41FA5}">
                      <a16:colId xmlns:a16="http://schemas.microsoft.com/office/drawing/2014/main" val="20002"/>
                    </a:ext>
                  </a:extLst>
                </a:gridCol>
                <a:gridCol w="876245">
                  <a:extLst>
                    <a:ext uri="{9D8B030D-6E8A-4147-A177-3AD203B41FA5}">
                      <a16:colId xmlns:a16="http://schemas.microsoft.com/office/drawing/2014/main" val="20003"/>
                    </a:ext>
                  </a:extLst>
                </a:gridCol>
                <a:gridCol w="973605">
                  <a:extLst>
                    <a:ext uri="{9D8B030D-6E8A-4147-A177-3AD203B41FA5}">
                      <a16:colId xmlns:a16="http://schemas.microsoft.com/office/drawing/2014/main" val="20004"/>
                    </a:ext>
                  </a:extLst>
                </a:gridCol>
                <a:gridCol w="1070966">
                  <a:extLst>
                    <a:ext uri="{9D8B030D-6E8A-4147-A177-3AD203B41FA5}">
                      <a16:colId xmlns:a16="http://schemas.microsoft.com/office/drawing/2014/main" val="20005"/>
                    </a:ext>
                  </a:extLst>
                </a:gridCol>
              </a:tblGrid>
              <a:tr h="356616">
                <a:tc>
                  <a:txBody>
                    <a:bodyPr/>
                    <a:lstStyle/>
                    <a:p>
                      <a:pPr algn="l"/>
                      <a:r>
                        <a:rPr sz="1000" b="1">
                          <a:solidFill>
                            <a:srgbClr val="FFFFFF"/>
                          </a:solidFill>
                          <a:latin typeface="Calibri"/>
                        </a:rPr>
                        <a:t>Attribute</a:t>
                      </a:r>
                    </a:p>
                  </a:txBody>
                  <a:tcPr marL="64008" marR="64008" marT="9144" marB="9144" anchor="ctr">
                    <a:solidFill>
                      <a:srgbClr val="1A1A1A"/>
                    </a:solidFill>
                  </a:tcPr>
                </a:tc>
                <a:tc>
                  <a:txBody>
                    <a:bodyPr/>
                    <a:lstStyle/>
                    <a:p>
                      <a:pPr algn="r"/>
                      <a:r>
                        <a:rPr sz="1000" b="1">
                          <a:solidFill>
                            <a:srgbClr val="FFFFFF"/>
                          </a:solidFill>
                          <a:latin typeface="Calibri"/>
                        </a:rPr>
                        <a:t>Real gap</a:t>
                      </a:r>
                    </a:p>
                  </a:txBody>
                  <a:tcPr marL="64008" marR="64008" marT="9144" marB="9144" anchor="ctr">
                    <a:solidFill>
                      <a:srgbClr val="1A1A1A"/>
                    </a:solidFill>
                  </a:tcPr>
                </a:tc>
                <a:tc>
                  <a:txBody>
                    <a:bodyPr/>
                    <a:lstStyle/>
                    <a:p>
                      <a:pPr algn="r"/>
                      <a:r>
                        <a:rPr sz="1000" b="1">
                          <a:solidFill>
                            <a:srgbClr val="FFFFFF"/>
                          </a:solidFill>
                          <a:latin typeface="Calibri"/>
                        </a:rPr>
                        <a:t>Flagging gap</a:t>
                      </a:r>
                    </a:p>
                  </a:txBody>
                  <a:tcPr marL="64008" marR="64008" marT="9144" marB="9144" anchor="ctr">
                    <a:solidFill>
                      <a:srgbClr val="1A1A1A"/>
                    </a:solidFill>
                  </a:tcPr>
                </a:tc>
                <a:tc>
                  <a:txBody>
                    <a:bodyPr/>
                    <a:lstStyle/>
                    <a:p>
                      <a:pPr algn="r"/>
                      <a:r>
                        <a:rPr sz="1000" b="1">
                          <a:solidFill>
                            <a:srgbClr val="FFFFFF"/>
                          </a:solidFill>
                          <a:latin typeface="Calibri"/>
                        </a:rPr>
                        <a:t>DI ratio</a:t>
                      </a:r>
                    </a:p>
                  </a:txBody>
                  <a:tcPr marL="64008" marR="64008" marT="9144" marB="9144" anchor="ctr">
                    <a:solidFill>
                      <a:srgbClr val="1A1A1A"/>
                    </a:solidFill>
                  </a:tcPr>
                </a:tc>
                <a:tc>
                  <a:txBody>
                    <a:bodyPr/>
                    <a:lstStyle/>
                    <a:p>
                      <a:pPr algn="r"/>
                      <a:r>
                        <a:rPr sz="1000" b="1">
                          <a:solidFill>
                            <a:srgbClr val="FFFFFF"/>
                          </a:solidFill>
                          <a:latin typeface="Calibri"/>
                        </a:rPr>
                        <a:t>Error gap</a:t>
                      </a:r>
                    </a:p>
                  </a:txBody>
                  <a:tcPr marL="64008" marR="64008" marT="9144" marB="9144" anchor="ctr">
                    <a:solidFill>
                      <a:srgbClr val="1A1A1A"/>
                    </a:solidFill>
                  </a:tcPr>
                </a:tc>
                <a:tc>
                  <a:txBody>
                    <a:bodyPr/>
                    <a:lstStyle/>
                    <a:p>
                      <a:pPr algn="r"/>
                      <a:r>
                        <a:rPr sz="1000" b="1">
                          <a:solidFill>
                            <a:srgbClr val="FFFFFF"/>
                          </a:solidFill>
                          <a:latin typeface="Calibri"/>
                        </a:rPr>
                        <a:t>Recall gap</a:t>
                      </a:r>
                    </a:p>
                  </a:txBody>
                  <a:tcPr marL="64008" marR="64008" marT="9144" marB="9144" anchor="ctr">
                    <a:solidFill>
                      <a:srgbClr val="1A1A1A"/>
                    </a:solidFill>
                  </a:tcPr>
                </a:tc>
                <a:extLst>
                  <a:ext uri="{0D108BD9-81ED-4DB2-BD59-A6C34878D82A}">
                    <a16:rowId xmlns:a16="http://schemas.microsoft.com/office/drawing/2014/main" val="10000"/>
                  </a:ext>
                </a:extLst>
              </a:tr>
              <a:tr h="356616">
                <a:tc>
                  <a:txBody>
                    <a:bodyPr/>
                    <a:lstStyle/>
                    <a:p>
                      <a:pPr algn="l"/>
                      <a:r>
                        <a:rPr sz="1100" b="1">
                          <a:solidFill>
                            <a:srgbClr val="1A1A1A"/>
                          </a:solidFill>
                          <a:latin typeface="Calibri"/>
                        </a:rPr>
                        <a:t>Gender</a:t>
                      </a:r>
                    </a:p>
                  </a:txBody>
                  <a:tcPr marL="64008" marR="64008" marT="9144" marB="9144" anchor="ctr">
                    <a:solidFill>
                      <a:srgbClr val="FFF3CC"/>
                    </a:solidFill>
                  </a:tcPr>
                </a:tc>
                <a:tc>
                  <a:txBody>
                    <a:bodyPr/>
                    <a:lstStyle/>
                    <a:p>
                      <a:pPr algn="r"/>
                      <a:r>
                        <a:rPr sz="1100" b="1">
                          <a:solidFill>
                            <a:srgbClr val="1A1A1A"/>
                          </a:solidFill>
                          <a:latin typeface="Calibri"/>
                        </a:rPr>
                        <a:t>0.238</a:t>
                      </a:r>
                    </a:p>
                  </a:txBody>
                  <a:tcPr marL="64008" marR="64008" marT="9144" marB="9144" anchor="ctr">
                    <a:solidFill>
                      <a:srgbClr val="FFF3CC"/>
                    </a:solidFill>
                  </a:tcPr>
                </a:tc>
                <a:tc>
                  <a:txBody>
                    <a:bodyPr/>
                    <a:lstStyle/>
                    <a:p>
                      <a:pPr algn="r"/>
                      <a:r>
                        <a:rPr sz="1100" b="1">
                          <a:solidFill>
                            <a:srgbClr val="1A1A1A"/>
                          </a:solidFill>
                          <a:latin typeface="Calibri"/>
                        </a:rPr>
                        <a:t>0.350</a:t>
                      </a:r>
                    </a:p>
                  </a:txBody>
                  <a:tcPr marL="64008" marR="64008" marT="9144" marB="9144" anchor="ctr">
                    <a:solidFill>
                      <a:srgbClr val="FFF3CC"/>
                    </a:solidFill>
                  </a:tcPr>
                </a:tc>
                <a:tc>
                  <a:txBody>
                    <a:bodyPr/>
                    <a:lstStyle/>
                    <a:p>
                      <a:pPr algn="r"/>
                      <a:r>
                        <a:rPr sz="1100" b="1">
                          <a:solidFill>
                            <a:srgbClr val="1A1A1A"/>
                          </a:solidFill>
                          <a:latin typeface="Calibri"/>
                        </a:rPr>
                        <a:t>0.496</a:t>
                      </a:r>
                    </a:p>
                  </a:txBody>
                  <a:tcPr marL="64008" marR="64008" marT="9144" marB="9144" anchor="ctr">
                    <a:solidFill>
                      <a:srgbClr val="FFF3CC"/>
                    </a:solidFill>
                  </a:tcPr>
                </a:tc>
                <a:tc>
                  <a:txBody>
                    <a:bodyPr/>
                    <a:lstStyle/>
                    <a:p>
                      <a:pPr algn="r"/>
                      <a:r>
                        <a:rPr sz="1100" b="1">
                          <a:solidFill>
                            <a:srgbClr val="1A1A1A"/>
                          </a:solidFill>
                          <a:latin typeface="Calibri"/>
                        </a:rPr>
                        <a:t>0.290</a:t>
                      </a:r>
                    </a:p>
                  </a:txBody>
                  <a:tcPr marL="64008" marR="64008" marT="9144" marB="9144" anchor="ctr">
                    <a:solidFill>
                      <a:srgbClr val="FFF3CC"/>
                    </a:solidFill>
                  </a:tcPr>
                </a:tc>
                <a:tc>
                  <a:txBody>
                    <a:bodyPr/>
                    <a:lstStyle/>
                    <a:p>
                      <a:pPr algn="r"/>
                      <a:r>
                        <a:rPr sz="1100" b="1">
                          <a:solidFill>
                            <a:srgbClr val="1A1A1A"/>
                          </a:solidFill>
                          <a:latin typeface="Calibri"/>
                        </a:rPr>
                        <a:t>0.177</a:t>
                      </a:r>
                    </a:p>
                  </a:txBody>
                  <a:tcPr marL="64008" marR="64008" marT="9144" marB="9144" anchor="ctr">
                    <a:solidFill>
                      <a:srgbClr val="FFF3CC"/>
                    </a:solidFill>
                  </a:tcPr>
                </a:tc>
                <a:extLst>
                  <a:ext uri="{0D108BD9-81ED-4DB2-BD59-A6C34878D82A}">
                    <a16:rowId xmlns:a16="http://schemas.microsoft.com/office/drawing/2014/main" val="10001"/>
                  </a:ext>
                </a:extLst>
              </a:tr>
              <a:tr h="356616">
                <a:tc>
                  <a:txBody>
                    <a:bodyPr/>
                    <a:lstStyle/>
                    <a:p>
                      <a:pPr algn="l"/>
                      <a:r>
                        <a:rPr sz="1100" b="0">
                          <a:solidFill>
                            <a:srgbClr val="1A1A1A"/>
                          </a:solidFill>
                          <a:latin typeface="Calibri"/>
                        </a:rPr>
                        <a:t>Scholarship</a:t>
                      </a:r>
                    </a:p>
                  </a:txBody>
                  <a:tcPr marL="64008" marR="64008" marT="9144" marB="9144" anchor="ctr">
                    <a:solidFill>
                      <a:srgbClr val="F2F2F2"/>
                    </a:solidFill>
                  </a:tcPr>
                </a:tc>
                <a:tc>
                  <a:txBody>
                    <a:bodyPr/>
                    <a:lstStyle/>
                    <a:p>
                      <a:pPr algn="r"/>
                      <a:r>
                        <a:rPr sz="1100" b="0">
                          <a:solidFill>
                            <a:srgbClr val="595959"/>
                          </a:solidFill>
                          <a:latin typeface="Calibri"/>
                        </a:rPr>
                        <a:t>0.318</a:t>
                      </a:r>
                    </a:p>
                  </a:txBody>
                  <a:tcPr marL="64008" marR="64008" marT="9144" marB="9144" anchor="ctr">
                    <a:solidFill>
                      <a:srgbClr val="F2F2F2"/>
                    </a:solidFill>
                  </a:tcPr>
                </a:tc>
                <a:tc>
                  <a:txBody>
                    <a:bodyPr/>
                    <a:lstStyle/>
                    <a:p>
                      <a:pPr algn="r"/>
                      <a:r>
                        <a:rPr sz="1100" b="0">
                          <a:solidFill>
                            <a:srgbClr val="595959"/>
                          </a:solidFill>
                          <a:latin typeface="Calibri"/>
                        </a:rPr>
                        <a:t>0.500</a:t>
                      </a:r>
                    </a:p>
                  </a:txBody>
                  <a:tcPr marL="64008" marR="64008" marT="9144" marB="9144" anchor="ctr">
                    <a:solidFill>
                      <a:srgbClr val="F2F2F2"/>
                    </a:solidFill>
                  </a:tcPr>
                </a:tc>
                <a:tc>
                  <a:txBody>
                    <a:bodyPr/>
                    <a:lstStyle/>
                    <a:p>
                      <a:pPr algn="r"/>
                      <a:r>
                        <a:rPr sz="1100" b="0">
                          <a:solidFill>
                            <a:srgbClr val="595959"/>
                          </a:solidFill>
                          <a:latin typeface="Calibri"/>
                        </a:rPr>
                        <a:t>0.171</a:t>
                      </a:r>
                    </a:p>
                  </a:txBody>
                  <a:tcPr marL="64008" marR="64008" marT="9144" marB="9144" anchor="ctr">
                    <a:solidFill>
                      <a:srgbClr val="F2F2F2"/>
                    </a:solidFill>
                  </a:tcPr>
                </a:tc>
                <a:tc>
                  <a:txBody>
                    <a:bodyPr/>
                    <a:lstStyle/>
                    <a:p>
                      <a:pPr algn="r"/>
                      <a:r>
                        <a:rPr sz="1100" b="0">
                          <a:solidFill>
                            <a:srgbClr val="595959"/>
                          </a:solidFill>
                          <a:latin typeface="Calibri"/>
                        </a:rPr>
                        <a:t>0.385</a:t>
                      </a:r>
                    </a:p>
                  </a:txBody>
                  <a:tcPr marL="64008" marR="64008" marT="9144" marB="9144" anchor="ctr">
                    <a:solidFill>
                      <a:srgbClr val="F2F2F2"/>
                    </a:solidFill>
                  </a:tcPr>
                </a:tc>
                <a:tc>
                  <a:txBody>
                    <a:bodyPr/>
                    <a:lstStyle/>
                    <a:p>
                      <a:pPr algn="r"/>
                      <a:r>
                        <a:rPr sz="1100" b="0">
                          <a:solidFill>
                            <a:srgbClr val="595959"/>
                          </a:solidFill>
                          <a:latin typeface="Calibri"/>
                        </a:rPr>
                        <a:t>0.283</a:t>
                      </a:r>
                    </a:p>
                  </a:txBody>
                  <a:tcPr marL="64008" marR="64008" marT="9144" marB="9144" anchor="ctr">
                    <a:solidFill>
                      <a:srgbClr val="F2F2F2"/>
                    </a:solidFill>
                  </a:tcPr>
                </a:tc>
                <a:extLst>
                  <a:ext uri="{0D108BD9-81ED-4DB2-BD59-A6C34878D82A}">
                    <a16:rowId xmlns:a16="http://schemas.microsoft.com/office/drawing/2014/main" val="10002"/>
                  </a:ext>
                </a:extLst>
              </a:tr>
              <a:tr h="356616">
                <a:tc>
                  <a:txBody>
                    <a:bodyPr/>
                    <a:lstStyle/>
                    <a:p>
                      <a:pPr algn="l"/>
                      <a:r>
                        <a:rPr sz="1100" b="0">
                          <a:solidFill>
                            <a:srgbClr val="1A1A1A"/>
                          </a:solidFill>
                          <a:latin typeface="Calibri"/>
                        </a:rPr>
                        <a:t>Debtor</a:t>
                      </a:r>
                    </a:p>
                  </a:txBody>
                  <a:tcPr marL="64008" marR="64008" marT="9144" marB="9144" anchor="ctr">
                    <a:solidFill>
                      <a:srgbClr val="FFFFFF"/>
                    </a:solidFill>
                  </a:tcPr>
                </a:tc>
                <a:tc>
                  <a:txBody>
                    <a:bodyPr/>
                    <a:lstStyle/>
                    <a:p>
                      <a:pPr algn="r"/>
                      <a:r>
                        <a:rPr sz="1100" b="0">
                          <a:solidFill>
                            <a:srgbClr val="595959"/>
                          </a:solidFill>
                          <a:latin typeface="Calibri"/>
                        </a:rPr>
                        <a:t>0.392</a:t>
                      </a:r>
                    </a:p>
                  </a:txBody>
                  <a:tcPr marL="64008" marR="64008" marT="9144" marB="9144" anchor="ctr">
                    <a:solidFill>
                      <a:srgbClr val="FFFFFF"/>
                    </a:solidFill>
                  </a:tcPr>
                </a:tc>
                <a:tc>
                  <a:txBody>
                    <a:bodyPr/>
                    <a:lstStyle/>
                    <a:p>
                      <a:pPr algn="r"/>
                      <a:r>
                        <a:rPr sz="1100" b="0">
                          <a:solidFill>
                            <a:srgbClr val="595959"/>
                          </a:solidFill>
                          <a:latin typeface="Calibri"/>
                        </a:rPr>
                        <a:t>0.369</a:t>
                      </a:r>
                    </a:p>
                  </a:txBody>
                  <a:tcPr marL="64008" marR="64008" marT="9144" marB="9144" anchor="ctr">
                    <a:solidFill>
                      <a:srgbClr val="FFFFFF"/>
                    </a:solidFill>
                  </a:tcPr>
                </a:tc>
                <a:tc>
                  <a:txBody>
                    <a:bodyPr/>
                    <a:lstStyle/>
                    <a:p>
                      <a:pPr algn="r"/>
                      <a:r>
                        <a:rPr sz="1100" b="0">
                          <a:solidFill>
                            <a:srgbClr val="595959"/>
                          </a:solidFill>
                          <a:latin typeface="Calibri"/>
                        </a:rPr>
                        <a:t>0.545</a:t>
                      </a:r>
                    </a:p>
                  </a:txBody>
                  <a:tcPr marL="64008" marR="64008" marT="9144" marB="9144" anchor="ctr">
                    <a:solidFill>
                      <a:srgbClr val="FFFFFF"/>
                    </a:solidFill>
                  </a:tcPr>
                </a:tc>
                <a:tc>
                  <a:txBody>
                    <a:bodyPr/>
                    <a:lstStyle/>
                    <a:p>
                      <a:pPr algn="r"/>
                      <a:r>
                        <a:rPr sz="1100" b="0">
                          <a:solidFill>
                            <a:srgbClr val="595959"/>
                          </a:solidFill>
                          <a:latin typeface="Calibri"/>
                        </a:rPr>
                        <a:t>0.199</a:t>
                      </a:r>
                    </a:p>
                  </a:txBody>
                  <a:tcPr marL="64008" marR="64008" marT="9144" marB="9144" anchor="ctr">
                    <a:solidFill>
                      <a:srgbClr val="FFFFFF"/>
                    </a:solidFill>
                  </a:tcPr>
                </a:tc>
                <a:tc>
                  <a:txBody>
                    <a:bodyPr/>
                    <a:lstStyle/>
                    <a:p>
                      <a:pPr algn="r"/>
                      <a:r>
                        <a:rPr sz="1100" b="0">
                          <a:solidFill>
                            <a:srgbClr val="595959"/>
                          </a:solidFill>
                          <a:latin typeface="Calibri"/>
                        </a:rPr>
                        <a:t>0.199</a:t>
                      </a:r>
                    </a:p>
                  </a:txBody>
                  <a:tcPr marL="64008" marR="64008" marT="9144" marB="9144" anchor="ctr">
                    <a:solidFill>
                      <a:srgbClr val="FFFFFF"/>
                    </a:solidFill>
                  </a:tcPr>
                </a:tc>
                <a:extLst>
                  <a:ext uri="{0D108BD9-81ED-4DB2-BD59-A6C34878D82A}">
                    <a16:rowId xmlns:a16="http://schemas.microsoft.com/office/drawing/2014/main" val="10003"/>
                  </a:ext>
                </a:extLst>
              </a:tr>
              <a:tr h="356616">
                <a:tc>
                  <a:txBody>
                    <a:bodyPr/>
                    <a:lstStyle/>
                    <a:p>
                      <a:pPr algn="l"/>
                      <a:r>
                        <a:rPr sz="1100" b="0">
                          <a:solidFill>
                            <a:srgbClr val="1A1A1A"/>
                          </a:solidFill>
                          <a:latin typeface="Calibri"/>
                        </a:rPr>
                        <a:t>Age band</a:t>
                      </a:r>
                    </a:p>
                  </a:txBody>
                  <a:tcPr marL="64008" marR="64008" marT="9144" marB="9144" anchor="ctr">
                    <a:solidFill>
                      <a:srgbClr val="F2F2F2"/>
                    </a:solidFill>
                  </a:tcPr>
                </a:tc>
                <a:tc>
                  <a:txBody>
                    <a:bodyPr/>
                    <a:lstStyle/>
                    <a:p>
                      <a:pPr algn="r"/>
                      <a:r>
                        <a:rPr sz="1100" b="0">
                          <a:solidFill>
                            <a:srgbClr val="595959"/>
                          </a:solidFill>
                          <a:latin typeface="Calibri"/>
                        </a:rPr>
                        <a:t>0.433</a:t>
                      </a:r>
                    </a:p>
                  </a:txBody>
                  <a:tcPr marL="64008" marR="64008" marT="9144" marB="9144" anchor="ctr">
                    <a:solidFill>
                      <a:srgbClr val="F2F2F2"/>
                    </a:solidFill>
                  </a:tcPr>
                </a:tc>
                <a:tc>
                  <a:txBody>
                    <a:bodyPr/>
                    <a:lstStyle/>
                    <a:p>
                      <a:pPr algn="r"/>
                      <a:r>
                        <a:rPr sz="1100" b="0">
                          <a:solidFill>
                            <a:srgbClr val="595959"/>
                          </a:solidFill>
                          <a:latin typeface="Calibri"/>
                        </a:rPr>
                        <a:t>0.558</a:t>
                      </a:r>
                    </a:p>
                  </a:txBody>
                  <a:tcPr marL="64008" marR="64008" marT="9144" marB="9144" anchor="ctr">
                    <a:solidFill>
                      <a:srgbClr val="F2F2F2"/>
                    </a:solidFill>
                  </a:tcPr>
                </a:tc>
                <a:tc>
                  <a:txBody>
                    <a:bodyPr/>
                    <a:lstStyle/>
                    <a:p>
                      <a:pPr algn="r"/>
                      <a:r>
                        <a:rPr sz="1100" b="0">
                          <a:solidFill>
                            <a:srgbClr val="595959"/>
                          </a:solidFill>
                          <a:latin typeface="Calibri"/>
                        </a:rPr>
                        <a:t>0.369</a:t>
                      </a:r>
                    </a:p>
                  </a:txBody>
                  <a:tcPr marL="64008" marR="64008" marT="9144" marB="9144" anchor="ctr">
                    <a:solidFill>
                      <a:srgbClr val="F2F2F2"/>
                    </a:solidFill>
                  </a:tcPr>
                </a:tc>
                <a:tc>
                  <a:txBody>
                    <a:bodyPr/>
                    <a:lstStyle/>
                    <a:p>
                      <a:pPr algn="r"/>
                      <a:r>
                        <a:rPr sz="1100" b="0">
                          <a:solidFill>
                            <a:srgbClr val="595959"/>
                          </a:solidFill>
                          <a:latin typeface="Calibri"/>
                        </a:rPr>
                        <a:t>0.572</a:t>
                      </a:r>
                    </a:p>
                  </a:txBody>
                  <a:tcPr marL="64008" marR="64008" marT="9144" marB="9144" anchor="ctr">
                    <a:solidFill>
                      <a:srgbClr val="F2F2F2"/>
                    </a:solidFill>
                  </a:tcPr>
                </a:tc>
                <a:tc>
                  <a:txBody>
                    <a:bodyPr/>
                    <a:lstStyle/>
                    <a:p>
                      <a:pPr algn="r"/>
                      <a:r>
                        <a:rPr sz="1100" b="0">
                          <a:solidFill>
                            <a:srgbClr val="595959"/>
                          </a:solidFill>
                          <a:latin typeface="Calibri"/>
                        </a:rPr>
                        <a:t>0.253</a:t>
                      </a:r>
                    </a:p>
                  </a:txBody>
                  <a:tcPr marL="64008" marR="64008" marT="9144" marB="9144" anchor="ctr">
                    <a:solidFill>
                      <a:srgbClr val="F2F2F2"/>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566928" y="4297680"/>
            <a:ext cx="6766560" cy="1645920"/>
          </a:xfrm>
          <a:prstGeom prst="rect">
            <a:avLst/>
          </a:prstGeom>
          <a:noFill/>
        </p:spPr>
        <p:txBody>
          <a:bodyPr wrap="square" lIns="0" tIns="0" rIns="0" bIns="0">
            <a:spAutoFit/>
          </a:bodyPr>
          <a:lstStyle/>
          <a:p>
            <a:pPr algn="l">
              <a:lnSpc>
                <a:spcPct val="120000"/>
              </a:lnSpc>
              <a:spcAft>
                <a:spcPts val="800"/>
              </a:spcAft>
            </a:pPr>
            <a:r>
              <a:rPr sz="1300" b="1">
                <a:solidFill>
                  <a:srgbClr val="1A1A1A"/>
                </a:solidFill>
                <a:latin typeface="Calibri"/>
              </a:rPr>
              <a:t>Debtor. </a:t>
            </a:r>
            <a:r>
              <a:rPr sz="1300" b="0">
                <a:solidFill>
                  <a:srgbClr val="595959"/>
                </a:solidFill>
                <a:latin typeface="Calibri"/>
              </a:rPr>
              <a:t>Real gap 0.392 and flagging gap 0.369, so the model's disparity is smaller than the world's. Its DI ratio of 0.545 sits below the 0.8 line the old audit called a failure, but it is not one.</a:t>
            </a:r>
          </a:p>
          <a:p>
            <a:pPr algn="l">
              <a:lnSpc>
                <a:spcPct val="120000"/>
              </a:lnSpc>
              <a:spcAft>
                <a:spcPts val="800"/>
              </a:spcAft>
            </a:pPr>
            <a:r>
              <a:rPr sz="1300" b="1">
                <a:solidFill>
                  <a:srgbClr val="1A1A1A"/>
                </a:solidFill>
                <a:latin typeface="Calibri"/>
              </a:rPr>
              <a:t>Gender. </a:t>
            </a:r>
            <a:r>
              <a:rPr sz="1300" b="0">
                <a:solidFill>
                  <a:srgbClr val="595959"/>
                </a:solidFill>
                <a:latin typeface="Calibri"/>
              </a:rPr>
              <a:t>Real gap 0.238 and flagging gap 0.350, so the gap the model creates is bigger than the gap in the world, and that is amplification.</a:t>
            </a:r>
          </a:p>
        </p:txBody>
      </p:sp>
      <p:sp>
        <p:nvSpPr>
          <p:cNvPr id="7" name="Rectangle 6"/>
          <p:cNvSpPr/>
          <p:nvPr/>
        </p:nvSpPr>
        <p:spPr>
          <a:xfrm>
            <a:off x="8915400" y="2267712"/>
            <a:ext cx="118872" cy="118872"/>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089136" y="2231136"/>
            <a:ext cx="1097280" cy="182880"/>
          </a:xfrm>
          <a:prstGeom prst="rect">
            <a:avLst/>
          </a:prstGeom>
          <a:noFill/>
        </p:spPr>
        <p:txBody>
          <a:bodyPr wrap="square" lIns="0" tIns="0" rIns="0" bIns="0">
            <a:spAutoFit/>
          </a:bodyPr>
          <a:lstStyle/>
          <a:p>
            <a:pPr algn="l">
              <a:spcAft>
                <a:spcPts val="0"/>
              </a:spcAft>
            </a:pPr>
            <a:r>
              <a:rPr sz="900" b="0">
                <a:solidFill>
                  <a:srgbClr val="767676"/>
                </a:solidFill>
                <a:latin typeface="Calibri"/>
              </a:rPr>
              <a:t>male</a:t>
            </a:r>
          </a:p>
        </p:txBody>
      </p:sp>
      <p:sp>
        <p:nvSpPr>
          <p:cNvPr id="9" name="Rectangle 8"/>
          <p:cNvSpPr/>
          <p:nvPr/>
        </p:nvSpPr>
        <p:spPr>
          <a:xfrm>
            <a:off x="9966960" y="2267712"/>
            <a:ext cx="118872" cy="118872"/>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140696" y="2231136"/>
            <a:ext cx="1097280" cy="182880"/>
          </a:xfrm>
          <a:prstGeom prst="rect">
            <a:avLst/>
          </a:prstGeom>
          <a:noFill/>
        </p:spPr>
        <p:txBody>
          <a:bodyPr wrap="square" lIns="0" tIns="0" rIns="0" bIns="0">
            <a:spAutoFit/>
          </a:bodyPr>
          <a:lstStyle/>
          <a:p>
            <a:pPr algn="l">
              <a:spcAft>
                <a:spcPts val="0"/>
              </a:spcAft>
            </a:pPr>
            <a:r>
              <a:rPr sz="900" b="0">
                <a:solidFill>
                  <a:srgbClr val="767676"/>
                </a:solidFill>
                <a:latin typeface="Calibri"/>
              </a:rPr>
              <a:t>female</a:t>
            </a:r>
          </a:p>
        </p:txBody>
      </p:sp>
      <p:sp>
        <p:nvSpPr>
          <p:cNvPr id="11" name="TextBox 10"/>
          <p:cNvSpPr txBox="1"/>
          <p:nvPr/>
        </p:nvSpPr>
        <p:spPr>
          <a:xfrm>
            <a:off x="7772400" y="2523744"/>
            <a:ext cx="1069848" cy="274320"/>
          </a:xfrm>
          <a:prstGeom prst="rect">
            <a:avLst/>
          </a:prstGeom>
          <a:noFill/>
        </p:spPr>
        <p:txBody>
          <a:bodyPr wrap="square" lIns="0" tIns="0" rIns="0" bIns="0">
            <a:spAutoFit/>
          </a:bodyPr>
          <a:lstStyle/>
          <a:p>
            <a:pPr algn="l">
              <a:spcAft>
                <a:spcPts val="0"/>
              </a:spcAft>
            </a:pPr>
            <a:r>
              <a:rPr sz="1000" b="0">
                <a:solidFill>
                  <a:srgbClr val="1A1A1A"/>
                </a:solidFill>
                <a:latin typeface="Calibri"/>
              </a:rPr>
              <a:t>flagged</a:t>
            </a:r>
          </a:p>
        </p:txBody>
      </p:sp>
      <p:sp>
        <p:nvSpPr>
          <p:cNvPr id="12" name="Rectangle 11"/>
          <p:cNvSpPr/>
          <p:nvPr/>
        </p:nvSpPr>
        <p:spPr>
          <a:xfrm>
            <a:off x="8915400" y="2487168"/>
            <a:ext cx="1872051"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851459" y="2464308"/>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0.694</a:t>
            </a:r>
          </a:p>
        </p:txBody>
      </p:sp>
      <p:sp>
        <p:nvSpPr>
          <p:cNvPr id="14" name="Rectangle 13"/>
          <p:cNvSpPr/>
          <p:nvPr/>
        </p:nvSpPr>
        <p:spPr>
          <a:xfrm>
            <a:off x="8915400" y="2660904"/>
            <a:ext cx="930630"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910038" y="2638044"/>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0.345</a:t>
            </a:r>
          </a:p>
        </p:txBody>
      </p:sp>
      <p:sp>
        <p:nvSpPr>
          <p:cNvPr id="16" name="TextBox 15"/>
          <p:cNvSpPr txBox="1"/>
          <p:nvPr/>
        </p:nvSpPr>
        <p:spPr>
          <a:xfrm>
            <a:off x="7772400" y="2980944"/>
            <a:ext cx="1069848" cy="274320"/>
          </a:xfrm>
          <a:prstGeom prst="rect">
            <a:avLst/>
          </a:prstGeom>
          <a:noFill/>
        </p:spPr>
        <p:txBody>
          <a:bodyPr wrap="square" lIns="0" tIns="0" rIns="0" bIns="0">
            <a:spAutoFit/>
          </a:bodyPr>
          <a:lstStyle/>
          <a:p>
            <a:pPr algn="l">
              <a:spcAft>
                <a:spcPts val="0"/>
              </a:spcAft>
            </a:pPr>
            <a:r>
              <a:rPr sz="1000" b="0">
                <a:solidFill>
                  <a:srgbClr val="1A1A1A"/>
                </a:solidFill>
                <a:latin typeface="Calibri"/>
              </a:rPr>
              <a:t>dropouts found</a:t>
            </a:r>
          </a:p>
        </p:txBody>
      </p:sp>
      <p:sp>
        <p:nvSpPr>
          <p:cNvPr id="17" name="Rectangle 16"/>
          <p:cNvSpPr/>
          <p:nvPr/>
        </p:nvSpPr>
        <p:spPr>
          <a:xfrm>
            <a:off x="8915400" y="2944368"/>
            <a:ext cx="2365689"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1345097" y="2921508"/>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0.877</a:t>
            </a:r>
          </a:p>
        </p:txBody>
      </p:sp>
      <p:sp>
        <p:nvSpPr>
          <p:cNvPr id="19" name="Rectangle 18"/>
          <p:cNvSpPr/>
          <p:nvPr/>
        </p:nvSpPr>
        <p:spPr>
          <a:xfrm>
            <a:off x="8915400" y="3118104"/>
            <a:ext cx="1888235"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867643" y="3095244"/>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0.700</a:t>
            </a:r>
          </a:p>
        </p:txBody>
      </p:sp>
      <p:sp>
        <p:nvSpPr>
          <p:cNvPr id="21" name="TextBox 20"/>
          <p:cNvSpPr txBox="1"/>
          <p:nvPr/>
        </p:nvSpPr>
        <p:spPr>
          <a:xfrm>
            <a:off x="7772400" y="3438144"/>
            <a:ext cx="1069848" cy="274320"/>
          </a:xfrm>
          <a:prstGeom prst="rect">
            <a:avLst/>
          </a:prstGeom>
          <a:noFill/>
        </p:spPr>
        <p:txBody>
          <a:bodyPr wrap="square" lIns="0" tIns="0" rIns="0" bIns="0">
            <a:spAutoFit/>
          </a:bodyPr>
          <a:lstStyle/>
          <a:p>
            <a:pPr algn="l">
              <a:spcAft>
                <a:spcPts val="0"/>
              </a:spcAft>
            </a:pPr>
            <a:r>
              <a:rPr sz="1000" b="0">
                <a:solidFill>
                  <a:srgbClr val="1A1A1A"/>
                </a:solidFill>
                <a:latin typeface="Calibri"/>
              </a:rPr>
              <a:t>false alarms</a:t>
            </a:r>
          </a:p>
        </p:txBody>
      </p:sp>
      <p:sp>
        <p:nvSpPr>
          <p:cNvPr id="22" name="Rectangle 21"/>
          <p:cNvSpPr/>
          <p:nvPr/>
        </p:nvSpPr>
        <p:spPr>
          <a:xfrm>
            <a:off x="8915400" y="3401568"/>
            <a:ext cx="1308277"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87685" y="3378708"/>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0.485</a:t>
            </a:r>
          </a:p>
        </p:txBody>
      </p:sp>
      <p:sp>
        <p:nvSpPr>
          <p:cNvPr id="24" name="Rectangle 23"/>
          <p:cNvSpPr/>
          <p:nvPr/>
        </p:nvSpPr>
        <p:spPr>
          <a:xfrm>
            <a:off x="8915400" y="3575304"/>
            <a:ext cx="526008"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9505416" y="3552444"/>
            <a:ext cx="640080" cy="182880"/>
          </a:xfrm>
          <a:prstGeom prst="rect">
            <a:avLst/>
          </a:prstGeom>
          <a:noFill/>
        </p:spPr>
        <p:txBody>
          <a:bodyPr wrap="square" lIns="0" tIns="0" rIns="0" bIns="0">
            <a:spAutoFit/>
          </a:bodyPr>
          <a:lstStyle/>
          <a:p>
            <a:pPr algn="l">
              <a:spcAft>
                <a:spcPts val="0"/>
              </a:spcAft>
            </a:pPr>
            <a:r>
              <a:rPr sz="900" b="0">
                <a:solidFill>
                  <a:srgbClr val="595959"/>
                </a:solidFill>
                <a:latin typeface="Calibri"/>
              </a:rPr>
              <a:t>0.195</a:t>
            </a:r>
          </a:p>
        </p:txBody>
      </p:sp>
      <p:sp>
        <p:nvSpPr>
          <p:cNvPr id="26" name="TextBox 25"/>
          <p:cNvSpPr txBox="1"/>
          <p:nvPr/>
        </p:nvSpPr>
        <p:spPr>
          <a:xfrm>
            <a:off x="7772400" y="3977639"/>
            <a:ext cx="3840480" cy="603504"/>
          </a:xfrm>
          <a:prstGeom prst="rect">
            <a:avLst/>
          </a:prstGeom>
          <a:noFill/>
        </p:spPr>
        <p:txBody>
          <a:bodyPr wrap="square" lIns="0" tIns="0" rIns="0" bIns="0">
            <a:spAutoFit/>
          </a:bodyPr>
          <a:lstStyle/>
          <a:p>
            <a:pPr algn="l">
              <a:spcAft>
                <a:spcPts val="0"/>
              </a:spcAft>
            </a:pPr>
            <a:r>
              <a:rPr sz="3800" b="1">
                <a:solidFill>
                  <a:srgbClr val="1A1A1A"/>
                </a:solidFill>
                <a:latin typeface="Cambria"/>
              </a:rPr>
              <a:t>3 in 10</a:t>
            </a:r>
          </a:p>
        </p:txBody>
      </p:sp>
      <p:sp>
        <p:nvSpPr>
          <p:cNvPr id="27" name="TextBox 26"/>
          <p:cNvSpPr txBox="1"/>
          <p:nvPr/>
        </p:nvSpPr>
        <p:spPr>
          <a:xfrm>
            <a:off x="7772400" y="4572000"/>
            <a:ext cx="3840480" cy="1463040"/>
          </a:xfrm>
          <a:prstGeom prst="rect">
            <a:avLst/>
          </a:prstGeom>
          <a:noFill/>
        </p:spPr>
        <p:txBody>
          <a:bodyPr wrap="square" lIns="0" tIns="0" rIns="0" bIns="0">
            <a:spAutoFit/>
          </a:bodyPr>
          <a:lstStyle/>
          <a:p>
            <a:pPr algn="l">
              <a:lnSpc>
                <a:spcPct val="120000"/>
              </a:lnSpc>
              <a:spcAft>
                <a:spcPts val="600"/>
              </a:spcAft>
            </a:pPr>
            <a:r>
              <a:rPr sz="1200" b="0">
                <a:solidFill>
                  <a:srgbClr val="595959"/>
                </a:solidFill>
                <a:latin typeface="Calibri"/>
              </a:rPr>
              <a:t>of the women who go on to drop out are never flagged at all, and for men it is closer to one in eight. It appears in no flagging-rate metric, and only once you count errors instead of flags.</a:t>
            </a:r>
          </a:p>
        </p:txBody>
      </p:sp>
      <p:sp>
        <p:nvSpPr>
          <p:cNvPr id="28" name="TextBox 27"/>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These gaps use the 726 test students, a little below the full-data rates on slide 3. The finding is not that every group fails the equal-rate test, which was true and useless.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1A1A1A"/>
                </a:solidFill>
                <a:latin typeface="Cambria"/>
              </a:rPr>
              <a:t>4</a:t>
            </a:r>
          </a:p>
        </p:txBody>
      </p:sp>
      <p:sp>
        <p:nvSpPr>
          <p:cNvPr id="3" name="TextBox 2"/>
          <p:cNvSpPr txBox="1"/>
          <p:nvPr/>
        </p:nvSpPr>
        <p:spPr>
          <a:xfrm>
            <a:off x="1225296" y="457200"/>
            <a:ext cx="10399471"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Rigor does not generalize on its own</a:t>
            </a:r>
          </a:p>
        </p:txBody>
      </p:sp>
      <p:sp>
        <p:nvSpPr>
          <p:cNvPr id="4" name="TextBox 3"/>
          <p:cNvSpPr txBox="1"/>
          <p:nvPr/>
        </p:nvSpPr>
        <p:spPr>
          <a:xfrm>
            <a:off x="566928" y="1280160"/>
            <a:ext cx="11057839" cy="731520"/>
          </a:xfrm>
          <a:prstGeom prst="rect">
            <a:avLst/>
          </a:prstGeom>
          <a:noFill/>
        </p:spPr>
        <p:txBody>
          <a:bodyPr wrap="square" lIns="0" tIns="0" rIns="0" bIns="0">
            <a:spAutoFit/>
          </a:bodyPr>
          <a:lstStyle/>
          <a:p>
            <a:pPr algn="l">
              <a:lnSpc>
                <a:spcPct val="120000"/>
              </a:lnSpc>
              <a:spcAft>
                <a:spcPts val="600"/>
              </a:spcAft>
            </a:pPr>
            <a:r>
              <a:rPr sz="1300" b="0">
                <a:solidFill>
                  <a:srgbClr val="595959"/>
                </a:solidFill>
                <a:latin typeface="Calibri"/>
              </a:rPr>
              <a:t>Step 4 refused to call a 0.005 lead real against a 0.020 swing, and then I quoted fairness numbers to three decimals off one 726-row split without asking what the noise was. So I went back and asked, with 2,000 seeded bootstrap resamples.</a:t>
            </a:r>
          </a:p>
        </p:txBody>
      </p:sp>
      <p:sp>
        <p:nvSpPr>
          <p:cNvPr id="5" name="Rectangle 4"/>
          <p:cNvSpPr/>
          <p:nvPr/>
        </p:nvSpPr>
        <p:spPr>
          <a:xfrm>
            <a:off x="566928" y="2103120"/>
            <a:ext cx="5394960" cy="96012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91440" rIns="164592" bIns="91440" rtlCol="0" anchor="ctr"/>
          <a:lstStyle/>
          <a:p>
            <a:pPr algn="l">
              <a:spcAft>
                <a:spcPts val="100"/>
              </a:spcAft>
            </a:pPr>
            <a:r>
              <a:rPr sz="1200" b="1">
                <a:solidFill>
                  <a:srgbClr val="1A1A1A"/>
                </a:solidFill>
                <a:latin typeface="Courier New"/>
              </a:rPr>
              <a:t>male     n=288    dropouts 154</a:t>
            </a:r>
          </a:p>
          <a:p>
            <a:pPr algn="l">
              <a:spcAft>
                <a:spcPts val="400"/>
              </a:spcAft>
            </a:pPr>
            <a:r>
              <a:rPr sz="1200" b="1">
                <a:solidFill>
                  <a:srgbClr val="1A1A1A"/>
                </a:solidFill>
                <a:latin typeface="Courier New"/>
              </a:rPr>
              <a:t>female   n=438    dropouts 130</a:t>
            </a:r>
          </a:p>
          <a:p>
            <a:pPr algn="l"/>
            <a:r>
              <a:rPr sz="1100">
                <a:solidFill>
                  <a:srgbClr val="595959"/>
                </a:solidFill>
                <a:latin typeface="Calibri"/>
              </a:rPr>
              <a:t>Women are the majority of the test set and the minority of its dropouts, so the recall gap rests on 130 students rather than 726.</a:t>
            </a:r>
          </a:p>
        </p:txBody>
      </p:sp>
      <p:graphicFrame>
        <p:nvGraphicFramePr>
          <p:cNvPr id="6" name="Table 5"/>
          <p:cNvGraphicFramePr>
            <a:graphicFrameLocks noGrp="1"/>
          </p:cNvGraphicFramePr>
          <p:nvPr/>
        </p:nvGraphicFramePr>
        <p:xfrm>
          <a:off x="566928" y="3310128"/>
          <a:ext cx="5394958" cy="1353312"/>
        </p:xfrm>
        <a:graphic>
          <a:graphicData uri="http://schemas.openxmlformats.org/drawingml/2006/table">
            <a:tbl>
              <a:tblPr>
                <a:tableStyleId>{5C22544A-7EE6-4342-B048-85BDC9FD1C3A}</a:tableStyleId>
              </a:tblPr>
              <a:tblGrid>
                <a:gridCol w="1953347">
                  <a:extLst>
                    <a:ext uri="{9D8B030D-6E8A-4147-A177-3AD203B41FA5}">
                      <a16:colId xmlns:a16="http://schemas.microsoft.com/office/drawing/2014/main" val="20000"/>
                    </a:ext>
                  </a:extLst>
                </a:gridCol>
                <a:gridCol w="790640">
                  <a:extLst>
                    <a:ext uri="{9D8B030D-6E8A-4147-A177-3AD203B41FA5}">
                      <a16:colId xmlns:a16="http://schemas.microsoft.com/office/drawing/2014/main" val="20001"/>
                    </a:ext>
                  </a:extLst>
                </a:gridCol>
                <a:gridCol w="930165">
                  <a:extLst>
                    <a:ext uri="{9D8B030D-6E8A-4147-A177-3AD203B41FA5}">
                      <a16:colId xmlns:a16="http://schemas.microsoft.com/office/drawing/2014/main" val="20002"/>
                    </a:ext>
                  </a:extLst>
                </a:gridCol>
                <a:gridCol w="1720806">
                  <a:extLst>
                    <a:ext uri="{9D8B030D-6E8A-4147-A177-3AD203B41FA5}">
                      <a16:colId xmlns:a16="http://schemas.microsoft.com/office/drawing/2014/main" val="20003"/>
                    </a:ext>
                  </a:extLst>
                </a:gridCol>
              </a:tblGrid>
              <a:tr h="338328">
                <a:tc>
                  <a:txBody>
                    <a:bodyPr/>
                    <a:lstStyle/>
                    <a:p>
                      <a:pPr algn="l"/>
                      <a:r>
                        <a:rPr sz="1000" b="1">
                          <a:solidFill>
                            <a:srgbClr val="FFFFFF"/>
                          </a:solidFill>
                          <a:latin typeface="Calibri"/>
                        </a:rPr>
                        <a:t>Approach</a:t>
                      </a:r>
                    </a:p>
                  </a:txBody>
                  <a:tcPr marL="64008" marR="64008" marT="9144" marB="9144" anchor="ctr">
                    <a:solidFill>
                      <a:srgbClr val="1A1A1A"/>
                    </a:solidFill>
                  </a:tcPr>
                </a:tc>
                <a:tc>
                  <a:txBody>
                    <a:bodyPr/>
                    <a:lstStyle/>
                    <a:p>
                      <a:pPr algn="r"/>
                      <a:r>
                        <a:rPr sz="1000" b="1">
                          <a:solidFill>
                            <a:srgbClr val="FFFFFF"/>
                          </a:solidFill>
                          <a:latin typeface="Calibri"/>
                        </a:rPr>
                        <a:t>Recall</a:t>
                      </a:r>
                    </a:p>
                  </a:txBody>
                  <a:tcPr marL="64008" marR="64008" marT="9144" marB="9144" anchor="ctr">
                    <a:solidFill>
                      <a:srgbClr val="1A1A1A"/>
                    </a:solidFill>
                  </a:tcPr>
                </a:tc>
                <a:tc>
                  <a:txBody>
                    <a:bodyPr/>
                    <a:lstStyle/>
                    <a:p>
                      <a:pPr algn="r"/>
                      <a:r>
                        <a:rPr sz="1000" b="1">
                          <a:solidFill>
                            <a:srgbClr val="FFFFFF"/>
                          </a:solidFill>
                          <a:latin typeface="Calibri"/>
                        </a:rPr>
                        <a:t>Accuracy</a:t>
                      </a:r>
                    </a:p>
                  </a:txBody>
                  <a:tcPr marL="64008" marR="64008" marT="9144" marB="9144" anchor="ctr">
                    <a:solidFill>
                      <a:srgbClr val="1A1A1A"/>
                    </a:solidFill>
                  </a:tcPr>
                </a:tc>
                <a:tc>
                  <a:txBody>
                    <a:bodyPr/>
                    <a:lstStyle/>
                    <a:p>
                      <a:pPr algn="r"/>
                      <a:r>
                        <a:rPr sz="1000" b="1">
                          <a:solidFill>
                            <a:srgbClr val="FFFFFF"/>
                          </a:solidFill>
                          <a:latin typeface="Calibri"/>
                        </a:rPr>
                        <a:t>Recall gap (magnitude)</a:t>
                      </a:r>
                    </a:p>
                  </a:txBody>
                  <a:tcPr marL="64008" marR="64008" marT="9144" marB="9144" anchor="ctr">
                    <a:solidFill>
                      <a:srgbClr val="1A1A1A"/>
                    </a:solidFill>
                  </a:tcPr>
                </a:tc>
                <a:extLst>
                  <a:ext uri="{0D108BD9-81ED-4DB2-BD59-A6C34878D82A}">
                    <a16:rowId xmlns:a16="http://schemas.microsoft.com/office/drawing/2014/main" val="10000"/>
                  </a:ext>
                </a:extLst>
              </a:tr>
              <a:tr h="338328">
                <a:tc>
                  <a:txBody>
                    <a:bodyPr/>
                    <a:lstStyle/>
                    <a:p>
                      <a:pPr algn="l"/>
                      <a:r>
                        <a:rPr sz="1000" b="0">
                          <a:solidFill>
                            <a:srgbClr val="1A1A1A"/>
                          </a:solidFill>
                          <a:latin typeface="Calibri"/>
                        </a:rPr>
                        <a:t>Baseline at 0.45</a:t>
                      </a:r>
                    </a:p>
                  </a:txBody>
                  <a:tcPr marL="64008" marR="64008" marT="9144" marB="9144" anchor="ctr">
                    <a:solidFill>
                      <a:srgbClr val="FFFFFF"/>
                    </a:solidFill>
                  </a:tcPr>
                </a:tc>
                <a:tc>
                  <a:txBody>
                    <a:bodyPr/>
                    <a:lstStyle/>
                    <a:p>
                      <a:pPr algn="r"/>
                      <a:r>
                        <a:rPr sz="1000" b="0">
                          <a:solidFill>
                            <a:srgbClr val="595959"/>
                          </a:solidFill>
                          <a:latin typeface="Calibri"/>
                        </a:rPr>
                        <a:t>0.796</a:t>
                      </a:r>
                    </a:p>
                  </a:txBody>
                  <a:tcPr marL="64008" marR="64008" marT="9144" marB="9144" anchor="ctr">
                    <a:solidFill>
                      <a:srgbClr val="FFFFFF"/>
                    </a:solidFill>
                  </a:tcPr>
                </a:tc>
                <a:tc>
                  <a:txBody>
                    <a:bodyPr/>
                    <a:lstStyle/>
                    <a:p>
                      <a:pPr algn="r"/>
                      <a:r>
                        <a:rPr sz="1000" b="0">
                          <a:solidFill>
                            <a:srgbClr val="595959"/>
                          </a:solidFill>
                          <a:latin typeface="Calibri"/>
                        </a:rPr>
                        <a:t>0.748</a:t>
                      </a:r>
                    </a:p>
                  </a:txBody>
                  <a:tcPr marL="64008" marR="64008" marT="9144" marB="9144" anchor="ctr">
                    <a:solidFill>
                      <a:srgbClr val="FFFFFF"/>
                    </a:solidFill>
                  </a:tcPr>
                </a:tc>
                <a:tc>
                  <a:txBody>
                    <a:bodyPr/>
                    <a:lstStyle/>
                    <a:p>
                      <a:pPr algn="r"/>
                      <a:r>
                        <a:rPr sz="1000" b="0">
                          <a:solidFill>
                            <a:srgbClr val="595959"/>
                          </a:solidFill>
                          <a:latin typeface="Calibri"/>
                        </a:rPr>
                        <a:t>0.177</a:t>
                      </a:r>
                    </a:p>
                  </a:txBody>
                  <a:tcPr marL="64008" marR="64008" marT="9144" marB="9144" anchor="ctr">
                    <a:solidFill>
                      <a:srgbClr val="FFFFFF"/>
                    </a:solidFill>
                  </a:tcPr>
                </a:tc>
                <a:extLst>
                  <a:ext uri="{0D108BD9-81ED-4DB2-BD59-A6C34878D82A}">
                    <a16:rowId xmlns:a16="http://schemas.microsoft.com/office/drawing/2014/main" val="10001"/>
                  </a:ext>
                </a:extLst>
              </a:tr>
              <a:tr h="338328">
                <a:tc>
                  <a:txBody>
                    <a:bodyPr/>
                    <a:lstStyle/>
                    <a:p>
                      <a:pPr algn="l"/>
                      <a:r>
                        <a:rPr sz="1000" b="0">
                          <a:solidFill>
                            <a:srgbClr val="1A1A1A"/>
                          </a:solidFill>
                          <a:latin typeface="Calibri"/>
                        </a:rPr>
                        <a:t>Threshold optimizer</a:t>
                      </a:r>
                    </a:p>
                  </a:txBody>
                  <a:tcPr marL="64008" marR="64008" marT="9144" marB="9144" anchor="ctr">
                    <a:solidFill>
                      <a:srgbClr val="F2F2F2"/>
                    </a:solidFill>
                  </a:tcPr>
                </a:tc>
                <a:tc>
                  <a:txBody>
                    <a:bodyPr/>
                    <a:lstStyle/>
                    <a:p>
                      <a:pPr algn="r"/>
                      <a:r>
                        <a:rPr sz="1000" b="0">
                          <a:solidFill>
                            <a:srgbClr val="595959"/>
                          </a:solidFill>
                          <a:latin typeface="Calibri"/>
                        </a:rPr>
                        <a:t>0.609</a:t>
                      </a:r>
                    </a:p>
                  </a:txBody>
                  <a:tcPr marL="64008" marR="64008" marT="9144" marB="9144" anchor="ctr">
                    <a:solidFill>
                      <a:srgbClr val="F2F2F2"/>
                    </a:solidFill>
                  </a:tcPr>
                </a:tc>
                <a:tc>
                  <a:txBody>
                    <a:bodyPr/>
                    <a:lstStyle/>
                    <a:p>
                      <a:pPr algn="r"/>
                      <a:r>
                        <a:rPr sz="1000" b="0">
                          <a:solidFill>
                            <a:srgbClr val="595959"/>
                          </a:solidFill>
                          <a:latin typeface="Calibri"/>
                        </a:rPr>
                        <a:t>0.781</a:t>
                      </a:r>
                    </a:p>
                  </a:txBody>
                  <a:tcPr marL="64008" marR="64008" marT="9144" marB="9144" anchor="ctr">
                    <a:solidFill>
                      <a:srgbClr val="F2F2F2"/>
                    </a:solidFill>
                  </a:tcPr>
                </a:tc>
                <a:tc>
                  <a:txBody>
                    <a:bodyPr/>
                    <a:lstStyle/>
                    <a:p>
                      <a:pPr algn="r"/>
                      <a:r>
                        <a:rPr sz="1000" b="0">
                          <a:solidFill>
                            <a:srgbClr val="595959"/>
                          </a:solidFill>
                          <a:latin typeface="Calibri"/>
                        </a:rPr>
                        <a:t>0.026</a:t>
                      </a:r>
                    </a:p>
                  </a:txBody>
                  <a:tcPr marL="64008" marR="64008" marT="9144" marB="9144" anchor="ctr">
                    <a:solidFill>
                      <a:srgbClr val="F2F2F2"/>
                    </a:solidFill>
                  </a:tcPr>
                </a:tc>
                <a:extLst>
                  <a:ext uri="{0D108BD9-81ED-4DB2-BD59-A6C34878D82A}">
                    <a16:rowId xmlns:a16="http://schemas.microsoft.com/office/drawing/2014/main" val="10002"/>
                  </a:ext>
                </a:extLst>
              </a:tr>
              <a:tr h="338328">
                <a:tc>
                  <a:txBody>
                    <a:bodyPr/>
                    <a:lstStyle/>
                    <a:p>
                      <a:pPr algn="l"/>
                      <a:r>
                        <a:rPr sz="1000" b="1">
                          <a:solidFill>
                            <a:srgbClr val="1A1A1A"/>
                          </a:solidFill>
                          <a:latin typeface="Calibri"/>
                        </a:rPr>
                        <a:t>Exponentiated gradient</a:t>
                      </a:r>
                    </a:p>
                  </a:txBody>
                  <a:tcPr marL="64008" marR="64008" marT="9144" marB="9144" anchor="ctr">
                    <a:solidFill>
                      <a:srgbClr val="FFF3CC"/>
                    </a:solidFill>
                  </a:tcPr>
                </a:tc>
                <a:tc>
                  <a:txBody>
                    <a:bodyPr/>
                    <a:lstStyle/>
                    <a:p>
                      <a:pPr algn="r"/>
                      <a:r>
                        <a:rPr sz="1000" b="1">
                          <a:solidFill>
                            <a:srgbClr val="1A1A1A"/>
                          </a:solidFill>
                          <a:latin typeface="Calibri"/>
                        </a:rPr>
                        <a:t>0.718</a:t>
                      </a:r>
                    </a:p>
                  </a:txBody>
                  <a:tcPr marL="64008" marR="64008" marT="9144" marB="9144" anchor="ctr">
                    <a:solidFill>
                      <a:srgbClr val="FFF3CC"/>
                    </a:solidFill>
                  </a:tcPr>
                </a:tc>
                <a:tc>
                  <a:txBody>
                    <a:bodyPr/>
                    <a:lstStyle/>
                    <a:p>
                      <a:pPr algn="r"/>
                      <a:r>
                        <a:rPr sz="1000" b="1">
                          <a:solidFill>
                            <a:srgbClr val="1A1A1A"/>
                          </a:solidFill>
                          <a:latin typeface="Calibri"/>
                        </a:rPr>
                        <a:t>0.760</a:t>
                      </a:r>
                    </a:p>
                  </a:txBody>
                  <a:tcPr marL="64008" marR="64008" marT="9144" marB="9144" anchor="ctr">
                    <a:solidFill>
                      <a:srgbClr val="FFF3CC"/>
                    </a:solidFill>
                  </a:tcPr>
                </a:tc>
                <a:tc>
                  <a:txBody>
                    <a:bodyPr/>
                    <a:lstStyle/>
                    <a:p>
                      <a:pPr algn="r"/>
                      <a:r>
                        <a:rPr sz="1000" b="1">
                          <a:solidFill>
                            <a:srgbClr val="1A1A1A"/>
                          </a:solidFill>
                          <a:latin typeface="Calibri"/>
                        </a:rPr>
                        <a:t>0.009</a:t>
                      </a:r>
                    </a:p>
                  </a:txBody>
                  <a:tcPr marL="64008" marR="64008" marT="9144" marB="9144" anchor="ctr">
                    <a:solidFill>
                      <a:srgbClr val="FFF3CC"/>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355080" y="2011680"/>
            <a:ext cx="5285232" cy="320040"/>
          </a:xfrm>
          <a:prstGeom prst="rect">
            <a:avLst/>
          </a:prstGeom>
          <a:noFill/>
        </p:spPr>
        <p:txBody>
          <a:bodyPr wrap="square" lIns="0" tIns="0" rIns="0" bIns="0">
            <a:spAutoFit/>
          </a:bodyPr>
          <a:lstStyle/>
          <a:p>
            <a:pPr algn="l">
              <a:lnSpc>
                <a:spcPct val="115000"/>
              </a:lnSpc>
              <a:spcAft>
                <a:spcPts val="0"/>
              </a:spcAft>
            </a:pPr>
            <a:r>
              <a:rPr sz="900" b="0">
                <a:solidFill>
                  <a:srgbClr val="767676"/>
                </a:solidFill>
                <a:latin typeface="Calibri"/>
              </a:rPr>
              <a:t>95% intervals, 2,000 resamples. The top three are the recall gap itself, male minus female. The bottom two compare the two mitigations against each other.</a:t>
            </a:r>
          </a:p>
        </p:txBody>
      </p:sp>
      <p:sp>
        <p:nvSpPr>
          <p:cNvPr id="8" name="Rectangle 7"/>
          <p:cNvSpPr/>
          <p:nvPr/>
        </p:nvSpPr>
        <p:spPr>
          <a:xfrm>
            <a:off x="9397218" y="2478024"/>
            <a:ext cx="9525" cy="20665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287490" y="4544568"/>
            <a:ext cx="365760" cy="182880"/>
          </a:xfrm>
          <a:prstGeom prst="rect">
            <a:avLst/>
          </a:prstGeom>
          <a:noFill/>
        </p:spPr>
        <p:txBody>
          <a:bodyPr wrap="square" lIns="0" tIns="0" rIns="0" bIns="0">
            <a:spAutoFit/>
          </a:bodyPr>
          <a:lstStyle/>
          <a:p>
            <a:pPr algn="l">
              <a:spcAft>
                <a:spcPts val="0"/>
              </a:spcAft>
            </a:pPr>
            <a:r>
              <a:rPr sz="800" b="0">
                <a:solidFill>
                  <a:srgbClr val="767676"/>
                </a:solidFill>
                <a:latin typeface="Calibri"/>
              </a:rPr>
              <a:t>0</a:t>
            </a:r>
          </a:p>
        </p:txBody>
      </p:sp>
      <p:sp>
        <p:nvSpPr>
          <p:cNvPr id="10" name="TextBox 9"/>
          <p:cNvSpPr txBox="1"/>
          <p:nvPr/>
        </p:nvSpPr>
        <p:spPr>
          <a:xfrm>
            <a:off x="6355080" y="2542032"/>
            <a:ext cx="2167128" cy="228600"/>
          </a:xfrm>
          <a:prstGeom prst="rect">
            <a:avLst/>
          </a:prstGeom>
          <a:noFill/>
        </p:spPr>
        <p:txBody>
          <a:bodyPr wrap="square" lIns="0" tIns="0" rIns="0" bIns="0">
            <a:spAutoFit/>
          </a:bodyPr>
          <a:lstStyle/>
          <a:p>
            <a:pPr algn="l">
              <a:spcAft>
                <a:spcPts val="0"/>
              </a:spcAft>
            </a:pPr>
            <a:r>
              <a:rPr sz="1000" b="0">
                <a:solidFill>
                  <a:srgbClr val="1A1A1A"/>
                </a:solidFill>
                <a:latin typeface="Calibri"/>
              </a:rPr>
              <a:t>Baseline</a:t>
            </a:r>
          </a:p>
        </p:txBody>
      </p:sp>
      <p:sp>
        <p:nvSpPr>
          <p:cNvPr id="11" name="Rectangle 10"/>
          <p:cNvSpPr/>
          <p:nvPr/>
        </p:nvSpPr>
        <p:spPr>
          <a:xfrm>
            <a:off x="9725980" y="2624328"/>
            <a:ext cx="769784"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047427" y="2585008"/>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725912" y="2542032"/>
            <a:ext cx="914400" cy="228600"/>
          </a:xfrm>
          <a:prstGeom prst="rect">
            <a:avLst/>
          </a:prstGeom>
          <a:noFill/>
        </p:spPr>
        <p:txBody>
          <a:bodyPr wrap="square" lIns="0" tIns="0" rIns="0" bIns="0">
            <a:spAutoFit/>
          </a:bodyPr>
          <a:lstStyle/>
          <a:p>
            <a:pPr algn="r">
              <a:spcAft>
                <a:spcPts val="0"/>
              </a:spcAft>
            </a:pPr>
            <a:r>
              <a:rPr sz="900" b="1">
                <a:solidFill>
                  <a:srgbClr val="1A1A1A"/>
                </a:solidFill>
                <a:latin typeface="Calibri"/>
              </a:rPr>
              <a:t>real</a:t>
            </a:r>
          </a:p>
        </p:txBody>
      </p:sp>
      <p:sp>
        <p:nvSpPr>
          <p:cNvPr id="14" name="TextBox 13"/>
          <p:cNvSpPr txBox="1"/>
          <p:nvPr/>
        </p:nvSpPr>
        <p:spPr>
          <a:xfrm>
            <a:off x="6355080" y="2944368"/>
            <a:ext cx="2167128" cy="228600"/>
          </a:xfrm>
          <a:prstGeom prst="rect">
            <a:avLst/>
          </a:prstGeom>
          <a:noFill/>
        </p:spPr>
        <p:txBody>
          <a:bodyPr wrap="square" lIns="0" tIns="0" rIns="0" bIns="0">
            <a:spAutoFit/>
          </a:bodyPr>
          <a:lstStyle/>
          <a:p>
            <a:pPr algn="l">
              <a:spcAft>
                <a:spcPts val="0"/>
              </a:spcAft>
            </a:pPr>
            <a:r>
              <a:rPr sz="1000" b="0">
                <a:solidFill>
                  <a:srgbClr val="1A1A1A"/>
                </a:solidFill>
                <a:latin typeface="Calibri"/>
              </a:rPr>
              <a:t>Threshold optimizer</a:t>
            </a:r>
          </a:p>
        </p:txBody>
      </p:sp>
      <p:sp>
        <p:nvSpPr>
          <p:cNvPr id="15" name="Rectangle 14"/>
          <p:cNvSpPr/>
          <p:nvPr/>
        </p:nvSpPr>
        <p:spPr>
          <a:xfrm>
            <a:off x="8827898" y="3026664"/>
            <a:ext cx="93015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9233540" y="2987344"/>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725912" y="2944368"/>
            <a:ext cx="914400" cy="228600"/>
          </a:xfrm>
          <a:prstGeom prst="rect">
            <a:avLst/>
          </a:prstGeom>
          <a:noFill/>
        </p:spPr>
        <p:txBody>
          <a:bodyPr wrap="square" lIns="0" tIns="0" rIns="0" bIns="0">
            <a:spAutoFit/>
          </a:bodyPr>
          <a:lstStyle/>
          <a:p>
            <a:pPr algn="r">
              <a:spcAft>
                <a:spcPts val="0"/>
              </a:spcAft>
            </a:pPr>
            <a:r>
              <a:rPr sz="900" b="0">
                <a:solidFill>
                  <a:srgbClr val="767676"/>
                </a:solidFill>
                <a:latin typeface="Calibri"/>
              </a:rPr>
              <a:t>spans zero</a:t>
            </a:r>
          </a:p>
        </p:txBody>
      </p:sp>
      <p:sp>
        <p:nvSpPr>
          <p:cNvPr id="18" name="TextBox 17"/>
          <p:cNvSpPr txBox="1"/>
          <p:nvPr/>
        </p:nvSpPr>
        <p:spPr>
          <a:xfrm>
            <a:off x="6355080" y="3346704"/>
            <a:ext cx="2167128" cy="228600"/>
          </a:xfrm>
          <a:prstGeom prst="rect">
            <a:avLst/>
          </a:prstGeom>
          <a:noFill/>
        </p:spPr>
        <p:txBody>
          <a:bodyPr wrap="square" lIns="0" tIns="0" rIns="0" bIns="0">
            <a:spAutoFit/>
          </a:bodyPr>
          <a:lstStyle/>
          <a:p>
            <a:pPr algn="l">
              <a:spcAft>
                <a:spcPts val="0"/>
              </a:spcAft>
            </a:pPr>
            <a:r>
              <a:rPr sz="1000" b="0">
                <a:solidFill>
                  <a:srgbClr val="1A1A1A"/>
                </a:solidFill>
                <a:latin typeface="Calibri"/>
              </a:rPr>
              <a:t>Exponentiated gradient</a:t>
            </a:r>
          </a:p>
        </p:txBody>
      </p:sp>
      <p:sp>
        <p:nvSpPr>
          <p:cNvPr id="19" name="Rectangle 18"/>
          <p:cNvSpPr/>
          <p:nvPr/>
        </p:nvSpPr>
        <p:spPr>
          <a:xfrm>
            <a:off x="8924121" y="3429000"/>
            <a:ext cx="878035"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9301698" y="3389680"/>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725912" y="3346704"/>
            <a:ext cx="914400" cy="228600"/>
          </a:xfrm>
          <a:prstGeom prst="rect">
            <a:avLst/>
          </a:prstGeom>
          <a:noFill/>
        </p:spPr>
        <p:txBody>
          <a:bodyPr wrap="square" lIns="0" tIns="0" rIns="0" bIns="0">
            <a:spAutoFit/>
          </a:bodyPr>
          <a:lstStyle/>
          <a:p>
            <a:pPr algn="r">
              <a:spcAft>
                <a:spcPts val="0"/>
              </a:spcAft>
            </a:pPr>
            <a:r>
              <a:rPr sz="900" b="0">
                <a:solidFill>
                  <a:srgbClr val="767676"/>
                </a:solidFill>
                <a:latin typeface="Calibri"/>
              </a:rPr>
              <a:t>spans zero</a:t>
            </a:r>
          </a:p>
        </p:txBody>
      </p:sp>
      <p:sp>
        <p:nvSpPr>
          <p:cNvPr id="22" name="TextBox 21"/>
          <p:cNvSpPr txBox="1"/>
          <p:nvPr/>
        </p:nvSpPr>
        <p:spPr>
          <a:xfrm>
            <a:off x="6355080" y="3749040"/>
            <a:ext cx="2167128" cy="228600"/>
          </a:xfrm>
          <a:prstGeom prst="rect">
            <a:avLst/>
          </a:prstGeom>
          <a:noFill/>
        </p:spPr>
        <p:txBody>
          <a:bodyPr wrap="square" lIns="0" tIns="0" rIns="0" bIns="0">
            <a:spAutoFit/>
          </a:bodyPr>
          <a:lstStyle/>
          <a:p>
            <a:pPr algn="l">
              <a:spcAft>
                <a:spcPts val="0"/>
              </a:spcAft>
            </a:pPr>
            <a:r>
              <a:rPr sz="1000" b="0">
                <a:solidFill>
                  <a:srgbClr val="1A1A1A"/>
                </a:solidFill>
                <a:latin typeface="Calibri"/>
              </a:rPr>
              <a:t>TO gap minus EG gap</a:t>
            </a:r>
          </a:p>
        </p:txBody>
      </p:sp>
      <p:sp>
        <p:nvSpPr>
          <p:cNvPr id="23" name="Rectangle 22"/>
          <p:cNvSpPr/>
          <p:nvPr/>
        </p:nvSpPr>
        <p:spPr>
          <a:xfrm>
            <a:off x="9168688" y="3831336"/>
            <a:ext cx="53323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9369856" y="3792016"/>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10725912" y="3749040"/>
            <a:ext cx="914400" cy="228600"/>
          </a:xfrm>
          <a:prstGeom prst="rect">
            <a:avLst/>
          </a:prstGeom>
          <a:noFill/>
        </p:spPr>
        <p:txBody>
          <a:bodyPr wrap="square" lIns="0" tIns="0" rIns="0" bIns="0">
            <a:spAutoFit/>
          </a:bodyPr>
          <a:lstStyle/>
          <a:p>
            <a:pPr algn="r">
              <a:spcAft>
                <a:spcPts val="0"/>
              </a:spcAft>
            </a:pPr>
            <a:r>
              <a:rPr sz="900" b="0">
                <a:solidFill>
                  <a:srgbClr val="767676"/>
                </a:solidFill>
                <a:latin typeface="Calibri"/>
              </a:rPr>
              <a:t>tied</a:t>
            </a:r>
          </a:p>
        </p:txBody>
      </p:sp>
      <p:sp>
        <p:nvSpPr>
          <p:cNvPr id="26" name="TextBox 25"/>
          <p:cNvSpPr txBox="1"/>
          <p:nvPr/>
        </p:nvSpPr>
        <p:spPr>
          <a:xfrm>
            <a:off x="6355080" y="4151376"/>
            <a:ext cx="2167128" cy="228600"/>
          </a:xfrm>
          <a:prstGeom prst="rect">
            <a:avLst/>
          </a:prstGeom>
          <a:noFill/>
        </p:spPr>
        <p:txBody>
          <a:bodyPr wrap="square" lIns="0" tIns="0" rIns="0" bIns="0">
            <a:spAutoFit/>
          </a:bodyPr>
          <a:lstStyle/>
          <a:p>
            <a:pPr algn="l">
              <a:spcAft>
                <a:spcPts val="0"/>
              </a:spcAft>
            </a:pPr>
            <a:r>
              <a:rPr sz="1000" b="0">
                <a:solidFill>
                  <a:srgbClr val="1A1A1A"/>
                </a:solidFill>
                <a:latin typeface="Calibri"/>
              </a:rPr>
              <a:t>EG recall minus TO recall</a:t>
            </a:r>
          </a:p>
        </p:txBody>
      </p:sp>
      <p:sp>
        <p:nvSpPr>
          <p:cNvPr id="27" name="Rectangle 26"/>
          <p:cNvSpPr/>
          <p:nvPr/>
        </p:nvSpPr>
        <p:spPr>
          <a:xfrm>
            <a:off x="9697915" y="4233672"/>
            <a:ext cx="284660"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9774795" y="4194352"/>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725912" y="4151376"/>
            <a:ext cx="914400" cy="228600"/>
          </a:xfrm>
          <a:prstGeom prst="rect">
            <a:avLst/>
          </a:prstGeom>
          <a:noFill/>
        </p:spPr>
        <p:txBody>
          <a:bodyPr wrap="square" lIns="0" tIns="0" rIns="0" bIns="0">
            <a:spAutoFit/>
          </a:bodyPr>
          <a:lstStyle/>
          <a:p>
            <a:pPr algn="r">
              <a:spcAft>
                <a:spcPts val="0"/>
              </a:spcAft>
            </a:pPr>
            <a:r>
              <a:rPr sz="900" b="1">
                <a:solidFill>
                  <a:srgbClr val="1A1A1A"/>
                </a:solidFill>
                <a:latin typeface="Calibri"/>
              </a:rPr>
              <a:t>real</a:t>
            </a:r>
          </a:p>
        </p:txBody>
      </p:sp>
      <p:sp>
        <p:nvSpPr>
          <p:cNvPr id="30" name="TextBox 29"/>
          <p:cNvSpPr txBox="1"/>
          <p:nvPr/>
        </p:nvSpPr>
        <p:spPr>
          <a:xfrm>
            <a:off x="6355080" y="4892040"/>
            <a:ext cx="5285232" cy="822960"/>
          </a:xfrm>
          <a:prstGeom prst="rect">
            <a:avLst/>
          </a:prstGeom>
          <a:noFill/>
        </p:spPr>
        <p:txBody>
          <a:bodyPr wrap="square" lIns="0" tIns="0" rIns="0" bIns="0">
            <a:spAutoFit/>
          </a:bodyPr>
          <a:lstStyle/>
          <a:p>
            <a:pPr algn="l">
              <a:lnSpc>
                <a:spcPct val="120000"/>
              </a:lnSpc>
              <a:spcAft>
                <a:spcPts val="600"/>
              </a:spcAft>
            </a:pPr>
            <a:r>
              <a:rPr sz="1000" b="0">
                <a:solidFill>
                  <a:srgbClr val="767676"/>
                </a:solidFill>
                <a:latin typeface="Calibri"/>
              </a:rPr>
              <a:t>One interval clears zero on the harm, and one clears it on the cost. Everything between them is a tie. The sign flips after mitigation, so the mitigation table reports magnitudes and this one is signed.</a:t>
            </a:r>
          </a:p>
        </p:txBody>
      </p:sp>
      <p:sp>
        <p:nvSpPr>
          <p:cNvPr id="31" name="TextBox 30"/>
          <p:cNvSpPr txBox="1"/>
          <p:nvPr/>
        </p:nvSpPr>
        <p:spPr>
          <a:xfrm>
            <a:off x="566928" y="4828032"/>
            <a:ext cx="5394960" cy="1371600"/>
          </a:xfrm>
          <a:prstGeom prst="rect">
            <a:avLst/>
          </a:prstGeom>
          <a:noFill/>
        </p:spPr>
        <p:txBody>
          <a:bodyPr wrap="square" lIns="0" tIns="0" rIns="0" bIns="0">
            <a:spAutoFit/>
          </a:bodyPr>
          <a:lstStyle/>
          <a:p>
            <a:pPr algn="l">
              <a:lnSpc>
                <a:spcPct val="115000"/>
              </a:lnSpc>
              <a:spcAft>
                <a:spcPts val="500"/>
              </a:spcAft>
            </a:pPr>
            <a:r>
              <a:rPr sz="1200" b="1">
                <a:solidFill>
                  <a:srgbClr val="1A1A1A"/>
                </a:solidFill>
                <a:latin typeface="Calibri"/>
              </a:rPr>
              <a:t>The harm is real.</a:t>
            </a:r>
            <a:r>
              <a:rPr sz="1200" b="0">
                <a:solidFill>
                  <a:srgbClr val="595959"/>
                </a:solidFill>
                <a:latin typeface="Calibri"/>
              </a:rPr>
              <a:t> The 0.177 gap never crosses zero across two thousand resamples.</a:t>
            </a:r>
          </a:p>
          <a:p>
            <a:pPr algn="l">
              <a:lnSpc>
                <a:spcPct val="115000"/>
              </a:lnSpc>
              <a:spcAft>
                <a:spcPts val="500"/>
              </a:spcAft>
            </a:pPr>
            <a:r>
              <a:rPr sz="1200" b="1">
                <a:solidFill>
                  <a:srgbClr val="1A1A1A"/>
                </a:solidFill>
                <a:latin typeface="Calibri"/>
              </a:rPr>
              <a:t>0.009 is not better than 0.026.</a:t>
            </a:r>
            <a:r>
              <a:rPr sz="1200" b="0">
                <a:solidFill>
                  <a:srgbClr val="595959"/>
                </a:solidFill>
                <a:latin typeface="Calibri"/>
              </a:rPr>
              <a:t> They are the same number wearing different clothes.</a:t>
            </a:r>
          </a:p>
          <a:p>
            <a:pPr algn="l">
              <a:lnSpc>
                <a:spcPct val="115000"/>
              </a:lnSpc>
              <a:spcAft>
                <a:spcPts val="500"/>
              </a:spcAft>
            </a:pPr>
            <a:r>
              <a:rPr sz="1200" b="1">
                <a:solidFill>
                  <a:srgbClr val="1A1A1A"/>
                </a:solidFill>
                <a:latin typeface="Calibri"/>
              </a:rPr>
              <a:t>One difference survives, and it is cost.</a:t>
            </a:r>
            <a:r>
              <a:rPr sz="1200" b="0">
                <a:solidFill>
                  <a:srgbClr val="595959"/>
                </a:solidFill>
                <a:latin typeface="Calibri"/>
              </a:rPr>
              <a:t> It is eight points of recall against nineteen.</a:t>
            </a:r>
          </a:p>
        </p:txBody>
      </p:sp>
      <p:sp>
        <p:nvSpPr>
          <p:cNvPr id="32" name="TextBox 31"/>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The threshold optimizer closed the gap largely by catching fewer people. Accuracy went up while the tool got worse at its job. Fixing a gap by helping fewer people is not a fix.</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457200"/>
            <a:ext cx="11057839" cy="548640"/>
          </a:xfrm>
          <a:prstGeom prst="rect">
            <a:avLst/>
          </a:prstGeom>
          <a:noFill/>
        </p:spPr>
        <p:txBody>
          <a:bodyPr wrap="square" lIns="0" tIns="0" rIns="0" bIns="0">
            <a:spAutoFit/>
          </a:bodyPr>
          <a:lstStyle/>
          <a:p>
            <a:pPr algn="l">
              <a:spcAft>
                <a:spcPts val="600"/>
              </a:spcAft>
            </a:pPr>
            <a:r>
              <a:rPr sz="2900" b="1">
                <a:solidFill>
                  <a:srgbClr val="1A1A1A"/>
                </a:solidFill>
                <a:latin typeface="Cambria"/>
              </a:rPr>
              <a:t>The verdict, and what it costs</a:t>
            </a:r>
          </a:p>
        </p:txBody>
      </p:sp>
      <p:sp>
        <p:nvSpPr>
          <p:cNvPr id="3" name="TextBox 2"/>
          <p:cNvSpPr txBox="1"/>
          <p:nvPr/>
        </p:nvSpPr>
        <p:spPr>
          <a:xfrm>
            <a:off x="566928" y="1033271"/>
            <a:ext cx="11057839" cy="274320"/>
          </a:xfrm>
          <a:prstGeom prst="rect">
            <a:avLst/>
          </a:prstGeom>
          <a:noFill/>
        </p:spPr>
        <p:txBody>
          <a:bodyPr wrap="square" lIns="0" tIns="0" rIns="0" bIns="0">
            <a:spAutoFit/>
          </a:bodyPr>
          <a:lstStyle/>
          <a:p>
            <a:pPr algn="l">
              <a:spcAft>
                <a:spcPts val="600"/>
              </a:spcAft>
            </a:pPr>
            <a:r>
              <a:rPr sz="1200" b="0">
                <a:solidFill>
                  <a:srgbClr val="595959"/>
                </a:solidFill>
                <a:latin typeface="Calibri"/>
              </a:rPr>
              <a:t>726 test students at the operating cutoff of 0.445.</a:t>
            </a:r>
          </a:p>
        </p:txBody>
      </p:sp>
      <p:pic>
        <p:nvPicPr>
          <p:cNvPr id="4" name="Picture 3" descr="operating_point.png"/>
          <p:cNvPicPr>
            <a:picLocks noChangeAspect="1"/>
          </p:cNvPicPr>
          <p:nvPr/>
        </p:nvPicPr>
        <p:blipFill>
          <a:blip r:embed="rId2"/>
          <a:stretch>
            <a:fillRect/>
          </a:stretch>
        </p:blipFill>
        <p:spPr>
          <a:xfrm>
            <a:off x="566928" y="1600200"/>
            <a:ext cx="6858000" cy="2504661"/>
          </a:xfrm>
          <a:prstGeom prst="rect">
            <a:avLst/>
          </a:prstGeom>
        </p:spPr>
      </p:pic>
      <p:sp>
        <p:nvSpPr>
          <p:cNvPr id="5" name="TextBox 4"/>
          <p:cNvSpPr txBox="1"/>
          <p:nvPr/>
        </p:nvSpPr>
        <p:spPr>
          <a:xfrm>
            <a:off x="566928" y="4343400"/>
            <a:ext cx="6858000" cy="1828800"/>
          </a:xfrm>
          <a:prstGeom prst="rect">
            <a:avLst/>
          </a:prstGeom>
          <a:noFill/>
        </p:spPr>
        <p:txBody>
          <a:bodyPr wrap="square" lIns="0" tIns="0" rIns="0" bIns="0">
            <a:spAutoFit/>
          </a:bodyPr>
          <a:lstStyle/>
          <a:p>
            <a:pPr algn="l">
              <a:lnSpc>
                <a:spcPct val="125000"/>
              </a:lnSpc>
              <a:spcAft>
                <a:spcPts val="800"/>
              </a:spcAft>
            </a:pPr>
            <a:r>
              <a:rPr sz="1200" b="1">
                <a:solidFill>
                  <a:srgbClr val="1A1A1A"/>
                </a:solidFill>
                <a:latin typeface="Calibri"/>
              </a:rPr>
              <a:t>Recall 0.796 before the fix</a:t>
            </a:r>
            <a:r>
              <a:rPr sz="1200" b="0">
                <a:solidFill>
                  <a:srgbClr val="595959"/>
                </a:solidFill>
                <a:latin typeface="Calibri"/>
              </a:rPr>
              <a:t> at a cutoff chosen against staffing, on enrollment-time data only. The shipped system adds the exponentiated-gradient fairness fix, recall 0.718, gender gap from a real 0.177 to 0.009, which spans zero.</a:t>
            </a:r>
          </a:p>
          <a:p>
            <a:pPr algn="l">
              <a:lnSpc>
                <a:spcPct val="125000"/>
              </a:lnSpc>
              <a:spcAft>
                <a:spcPts val="800"/>
              </a:spcAft>
            </a:pPr>
            <a:r>
              <a:rPr sz="1200" b="1">
                <a:solidFill>
                  <a:srgbClr val="1A1A1A"/>
                </a:solidFill>
                <a:latin typeface="Calibri"/>
              </a:rPr>
              <a:t>Train PR AUC 0.840 against test 0.822</a:t>
            </a:r>
            <a:r>
              <a:rPr sz="1200" b="0">
                <a:solidFill>
                  <a:srgbClr val="595959"/>
                </a:solidFill>
                <a:latin typeface="Calibri"/>
              </a:rPr>
              <a:t>, a gap of 0.018. The model learned the pattern, not the noise.</a:t>
            </a:r>
          </a:p>
          <a:p>
            <a:pPr algn="l">
              <a:lnSpc>
                <a:spcPct val="125000"/>
              </a:lnSpc>
              <a:spcAft>
                <a:spcPts val="800"/>
              </a:spcAft>
            </a:pPr>
            <a:r>
              <a:rPr sz="1200" b="1">
                <a:solidFill>
                  <a:srgbClr val="1A1A1A"/>
                </a:solidFill>
                <a:latin typeface="Calibri"/>
              </a:rPr>
              <a:t>Gender is mitigated. Scholarship and debtor are deliberately not</a:t>
            </a:r>
            <a:r>
              <a:rPr sz="1200" b="0">
                <a:solidFill>
                  <a:srgbClr val="595959"/>
                </a:solidFill>
                <a:latin typeface="Calibri"/>
              </a:rPr>
              <a:t>, because neither is a protected trait and both track real risk. Age band is unresolved, error gap 0.572, and it needs its own pass.</a:t>
            </a:r>
          </a:p>
          <a:p>
            <a:pPr algn="l">
              <a:lnSpc>
                <a:spcPct val="125000"/>
              </a:lnSpc>
              <a:spcAft>
                <a:spcPts val="800"/>
              </a:spcAft>
            </a:pPr>
            <a:r>
              <a:rPr sz="1200" b="1">
                <a:solidFill>
                  <a:srgbClr val="1A1A1A"/>
                </a:solidFill>
                <a:latin typeface="Calibri"/>
              </a:rPr>
              <a:t>The fair model picks the list</a:t>
            </a:r>
            <a:r>
              <a:rPr sz="1200" b="0">
                <a:solidFill>
                  <a:srgbClr val="595959"/>
                </a:solidFill>
                <a:latin typeface="Calibri"/>
              </a:rPr>
              <a:t>, the base model orders it, and the fair set of 410 fits capacity.</a:t>
            </a:r>
          </a:p>
        </p:txBody>
      </p:sp>
      <p:sp>
        <p:nvSpPr>
          <p:cNvPr id="6" name="TextBox 5"/>
          <p:cNvSpPr txBox="1"/>
          <p:nvPr/>
        </p:nvSpPr>
        <p:spPr>
          <a:xfrm>
            <a:off x="7818120" y="1737360"/>
            <a:ext cx="1828800" cy="603504"/>
          </a:xfrm>
          <a:prstGeom prst="rect">
            <a:avLst/>
          </a:prstGeom>
          <a:noFill/>
        </p:spPr>
        <p:txBody>
          <a:bodyPr wrap="square" lIns="0" tIns="0" rIns="0" bIns="0">
            <a:spAutoFit/>
          </a:bodyPr>
          <a:lstStyle/>
          <a:p>
            <a:pPr algn="l">
              <a:spcAft>
                <a:spcPts val="0"/>
              </a:spcAft>
            </a:pPr>
            <a:r>
              <a:rPr sz="4400" b="1">
                <a:solidFill>
                  <a:srgbClr val="F6861F"/>
                </a:solidFill>
                <a:latin typeface="Cambria"/>
              </a:rPr>
              <a:t>226</a:t>
            </a:r>
          </a:p>
        </p:txBody>
      </p:sp>
      <p:sp>
        <p:nvSpPr>
          <p:cNvPr id="7" name="TextBox 6"/>
          <p:cNvSpPr txBox="1"/>
          <p:nvPr/>
        </p:nvSpPr>
        <p:spPr>
          <a:xfrm>
            <a:off x="7818120" y="2307336"/>
            <a:ext cx="1828800" cy="457200"/>
          </a:xfrm>
          <a:prstGeom prst="rect">
            <a:avLst/>
          </a:prstGeom>
          <a:noFill/>
        </p:spPr>
        <p:txBody>
          <a:bodyPr wrap="square" lIns="0" tIns="0" rIns="0" bIns="0">
            <a:spAutoFit/>
          </a:bodyPr>
          <a:lstStyle/>
          <a:p>
            <a:pPr algn="l">
              <a:lnSpc>
                <a:spcPct val="115000"/>
              </a:lnSpc>
              <a:spcAft>
                <a:spcPts val="600"/>
              </a:spcAft>
            </a:pPr>
            <a:r>
              <a:rPr sz="1100" b="0">
                <a:solidFill>
                  <a:srgbClr val="767676"/>
                </a:solidFill>
                <a:latin typeface="Calibri"/>
              </a:rPr>
              <a:t>leavers caught</a:t>
            </a:r>
          </a:p>
        </p:txBody>
      </p:sp>
      <p:sp>
        <p:nvSpPr>
          <p:cNvPr id="8" name="TextBox 7"/>
          <p:cNvSpPr txBox="1"/>
          <p:nvPr/>
        </p:nvSpPr>
        <p:spPr>
          <a:xfrm>
            <a:off x="9829800" y="1737360"/>
            <a:ext cx="1828800" cy="603504"/>
          </a:xfrm>
          <a:prstGeom prst="rect">
            <a:avLst/>
          </a:prstGeom>
          <a:noFill/>
        </p:spPr>
        <p:txBody>
          <a:bodyPr wrap="square" lIns="0" tIns="0" rIns="0" bIns="0">
            <a:spAutoFit/>
          </a:bodyPr>
          <a:lstStyle/>
          <a:p>
            <a:pPr algn="l">
              <a:spcAft>
                <a:spcPts val="0"/>
              </a:spcAft>
            </a:pPr>
            <a:r>
              <a:rPr sz="4400" b="1">
                <a:solidFill>
                  <a:srgbClr val="1A1A1A"/>
                </a:solidFill>
                <a:latin typeface="Cambria"/>
              </a:rPr>
              <a:t>58</a:t>
            </a:r>
          </a:p>
        </p:txBody>
      </p:sp>
      <p:sp>
        <p:nvSpPr>
          <p:cNvPr id="9" name="TextBox 8"/>
          <p:cNvSpPr txBox="1"/>
          <p:nvPr/>
        </p:nvSpPr>
        <p:spPr>
          <a:xfrm>
            <a:off x="9829800" y="2307336"/>
            <a:ext cx="1828800" cy="457200"/>
          </a:xfrm>
          <a:prstGeom prst="rect">
            <a:avLst/>
          </a:prstGeom>
          <a:noFill/>
        </p:spPr>
        <p:txBody>
          <a:bodyPr wrap="square" lIns="0" tIns="0" rIns="0" bIns="0">
            <a:spAutoFit/>
          </a:bodyPr>
          <a:lstStyle/>
          <a:p>
            <a:pPr algn="l">
              <a:lnSpc>
                <a:spcPct val="115000"/>
              </a:lnSpc>
              <a:spcAft>
                <a:spcPts val="600"/>
              </a:spcAft>
            </a:pPr>
            <a:r>
              <a:rPr sz="1100" b="0">
                <a:solidFill>
                  <a:srgbClr val="767676"/>
                </a:solidFill>
                <a:latin typeface="Calibri"/>
              </a:rPr>
              <a:t>missed</a:t>
            </a:r>
          </a:p>
        </p:txBody>
      </p:sp>
      <p:sp>
        <p:nvSpPr>
          <p:cNvPr id="10" name="TextBox 9"/>
          <p:cNvSpPr txBox="1"/>
          <p:nvPr/>
        </p:nvSpPr>
        <p:spPr>
          <a:xfrm>
            <a:off x="7818120" y="3154680"/>
            <a:ext cx="3840480" cy="603504"/>
          </a:xfrm>
          <a:prstGeom prst="rect">
            <a:avLst/>
          </a:prstGeom>
          <a:noFill/>
        </p:spPr>
        <p:txBody>
          <a:bodyPr wrap="square" lIns="0" tIns="0" rIns="0" bIns="0">
            <a:spAutoFit/>
          </a:bodyPr>
          <a:lstStyle/>
          <a:p>
            <a:pPr algn="l">
              <a:spcAft>
                <a:spcPts val="0"/>
              </a:spcAft>
            </a:pPr>
            <a:r>
              <a:rPr sz="4400" b="1">
                <a:solidFill>
                  <a:srgbClr val="1A1A1A"/>
                </a:solidFill>
                <a:latin typeface="Cambria"/>
              </a:rPr>
              <a:t>125</a:t>
            </a:r>
          </a:p>
        </p:txBody>
      </p:sp>
      <p:sp>
        <p:nvSpPr>
          <p:cNvPr id="11" name="TextBox 10"/>
          <p:cNvSpPr txBox="1"/>
          <p:nvPr/>
        </p:nvSpPr>
        <p:spPr>
          <a:xfrm>
            <a:off x="7818120" y="3724656"/>
            <a:ext cx="3840480" cy="457200"/>
          </a:xfrm>
          <a:prstGeom prst="rect">
            <a:avLst/>
          </a:prstGeom>
          <a:noFill/>
        </p:spPr>
        <p:txBody>
          <a:bodyPr wrap="square" lIns="0" tIns="0" rIns="0" bIns="0">
            <a:spAutoFit/>
          </a:bodyPr>
          <a:lstStyle/>
          <a:p>
            <a:pPr algn="l">
              <a:lnSpc>
                <a:spcPct val="115000"/>
              </a:lnSpc>
              <a:spcAft>
                <a:spcPts val="600"/>
              </a:spcAft>
            </a:pPr>
            <a:r>
              <a:rPr sz="1100" b="0">
                <a:solidFill>
                  <a:srgbClr val="767676"/>
                </a:solidFill>
                <a:latin typeface="Calibri"/>
              </a:rPr>
              <a:t>graduates contacted who were never going to leave</a:t>
            </a:r>
          </a:p>
        </p:txBody>
      </p:sp>
      <p:sp>
        <p:nvSpPr>
          <p:cNvPr id="12" name="TextBox 11"/>
          <p:cNvSpPr txBox="1"/>
          <p:nvPr/>
        </p:nvSpPr>
        <p:spPr>
          <a:xfrm>
            <a:off x="7818120" y="4343400"/>
            <a:ext cx="3840480" cy="1828800"/>
          </a:xfrm>
          <a:prstGeom prst="rect">
            <a:avLst/>
          </a:prstGeom>
          <a:noFill/>
        </p:spPr>
        <p:txBody>
          <a:bodyPr wrap="square" lIns="0" tIns="0" rIns="0" bIns="0">
            <a:spAutoFit/>
          </a:bodyPr>
          <a:lstStyle/>
          <a:p>
            <a:pPr algn="l">
              <a:lnSpc>
                <a:spcPct val="125000"/>
              </a:lnSpc>
              <a:spcAft>
                <a:spcPts val="600"/>
              </a:spcAft>
            </a:pPr>
            <a:r>
              <a:rPr sz="1200" b="0">
                <a:solidFill>
                  <a:srgbClr val="595959"/>
                </a:solidFill>
                <a:latin typeface="Calibri"/>
              </a:rPr>
              <a:t>Those 125 are the real cost of this tool. A student pulled into a retention conversation they did not need has been told, in effect, that a system thinks they are failing.</a:t>
            </a:r>
          </a:p>
        </p:txBody>
      </p:sp>
      <p:sp>
        <p:nvSpPr>
          <p:cNvPr id="13" name="TextBox 12"/>
          <p:cNvSpPr txBox="1"/>
          <p:nvPr/>
        </p:nvSpPr>
        <p:spPr>
          <a:xfrm>
            <a:off x="566928" y="6236208"/>
            <a:ext cx="11057839" cy="411480"/>
          </a:xfrm>
          <a:prstGeom prst="rect">
            <a:avLst/>
          </a:prstGeom>
          <a:noFill/>
        </p:spPr>
        <p:txBody>
          <a:bodyPr wrap="square" lIns="0" tIns="0" rIns="0" bIns="0">
            <a:spAutoFit/>
          </a:bodyPr>
          <a:lstStyle/>
          <a:p>
            <a:pPr algn="l">
              <a:lnSpc>
                <a:spcPct val="115000"/>
              </a:lnSpc>
              <a:spcAft>
                <a:spcPts val="600"/>
              </a:spcAft>
            </a:pPr>
            <a:r>
              <a:rPr sz="1300" b="1">
                <a:solidFill>
                  <a:srgbClr val="1A1A1A"/>
                </a:solidFill>
                <a:latin typeface="Calibri"/>
              </a:rPr>
              <a:t>A dropout model is not a scoreboard but a decision about which students get help, and the right way to use this one is as a ranked prompt for a support team, checked by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2548</Words>
  <Application>Microsoft Macintosh PowerPoint</Application>
  <DocSecurity>0</DocSecurity>
  <PresentationFormat>Widescreen</PresentationFormat>
  <Paragraphs>343</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Student Dropout, with a Fairness Audit</dc:title>
  <dc:subject>PGD AI/ML capstone, Pillar 5. Technical deck.</dc:subject>
  <dc:creator>jeryl.elixir.dev@outlook.com</dc:creator>
  <cp:keywords/>
  <dc:description/>
  <cp:lastModifiedBy>je 888</cp:lastModifiedBy>
  <cp:revision>1</cp:revision>
  <dcterms:created xsi:type="dcterms:W3CDTF">2026-07-15T22:34:16Z</dcterms:created>
  <dcterms:modified xsi:type="dcterms:W3CDTF">2026-07-17T06:20:12Z</dcterms:modified>
  <cp:category/>
  <dc:identifier/>
  <cp:contentStatus/>
  <dc:language>en-US</dc:language>
</cp:coreProperties>
</file>