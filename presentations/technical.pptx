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03120"/>
            <a:ext cx="9601200" cy="1554480"/>
          </a:xfrm>
          <a:prstGeom prst="rect">
            <a:avLst/>
          </a:prstGeom>
          <a:noFill/>
        </p:spPr>
        <p:txBody>
          <a:bodyPr wrap="square" lIns="0" rIns="0" tIns="0" bIns="0">
            <a:spAutoFit/>
          </a:bodyPr>
          <a:lstStyle/>
          <a:p>
            <a:pPr algn="l">
              <a:lnSpc>
                <a:spcPct val="120000"/>
              </a:lnSpc>
              <a:spcAft>
                <a:spcPts val="600"/>
              </a:spcAft>
            </a:pPr>
            <a:r>
              <a:rPr sz="4200" b="1">
                <a:solidFill>
                  <a:srgbClr val="FFFFFF"/>
                </a:solidFill>
                <a:latin typeface="Cambria"/>
              </a:rPr>
              <a:t>Predicting Student Dropout,
with a Fairness Audit</a:t>
            </a:r>
          </a:p>
        </p:txBody>
      </p:sp>
      <p:sp>
        <p:nvSpPr>
          <p:cNvPr id="4" name="TextBox 3"/>
          <p:cNvSpPr txBox="1"/>
          <p:nvPr/>
        </p:nvSpPr>
        <p:spPr>
          <a:xfrm>
            <a:off x="566928" y="4023360"/>
            <a:ext cx="8686800" cy="457200"/>
          </a:xfrm>
          <a:prstGeom prst="rect">
            <a:avLst/>
          </a:prstGeom>
          <a:noFill/>
        </p:spPr>
        <p:txBody>
          <a:bodyPr wrap="square" lIns="0" rIns="0" tIns="0" bIns="0">
            <a:spAutoFit/>
          </a:bodyPr>
          <a:lstStyle/>
          <a:p>
            <a:pPr algn="l">
              <a:spcAft>
                <a:spcPts val="600"/>
              </a:spcAft>
            </a:pPr>
            <a:r>
              <a:rPr sz="1900" b="1">
                <a:solidFill>
                  <a:srgbClr val="FFCC2A"/>
                </a:solidFill>
                <a:latin typeface="Calibri"/>
              </a:rPr>
              <a:t>Four mistakes. </a:t>
            </a:r>
            <a:r>
              <a:rPr sz="1900" b="0">
                <a:solidFill>
                  <a:srgbClr val="CFCFCF"/>
                </a:solidFill>
                <a:latin typeface="Calibri"/>
              </a:rPr>
              <a:t>Each one changed an answer.</a:t>
            </a:r>
          </a:p>
        </p:txBody>
      </p:sp>
      <p:sp>
        <p:nvSpPr>
          <p:cNvPr id="5" name="TextBox 4"/>
          <p:cNvSpPr txBox="1"/>
          <p:nvPr/>
        </p:nvSpPr>
        <p:spPr>
          <a:xfrm>
            <a:off x="566928" y="5394960"/>
            <a:ext cx="10515600" cy="365760"/>
          </a:xfrm>
          <a:prstGeom prst="rect">
            <a:avLst/>
          </a:prstGeom>
          <a:noFill/>
        </p:spPr>
        <p:txBody>
          <a:bodyPr wrap="square" lIns="0" rIns="0" tIns="0" bIns="0">
            <a:spAutoFit/>
          </a:bodyPr>
          <a:lstStyle/>
          <a:p>
            <a:pPr algn="l">
              <a:spcAft>
                <a:spcPts val="600"/>
              </a:spcAft>
            </a:pPr>
            <a:r>
              <a:rPr sz="1500" b="1">
                <a:solidFill>
                  <a:srgbClr val="FFFFFF"/>
                </a:solidFill>
                <a:latin typeface="Calibri"/>
              </a:rPr>
              <a:t>Jeryl Donato Estopace</a:t>
            </a:r>
          </a:p>
        </p:txBody>
      </p:sp>
      <p:sp>
        <p:nvSpPr>
          <p:cNvPr id="6" name="TextBox 5"/>
          <p:cNvSpPr txBox="1"/>
          <p:nvPr/>
        </p:nvSpPr>
        <p:spPr>
          <a:xfrm>
            <a:off x="566928" y="5852160"/>
            <a:ext cx="10515600" cy="822960"/>
          </a:xfrm>
          <a:prstGeom prst="rect">
            <a:avLst/>
          </a:prstGeom>
          <a:noFill/>
        </p:spPr>
        <p:txBody>
          <a:bodyPr wrap="square" lIns="0" rIns="0" tIns="0" bIns="0">
            <a:spAutoFit/>
          </a:bodyPr>
          <a:lstStyle/>
          <a:p>
            <a:pPr algn="l">
              <a:spcAft>
                <a:spcPts val="300"/>
              </a:spcAft>
            </a:pPr>
            <a:r>
              <a:rPr sz="1100" b="0">
                <a:solidFill>
                  <a:srgbClr val="CFCFCF"/>
                </a:solidFill>
                <a:latin typeface="Calibri"/>
              </a:rPr>
              <a:t>PGD AI/ML capstone, Pillar 5</a:t>
            </a:r>
          </a:p>
          <a:p>
            <a:pPr algn="l">
              <a:spcAft>
                <a:spcPts val="300"/>
              </a:spcAft>
            </a:pPr>
            <a:r>
              <a:rPr sz="1100" b="0">
                <a:solidFill>
                  <a:srgbClr val="CFCFCF"/>
                </a:solidFill>
                <a:latin typeface="Calibri"/>
              </a:rPr>
              <a:t>UCI, Predict Students' Dropout and Academic Success. 4,424 students, Instituto Politecnico de Portalegre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frame</a:t>
            </a:r>
          </a:p>
        </p:txBody>
      </p:sp>
      <p:sp>
        <p:nvSpPr>
          <p:cNvPr id="3" name="TextBox 2"/>
          <p:cNvSpPr txBox="1"/>
          <p:nvPr/>
        </p:nvSpPr>
        <p:spPr>
          <a:xfrm>
            <a:off x="566928" y="1463040"/>
            <a:ext cx="338328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3,630</a:t>
            </a:r>
          </a:p>
        </p:txBody>
      </p:sp>
      <p:sp>
        <p:nvSpPr>
          <p:cNvPr id="4" name="TextBox 3"/>
          <p:cNvSpPr txBox="1"/>
          <p:nvPr/>
        </p:nvSpPr>
        <p:spPr>
          <a:xfrm>
            <a:off x="566928" y="2033016"/>
            <a:ext cx="338328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students, after 794 with no settled outcome come out</a:t>
            </a:r>
          </a:p>
        </p:txBody>
      </p:sp>
      <p:sp>
        <p:nvSpPr>
          <p:cNvPr id="5" name="TextBox 4"/>
          <p:cNvSpPr txBox="1"/>
          <p:nvPr/>
        </p:nvSpPr>
        <p:spPr>
          <a:xfrm>
            <a:off x="4361688" y="1463040"/>
            <a:ext cx="338328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39.1%</a:t>
            </a:r>
          </a:p>
        </p:txBody>
      </p:sp>
      <p:sp>
        <p:nvSpPr>
          <p:cNvPr id="6" name="TextBox 5"/>
          <p:cNvSpPr txBox="1"/>
          <p:nvPr/>
        </p:nvSpPr>
        <p:spPr>
          <a:xfrm>
            <a:off x="4361688" y="2033016"/>
            <a:ext cx="338328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drop out. Mildly uneven, handled with class weights</a:t>
            </a:r>
          </a:p>
        </p:txBody>
      </p:sp>
      <p:sp>
        <p:nvSpPr>
          <p:cNvPr id="7" name="TextBox 6"/>
          <p:cNvSpPr txBox="1"/>
          <p:nvPr/>
        </p:nvSpPr>
        <p:spPr>
          <a:xfrm>
            <a:off x="8156448" y="1463040"/>
            <a:ext cx="338328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12</a:t>
            </a:r>
          </a:p>
        </p:txBody>
      </p:sp>
      <p:sp>
        <p:nvSpPr>
          <p:cNvPr id="8" name="TextBox 7"/>
          <p:cNvSpPr txBox="1"/>
          <p:nvPr/>
        </p:nvSpPr>
        <p:spPr>
          <a:xfrm>
            <a:off x="8156448" y="2033016"/>
            <a:ext cx="338328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curricular columns dropped as leakage</a:t>
            </a:r>
          </a:p>
        </p:txBody>
      </p:sp>
      <p:sp>
        <p:nvSpPr>
          <p:cNvPr id="9" name="TextBox 8"/>
          <p:cNvSpPr txBox="1"/>
          <p:nvPr/>
        </p:nvSpPr>
        <p:spPr>
          <a:xfrm>
            <a:off x="566928" y="3200400"/>
            <a:ext cx="11057839" cy="2743200"/>
          </a:xfrm>
          <a:prstGeom prst="rect">
            <a:avLst/>
          </a:prstGeom>
          <a:noFill/>
        </p:spPr>
        <p:txBody>
          <a:bodyPr wrap="square" lIns="0" rIns="0" tIns="0" bIns="0">
            <a:spAutoFit/>
          </a:bodyPr>
          <a:lstStyle/>
          <a:p>
            <a:pPr algn="l">
              <a:lnSpc>
                <a:spcPct val="130000"/>
              </a:lnSpc>
              <a:spcAft>
                <a:spcPts val="900"/>
              </a:spcAft>
            </a:pPr>
            <a:r>
              <a:rPr sz="1400" b="0">
                <a:solidFill>
                  <a:srgbClr val="595959"/>
                </a:solidFill>
                <a:latin typeface="Calibri"/>
              </a:rPr>
              <a:t>The task is binary classification, Dropout against Graduate. Enrolled means the outcome is not settled, so those rows cannot teach the model what dropout looks like.</a:t>
            </a:r>
          </a:p>
          <a:p>
            <a:pPr algn="l">
              <a:lnSpc>
                <a:spcPct val="130000"/>
              </a:lnSpc>
              <a:spcAft>
                <a:spcPts val="900"/>
              </a:spcAft>
            </a:pPr>
            <a:r>
              <a:rPr sz="1400" b="0">
                <a:solidFill>
                  <a:srgbClr val="595959"/>
                </a:solidFill>
                <a:latin typeface="Calibri"/>
              </a:rPr>
              <a:t>The twelve curricular columns record first and second semester performance. They predict dropout almost perfectly, because a student failing courses is a student already leaving. The model sees only what is known at enrollment.</a:t>
            </a:r>
          </a:p>
          <a:p>
            <a:pPr algn="l">
              <a:lnSpc>
                <a:spcPct val="130000"/>
              </a:lnSpc>
              <a:spcAft>
                <a:spcPts val="900"/>
              </a:spcAft>
            </a:pPr>
            <a:r>
              <a:rPr sz="1400" b="0">
                <a:solidFill>
                  <a:srgbClr val="595959"/>
                </a:solidFill>
                <a:latin typeface="Calibri"/>
              </a:rPr>
              <a:t/>
            </a:r>
          </a:p>
          <a:p>
            <a:pPr algn="l">
              <a:lnSpc>
                <a:spcPct val="130000"/>
              </a:lnSpc>
              <a:spcAft>
                <a:spcPts val="900"/>
              </a:spcAft>
            </a:pPr>
            <a:r>
              <a:rPr sz="1400" b="1">
                <a:solidFill>
                  <a:srgbClr val="1A1A1A"/>
                </a:solidFill>
                <a:latin typeface="Calibri"/>
              </a:rPr>
              <a:t>PR AUC and ROC AUC choose the model</a:t>
            </a:r>
            <a:r>
              <a:rPr sz="1400" b="0">
                <a:solidFill>
                  <a:srgbClr val="595959"/>
                </a:solidFill>
                <a:latin typeface="Calibri"/>
              </a:rPr>
              <a:t>, because they hold across every cutoff.</a:t>
            </a:r>
          </a:p>
          <a:p>
            <a:pPr algn="l">
              <a:lnSpc>
                <a:spcPct val="130000"/>
              </a:lnSpc>
              <a:spcAft>
                <a:spcPts val="900"/>
              </a:spcAft>
            </a:pPr>
            <a:r>
              <a:rPr sz="1400" b="1">
                <a:solidFill>
                  <a:srgbClr val="1A1A1A"/>
                </a:solidFill>
                <a:latin typeface="Calibri"/>
              </a:rPr>
              <a:t>Recall judges the deployed system</a:t>
            </a:r>
            <a:r>
              <a:rPr sz="1400" b="0">
                <a:solidFill>
                  <a:srgbClr val="595959"/>
                </a:solidFill>
                <a:latin typeface="Calibri"/>
              </a:rPr>
              <a:t>, and only once a cutoff exists. Recall is not a property of a model. It is a property of a model and a cutoff.</a:t>
            </a:r>
          </a:p>
          <a:p>
            <a:pPr algn="l">
              <a:lnSpc>
                <a:spcPct val="130000"/>
              </a:lnSpc>
              <a:spcAft>
                <a:spcPts val="900"/>
              </a:spcAft>
            </a:pPr>
            <a:r>
              <a:rPr sz="1400" b="1">
                <a:solidFill>
                  <a:srgbClr val="1A1A1A"/>
                </a:solidFill>
                <a:latin typeface="Calibri"/>
              </a:rPr>
              <a:t>Accuracy is reported and not trusted</a:t>
            </a:r>
            <a:r>
              <a:rPr sz="1400" b="0">
                <a:solidFill>
                  <a:srgbClr val="595959"/>
                </a:solidFill>
                <a:latin typeface="Calibri"/>
              </a:rPr>
              <a:t>. A model that calls everyone a graduate is right 61 percent of the time and catches nobody.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gaps were there before the model</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Dropout rate by group, against an overall 39.1 percent. Notebook 02.</a:t>
            </a:r>
          </a:p>
        </p:txBody>
      </p:sp>
      <p:graphicFrame>
        <p:nvGraphicFramePr>
          <p:cNvPr id="4" name="Table 3"/>
          <p:cNvGraphicFramePr>
            <a:graphicFrameLocks noGrp="1"/>
          </p:cNvGraphicFramePr>
          <p:nvPr/>
        </p:nvGraphicFramePr>
        <p:xfrm>
          <a:off x="566928" y="1600200"/>
          <a:ext cx="5852159" cy="3456432"/>
        </p:xfrm>
        <a:graphic>
          <a:graphicData uri="http://schemas.openxmlformats.org/drawingml/2006/table">
            <a:tbl>
              <a:tblPr>
                <a:tableStyleId>{5C22544A-7EE6-4342-B048-85BDC9FD1C3A}</a:tableStyleId>
              </a:tblPr>
              <a:tblGrid>
                <a:gridCol w="3251200"/>
                <a:gridCol w="1517226"/>
                <a:gridCol w="1083733"/>
              </a:tblGrid>
              <a:tr h="384048">
                <a:tc>
                  <a:txBody>
                    <a:bodyPr wrap="square"/>
                    <a:lstStyle/>
                    <a:p>
                      <a:pPr algn="l"/>
                      <a:r>
                        <a:rPr sz="1000" b="1">
                          <a:solidFill>
                            <a:srgbClr val="FFFFFF"/>
                          </a:solidFill>
                          <a:latin typeface="Calibri"/>
                        </a:rPr>
                        <a:t>Group</a:t>
                      </a:r>
                    </a:p>
                  </a:txBody>
                  <a:tcPr marL="64008" marR="64008" marT="9144" marB="9144" anchor="ctr">
                    <a:solidFill>
                      <a:srgbClr val="1A1A1A"/>
                    </a:solidFill>
                  </a:tcPr>
                </a:tc>
                <a:tc>
                  <a:txBody>
                    <a:bodyPr wrap="square"/>
                    <a:lstStyle/>
                    <a:p>
                      <a:pPr algn="r"/>
                      <a:r>
                        <a:rPr sz="1000" b="1">
                          <a:solidFill>
                            <a:srgbClr val="FFFFFF"/>
                          </a:solidFill>
                          <a:latin typeface="Calibri"/>
                        </a:rPr>
                        <a:t>Dropout rate</a:t>
                      </a:r>
                    </a:p>
                  </a:txBody>
                  <a:tcPr marL="64008" marR="64008" marT="9144" marB="9144" anchor="ctr">
                    <a:solidFill>
                      <a:srgbClr val="1A1A1A"/>
                    </a:solidFill>
                  </a:tcPr>
                </a:tc>
                <a:tc>
                  <a:txBody>
                    <a:bodyPr wrap="square"/>
                    <a:lstStyle/>
                    <a:p>
                      <a:pPr algn="r"/>
                      <a:r>
                        <a:rPr sz="1000" b="1">
                          <a:solidFill>
                            <a:srgbClr val="FFFFFF"/>
                          </a:solidFill>
                          <a:latin typeface="Calibri"/>
                        </a:rPr>
                        <a:t>n</a:t>
                      </a:r>
                    </a:p>
                  </a:txBody>
                  <a:tcPr marL="64008" marR="64008" marT="9144" marB="9144" anchor="ctr">
                    <a:solidFill>
                      <a:srgbClr val="1A1A1A"/>
                    </a:solidFill>
                  </a:tcPr>
                </a:tc>
              </a:tr>
              <a:tr h="384048">
                <a:tc>
                  <a:txBody>
                    <a:bodyPr wrap="square"/>
                    <a:lstStyle/>
                    <a:p>
                      <a:pPr algn="l"/>
                      <a:r>
                        <a:rPr sz="1100" b="0">
                          <a:solidFill>
                            <a:srgbClr val="1A1A1A"/>
                          </a:solidFill>
                          <a:latin typeface="Calibri"/>
                        </a:rPr>
                        <a:t>Men</a:t>
                      </a:r>
                    </a:p>
                  </a:txBody>
                  <a:tcPr marL="64008" marR="64008" marT="9144" marB="9144" anchor="ctr">
                    <a:solidFill>
                      <a:srgbClr val="FFFFFF"/>
                    </a:solidFill>
                  </a:tcPr>
                </a:tc>
                <a:tc>
                  <a:txBody>
                    <a:bodyPr wrap="square"/>
                    <a:lstStyle/>
                    <a:p>
                      <a:pPr algn="r"/>
                      <a:r>
                        <a:rPr sz="1100" b="0">
                          <a:solidFill>
                            <a:srgbClr val="595959"/>
                          </a:solidFill>
                          <a:latin typeface="Calibri"/>
                        </a:rPr>
                        <a:t>56.1%</a:t>
                      </a:r>
                    </a:p>
                  </a:txBody>
                  <a:tcPr marL="64008" marR="64008" marT="9144" marB="9144" anchor="ctr">
                    <a:solidFill>
                      <a:srgbClr val="FFFFFF"/>
                    </a:solidFill>
                  </a:tcPr>
                </a:tc>
                <a:tc>
                  <a:txBody>
                    <a:bodyPr wrap="square"/>
                    <a:lstStyle/>
                    <a:p>
                      <a:pPr algn="r"/>
                      <a:r>
                        <a:rPr sz="1100" b="0">
                          <a:solidFill>
                            <a:srgbClr val="595959"/>
                          </a:solidFill>
                          <a:latin typeface="Calibri"/>
                        </a:rPr>
                        <a:t>1,249</a:t>
                      </a:r>
                    </a:p>
                  </a:txBody>
                  <a:tcPr marL="64008" marR="64008" marT="9144" marB="9144" anchor="ctr">
                    <a:solidFill>
                      <a:srgbClr val="FFFFFF"/>
                    </a:solidFill>
                  </a:tcPr>
                </a:tc>
              </a:tr>
              <a:tr h="384048">
                <a:tc>
                  <a:txBody>
                    <a:bodyPr wrap="square"/>
                    <a:lstStyle/>
                    <a:p>
                      <a:pPr algn="l"/>
                      <a:r>
                        <a:rPr sz="1100" b="0">
                          <a:solidFill>
                            <a:srgbClr val="1A1A1A"/>
                          </a:solidFill>
                          <a:latin typeface="Calibri"/>
                        </a:rPr>
                        <a:t>Women</a:t>
                      </a:r>
                    </a:p>
                  </a:txBody>
                  <a:tcPr marL="64008" marR="64008" marT="9144" marB="9144" anchor="ctr">
                    <a:solidFill>
                      <a:srgbClr val="F2F2F2"/>
                    </a:solidFill>
                  </a:tcPr>
                </a:tc>
                <a:tc>
                  <a:txBody>
                    <a:bodyPr wrap="square"/>
                    <a:lstStyle/>
                    <a:p>
                      <a:pPr algn="r"/>
                      <a:r>
                        <a:rPr sz="1100" b="0">
                          <a:solidFill>
                            <a:srgbClr val="595959"/>
                          </a:solidFill>
                          <a:latin typeface="Calibri"/>
                        </a:rPr>
                        <a:t>30.2%</a:t>
                      </a:r>
                    </a:p>
                  </a:txBody>
                  <a:tcPr marL="64008" marR="64008" marT="9144" marB="9144" anchor="ctr">
                    <a:solidFill>
                      <a:srgbClr val="F2F2F2"/>
                    </a:solidFill>
                  </a:tcPr>
                </a:tc>
                <a:tc>
                  <a:txBody>
                    <a:bodyPr wrap="square"/>
                    <a:lstStyle/>
                    <a:p>
                      <a:pPr algn="r"/>
                      <a:r>
                        <a:rPr sz="1100" b="0">
                          <a:solidFill>
                            <a:srgbClr val="595959"/>
                          </a:solidFill>
                          <a:latin typeface="Calibri"/>
                        </a:rPr>
                        <a:t>2,381</a:t>
                      </a:r>
                    </a:p>
                  </a:txBody>
                  <a:tcPr marL="64008" marR="64008" marT="9144" marB="9144" anchor="ctr">
                    <a:solidFill>
                      <a:srgbClr val="F2F2F2"/>
                    </a:solidFill>
                  </a:tcPr>
                </a:tc>
              </a:tr>
              <a:tr h="384048">
                <a:tc>
                  <a:txBody>
                    <a:bodyPr wrap="square"/>
                    <a:lstStyle/>
                    <a:p>
                      <a:pPr algn="l"/>
                      <a:r>
                        <a:rPr sz="1100" b="0">
                          <a:solidFill>
                            <a:srgbClr val="1A1A1A"/>
                          </a:solidFill>
                          <a:latin typeface="Calibri"/>
                        </a:rPr>
                        <a:t>No scholarship</a:t>
                      </a:r>
                    </a:p>
                  </a:txBody>
                  <a:tcPr marL="64008" marR="64008" marT="9144" marB="9144" anchor="ctr">
                    <a:solidFill>
                      <a:srgbClr val="FFFFFF"/>
                    </a:solidFill>
                  </a:tcPr>
                </a:tc>
                <a:tc>
                  <a:txBody>
                    <a:bodyPr wrap="square"/>
                    <a:lstStyle/>
                    <a:p>
                      <a:pPr algn="r"/>
                      <a:r>
                        <a:rPr sz="1100" b="0">
                          <a:solidFill>
                            <a:srgbClr val="595959"/>
                          </a:solidFill>
                          <a:latin typeface="Calibri"/>
                        </a:rPr>
                        <a:t>48.4%</a:t>
                      </a:r>
                    </a:p>
                  </a:txBody>
                  <a:tcPr marL="64008" marR="64008" marT="9144" marB="9144" anchor="ctr">
                    <a:solidFill>
                      <a:srgbClr val="FFFFFF"/>
                    </a:solidFill>
                  </a:tcPr>
                </a:tc>
                <a:tc>
                  <a:txBody>
                    <a:bodyPr wrap="square"/>
                    <a:lstStyle/>
                    <a:p>
                      <a:pPr algn="r"/>
                      <a:r>
                        <a:rPr sz="1100" b="0">
                          <a:solidFill>
                            <a:srgbClr val="595959"/>
                          </a:solidFill>
                          <a:latin typeface="Calibri"/>
                        </a:rPr>
                        <a:t>2,661</a:t>
                      </a:r>
                    </a:p>
                  </a:txBody>
                  <a:tcPr marL="64008" marR="64008" marT="9144" marB="9144" anchor="ctr">
                    <a:solidFill>
                      <a:srgbClr val="FFFFFF"/>
                    </a:solidFill>
                  </a:tcPr>
                </a:tc>
              </a:tr>
              <a:tr h="384048">
                <a:tc>
                  <a:txBody>
                    <a:bodyPr wrap="square"/>
                    <a:lstStyle/>
                    <a:p>
                      <a:pPr algn="l"/>
                      <a:r>
                        <a:rPr sz="1100" b="0">
                          <a:solidFill>
                            <a:srgbClr val="1A1A1A"/>
                          </a:solidFill>
                          <a:latin typeface="Calibri"/>
                        </a:rPr>
                        <a:t>Scholarship holder</a:t>
                      </a:r>
                    </a:p>
                  </a:txBody>
                  <a:tcPr marL="64008" marR="64008" marT="9144" marB="9144" anchor="ctr">
                    <a:solidFill>
                      <a:srgbClr val="F2F2F2"/>
                    </a:solidFill>
                  </a:tcPr>
                </a:tc>
                <a:tc>
                  <a:txBody>
                    <a:bodyPr wrap="square"/>
                    <a:lstStyle/>
                    <a:p>
                      <a:pPr algn="r"/>
                      <a:r>
                        <a:rPr sz="1100" b="0">
                          <a:solidFill>
                            <a:srgbClr val="595959"/>
                          </a:solidFill>
                          <a:latin typeface="Calibri"/>
                        </a:rPr>
                        <a:t>13.8%</a:t>
                      </a:r>
                    </a:p>
                  </a:txBody>
                  <a:tcPr marL="64008" marR="64008" marT="9144" marB="9144" anchor="ctr">
                    <a:solidFill>
                      <a:srgbClr val="F2F2F2"/>
                    </a:solidFill>
                  </a:tcPr>
                </a:tc>
                <a:tc>
                  <a:txBody>
                    <a:bodyPr wrap="square"/>
                    <a:lstStyle/>
                    <a:p>
                      <a:pPr algn="r"/>
                      <a:r>
                        <a:rPr sz="1100" b="0">
                          <a:solidFill>
                            <a:srgbClr val="595959"/>
                          </a:solidFill>
                          <a:latin typeface="Calibri"/>
                        </a:rPr>
                        <a:t>969</a:t>
                      </a:r>
                    </a:p>
                  </a:txBody>
                  <a:tcPr marL="64008" marR="64008" marT="9144" marB="9144" anchor="ctr">
                    <a:solidFill>
                      <a:srgbClr val="F2F2F2"/>
                    </a:solidFill>
                  </a:tcPr>
                </a:tc>
              </a:tr>
              <a:tr h="384048">
                <a:tc>
                  <a:txBody>
                    <a:bodyPr wrap="square"/>
                    <a:lstStyle/>
                    <a:p>
                      <a:pPr algn="l"/>
                      <a:r>
                        <a:rPr sz="1100" b="0">
                          <a:solidFill>
                            <a:srgbClr val="1A1A1A"/>
                          </a:solidFill>
                          <a:latin typeface="Calibri"/>
                        </a:rPr>
                        <a:t>Debtor</a:t>
                      </a:r>
                    </a:p>
                  </a:txBody>
                  <a:tcPr marL="64008" marR="64008" marT="9144" marB="9144" anchor="ctr">
                    <a:solidFill>
                      <a:srgbClr val="FFFFFF"/>
                    </a:solidFill>
                  </a:tcPr>
                </a:tc>
                <a:tc>
                  <a:txBody>
                    <a:bodyPr wrap="square"/>
                    <a:lstStyle/>
                    <a:p>
                      <a:pPr algn="r"/>
                      <a:r>
                        <a:rPr sz="1100" b="0">
                          <a:solidFill>
                            <a:srgbClr val="595959"/>
                          </a:solidFill>
                          <a:latin typeface="Calibri"/>
                        </a:rPr>
                        <a:t>75.5%</a:t>
                      </a:r>
                    </a:p>
                  </a:txBody>
                  <a:tcPr marL="64008" marR="64008" marT="9144" marB="9144" anchor="ctr">
                    <a:solidFill>
                      <a:srgbClr val="FFFFFF"/>
                    </a:solidFill>
                  </a:tcPr>
                </a:tc>
                <a:tc>
                  <a:txBody>
                    <a:bodyPr wrap="square"/>
                    <a:lstStyle/>
                    <a:p>
                      <a:pPr algn="r"/>
                      <a:r>
                        <a:rPr sz="1100" b="0">
                          <a:solidFill>
                            <a:srgbClr val="595959"/>
                          </a:solidFill>
                          <a:latin typeface="Calibri"/>
                        </a:rPr>
                        <a:t>413</a:t>
                      </a:r>
                    </a:p>
                  </a:txBody>
                  <a:tcPr marL="64008" marR="64008" marT="9144" marB="9144" anchor="ctr">
                    <a:solidFill>
                      <a:srgbClr val="FFFFFF"/>
                    </a:solidFill>
                  </a:tcPr>
                </a:tc>
              </a:tr>
              <a:tr h="384048">
                <a:tc>
                  <a:txBody>
                    <a:bodyPr wrap="square"/>
                    <a:lstStyle/>
                    <a:p>
                      <a:pPr algn="l"/>
                      <a:r>
                        <a:rPr sz="1100" b="0">
                          <a:solidFill>
                            <a:srgbClr val="1A1A1A"/>
                          </a:solidFill>
                          <a:latin typeface="Calibri"/>
                        </a:rPr>
                        <a:t>Not a debtor</a:t>
                      </a:r>
                    </a:p>
                  </a:txBody>
                  <a:tcPr marL="64008" marR="64008" marT="9144" marB="9144" anchor="ctr">
                    <a:solidFill>
                      <a:srgbClr val="F2F2F2"/>
                    </a:solidFill>
                  </a:tcPr>
                </a:tc>
                <a:tc>
                  <a:txBody>
                    <a:bodyPr wrap="square"/>
                    <a:lstStyle/>
                    <a:p>
                      <a:pPr algn="r"/>
                      <a:r>
                        <a:rPr sz="1100" b="0">
                          <a:solidFill>
                            <a:srgbClr val="595959"/>
                          </a:solidFill>
                          <a:latin typeface="Calibri"/>
                        </a:rPr>
                        <a:t>34.5%</a:t>
                      </a:r>
                    </a:p>
                  </a:txBody>
                  <a:tcPr marL="64008" marR="64008" marT="9144" marB="9144" anchor="ctr">
                    <a:solidFill>
                      <a:srgbClr val="F2F2F2"/>
                    </a:solidFill>
                  </a:tcPr>
                </a:tc>
                <a:tc>
                  <a:txBody>
                    <a:bodyPr wrap="square"/>
                    <a:lstStyle/>
                    <a:p>
                      <a:pPr algn="r"/>
                      <a:r>
                        <a:rPr sz="1100" b="0">
                          <a:solidFill>
                            <a:srgbClr val="595959"/>
                          </a:solidFill>
                          <a:latin typeface="Calibri"/>
                        </a:rPr>
                        <a:t>3,217</a:t>
                      </a:r>
                    </a:p>
                  </a:txBody>
                  <a:tcPr marL="64008" marR="64008" marT="9144" marB="9144" anchor="ctr">
                    <a:solidFill>
                      <a:srgbClr val="F2F2F2"/>
                    </a:solidFill>
                  </a:tcPr>
                </a:tc>
              </a:tr>
              <a:tr h="384048">
                <a:tc>
                  <a:txBody>
                    <a:bodyPr wrap="square"/>
                    <a:lstStyle/>
                    <a:p>
                      <a:pPr algn="l"/>
                      <a:r>
                        <a:rPr sz="1100" b="0">
                          <a:solidFill>
                            <a:srgbClr val="1A1A1A"/>
                          </a:solidFill>
                          <a:latin typeface="Calibri"/>
                        </a:rPr>
                        <a:t>Age 24 to 30</a:t>
                      </a:r>
                    </a:p>
                  </a:txBody>
                  <a:tcPr marL="64008" marR="64008" marT="9144" marB="9144" anchor="ctr">
                    <a:solidFill>
                      <a:srgbClr val="FFFFFF"/>
                    </a:solidFill>
                  </a:tcPr>
                </a:tc>
                <a:tc>
                  <a:txBody>
                    <a:bodyPr wrap="square"/>
                    <a:lstStyle/>
                    <a:p>
                      <a:pPr algn="r"/>
                      <a:r>
                        <a:rPr sz="1100" b="0">
                          <a:solidFill>
                            <a:srgbClr val="595959"/>
                          </a:solidFill>
                          <a:latin typeface="Calibri"/>
                        </a:rPr>
                        <a:t>66.5%</a:t>
                      </a:r>
                    </a:p>
                  </a:txBody>
                  <a:tcPr marL="64008" marR="64008" marT="9144" marB="9144" anchor="ctr">
                    <a:solidFill>
                      <a:srgbClr val="FFFFFF"/>
                    </a:solidFill>
                  </a:tcPr>
                </a:tc>
                <a:tc>
                  <a:txBody>
                    <a:bodyPr wrap="square"/>
                    <a:lstStyle/>
                    <a:p>
                      <a:pPr algn="r"/>
                      <a:r>
                        <a:rPr sz="1100" b="0">
                          <a:solidFill>
                            <a:srgbClr val="595959"/>
                          </a:solidFill>
                          <a:latin typeface="Calibri"/>
                        </a:rPr>
                        <a:t>499</a:t>
                      </a:r>
                    </a:p>
                  </a:txBody>
                  <a:tcPr marL="64008" marR="64008" marT="9144" marB="9144" anchor="ctr">
                    <a:solidFill>
                      <a:srgbClr val="FFFFFF"/>
                    </a:solidFill>
                  </a:tcPr>
                </a:tc>
              </a:tr>
              <a:tr h="384048">
                <a:tc>
                  <a:txBody>
                    <a:bodyPr wrap="square"/>
                    <a:lstStyle/>
                    <a:p>
                      <a:pPr algn="l"/>
                      <a:r>
                        <a:rPr sz="1100" b="0">
                          <a:solidFill>
                            <a:srgbClr val="1A1A1A"/>
                          </a:solidFill>
                          <a:latin typeface="Calibri"/>
                        </a:rPr>
                        <a:t>Age 17 to 20</a:t>
                      </a:r>
                    </a:p>
                  </a:txBody>
                  <a:tcPr marL="64008" marR="64008" marT="9144" marB="9144" anchor="ctr">
                    <a:solidFill>
                      <a:srgbClr val="F2F2F2"/>
                    </a:solidFill>
                  </a:tcPr>
                </a:tc>
                <a:tc>
                  <a:txBody>
                    <a:bodyPr wrap="square"/>
                    <a:lstStyle/>
                    <a:p>
                      <a:pPr algn="r"/>
                      <a:r>
                        <a:rPr sz="1100" b="0">
                          <a:solidFill>
                            <a:srgbClr val="595959"/>
                          </a:solidFill>
                          <a:latin typeface="Calibri"/>
                        </a:rPr>
                        <a:t>26.1%</a:t>
                      </a:r>
                    </a:p>
                  </a:txBody>
                  <a:tcPr marL="64008" marR="64008" marT="9144" marB="9144" anchor="ctr">
                    <a:solidFill>
                      <a:srgbClr val="F2F2F2"/>
                    </a:solidFill>
                  </a:tcPr>
                </a:tc>
                <a:tc>
                  <a:txBody>
                    <a:bodyPr wrap="square"/>
                    <a:lstStyle/>
                    <a:p>
                      <a:pPr algn="r"/>
                      <a:r>
                        <a:rPr sz="1100" b="0">
                          <a:solidFill>
                            <a:srgbClr val="595959"/>
                          </a:solidFill>
                          <a:latin typeface="Calibri"/>
                        </a:rPr>
                        <a:t>2,080</a:t>
                      </a:r>
                    </a:p>
                  </a:txBody>
                  <a:tcPr marL="64008" marR="64008" marT="9144" marB="9144" anchor="ctr">
                    <a:solidFill>
                      <a:srgbClr val="F2F2F2"/>
                    </a:solidFill>
                  </a:tcPr>
                </a:tc>
              </a:tr>
            </a:tbl>
          </a:graphicData>
        </a:graphic>
      </p:graphicFrame>
      <p:sp>
        <p:nvSpPr>
          <p:cNvPr id="5" name="TextBox 4"/>
          <p:cNvSpPr txBox="1"/>
          <p:nvPr/>
        </p:nvSpPr>
        <p:spPr>
          <a:xfrm>
            <a:off x="7040880" y="1691640"/>
            <a:ext cx="4572000" cy="603504"/>
          </a:xfrm>
          <a:prstGeom prst="rect">
            <a:avLst/>
          </a:prstGeom>
          <a:noFill/>
        </p:spPr>
        <p:txBody>
          <a:bodyPr wrap="square" lIns="0" rIns="0" tIns="0" bIns="0">
            <a:spAutoFit/>
          </a:bodyPr>
          <a:lstStyle/>
          <a:p>
            <a:pPr algn="l">
              <a:spcAft>
                <a:spcPts val="0"/>
              </a:spcAft>
            </a:pPr>
            <a:r>
              <a:rPr sz="5200" b="1">
                <a:solidFill>
                  <a:srgbClr val="1A1A1A"/>
                </a:solidFill>
                <a:latin typeface="Cambria"/>
              </a:rPr>
              <a:t>94.0%</a:t>
            </a:r>
          </a:p>
        </p:txBody>
      </p:sp>
      <p:sp>
        <p:nvSpPr>
          <p:cNvPr id="6" name="TextBox 5"/>
          <p:cNvSpPr txBox="1"/>
          <p:nvPr/>
        </p:nvSpPr>
        <p:spPr>
          <a:xfrm>
            <a:off x="7040880" y="2487168"/>
            <a:ext cx="4572000" cy="2011680"/>
          </a:xfrm>
          <a:prstGeom prst="rect">
            <a:avLst/>
          </a:prstGeom>
          <a:noFill/>
        </p:spPr>
        <p:txBody>
          <a:bodyPr wrap="square" lIns="0" rIns="0" tIns="0" bIns="0">
            <a:spAutoFit/>
          </a:bodyPr>
          <a:lstStyle/>
          <a:p>
            <a:pPr algn="l">
              <a:lnSpc>
                <a:spcPct val="125000"/>
              </a:lnSpc>
              <a:spcAft>
                <a:spcPts val="800"/>
              </a:spcAft>
            </a:pPr>
            <a:r>
              <a:rPr sz="1300" b="0">
                <a:solidFill>
                  <a:srgbClr val="595959"/>
                </a:solidFill>
                <a:latin typeface="Calibri"/>
              </a:rPr>
              <a:t>Dropout rate for the 486 students not up to date on tuition, against 30.7 percent for those who are.</a:t>
            </a:r>
          </a:p>
          <a:p>
            <a:pPr algn="l">
              <a:lnSpc>
                <a:spcPct val="125000"/>
              </a:lnSpc>
              <a:spcAft>
                <a:spcPts val="800"/>
              </a:spcAft>
            </a:pPr>
            <a:r>
              <a:rPr sz="1300" b="0">
                <a:solidFill>
                  <a:srgbClr val="595959"/>
                </a:solidFill>
                <a:latin typeface="Calibri"/>
              </a:rPr>
              <a:t>That is not a background fact. A student who has stopped paying is often a student already leaving. It is a near-outcome signal, kept but watched, and Step 3 measures what the model loses without it.</a:t>
            </a:r>
          </a:p>
        </p:txBody>
      </p:sp>
      <p:sp>
        <p:nvSpPr>
          <p:cNvPr id="7" name="TextBox 6"/>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These numbers come back on slide 10. They are the reason the fairness audit had to be rewritten.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What predicts dropout</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The right test for each feature type. Mann-Whitney U on the numbers, chi-square and Cramer's V on the categories.</a:t>
            </a:r>
          </a:p>
        </p:txBody>
      </p:sp>
      <p:pic>
        <p:nvPicPr>
          <p:cNvPr id="4" name="Picture 3" descr="continuous_by_dropout.png"/>
          <p:cNvPicPr>
            <a:picLocks noChangeAspect="1"/>
          </p:cNvPicPr>
          <p:nvPr/>
        </p:nvPicPr>
        <p:blipFill>
          <a:blip r:embed="rId2"/>
          <a:stretch>
            <a:fillRect/>
          </a:stretch>
        </p:blipFill>
        <p:spPr>
          <a:xfrm>
            <a:off x="566928" y="1645920"/>
            <a:ext cx="6035040" cy="3017520"/>
          </a:xfrm>
          <a:prstGeom prst="rect">
            <a:avLst/>
          </a:prstGeom>
        </p:spPr>
      </p:pic>
      <p:pic>
        <p:nvPicPr>
          <p:cNvPr id="5" name="Picture 4" descr="cramers_v_matrix.png"/>
          <p:cNvPicPr>
            <a:picLocks noChangeAspect="1"/>
          </p:cNvPicPr>
          <p:nvPr/>
        </p:nvPicPr>
        <p:blipFill>
          <a:blip r:embed="rId3"/>
          <a:stretch>
            <a:fillRect/>
          </a:stretch>
        </p:blipFill>
        <p:spPr>
          <a:xfrm>
            <a:off x="7406640" y="1508760"/>
            <a:ext cx="4206240" cy="3738880"/>
          </a:xfrm>
          <a:prstGeom prst="rect">
            <a:avLst/>
          </a:prstGeom>
        </p:spPr>
      </p:pic>
      <p:sp>
        <p:nvSpPr>
          <p:cNvPr id="6" name="TextBox 5"/>
          <p:cNvSpPr txBox="1"/>
          <p:nvPr/>
        </p:nvSpPr>
        <p:spPr>
          <a:xfrm>
            <a:off x="566928" y="4709160"/>
            <a:ext cx="6309360" cy="1371600"/>
          </a:xfrm>
          <a:prstGeom prst="rect">
            <a:avLst/>
          </a:prstGeom>
          <a:noFill/>
        </p:spPr>
        <p:txBody>
          <a:bodyPr wrap="square" lIns="0" rIns="0" tIns="0" bIns="0">
            <a:spAutoFit/>
          </a:bodyPr>
          <a:lstStyle/>
          <a:p>
            <a:pPr algn="l">
              <a:lnSpc>
                <a:spcPct val="120000"/>
              </a:lnSpc>
              <a:spcAft>
                <a:spcPts val="700"/>
              </a:spcAft>
            </a:pPr>
            <a:r>
              <a:rPr sz="1300" b="0">
                <a:solidFill>
                  <a:srgbClr val="595959"/>
                </a:solidFill>
                <a:latin typeface="Calibri"/>
              </a:rPr>
              <a:t>Age has the strongest link, p = 9.2e-65. Older entrants drop out more. Admission grade and previous qualification grade follow. Unemployment and inflation show no real difference, p = 0.75 and 0.21.</a:t>
            </a:r>
          </a:p>
          <a:p>
            <a:pPr algn="l">
              <a:lnSpc>
                <a:spcPct val="120000"/>
              </a:lnSpc>
              <a:spcAft>
                <a:spcPts val="700"/>
              </a:spcAft>
            </a:pPr>
            <a:r>
              <a:rPr sz="1300" b="0">
                <a:solidFill>
                  <a:srgbClr val="595959"/>
                </a:solidFill>
                <a:latin typeface="Calibri"/>
              </a:rPr>
              <a:t>Tuition 0.437, Course 0.346, application mode 0.330 lead on Cramer's V.</a:t>
            </a:r>
          </a:p>
          <a:p>
            <a:pPr algn="l">
              <a:lnSpc>
                <a:spcPct val="120000"/>
              </a:lnSpc>
              <a:spcAft>
                <a:spcPts val="700"/>
              </a:spcAft>
            </a:pPr>
            <a:r>
              <a:rPr sz="1300" b="1">
                <a:solidFill>
                  <a:srgbClr val="1A1A1A"/>
                </a:solidFill>
                <a:latin typeface="Calibri"/>
              </a:rPr>
              <a:t>Every VIF is under 2.</a:t>
            </a:r>
            <a:r>
              <a:rPr sz="1300" b="0">
                <a:solidFill>
                  <a:srgbClr val="595959"/>
                </a:solidFill>
                <a:latin typeface="Calibri"/>
              </a:rPr>
              <a:t> But VIF only ever looks at the six numerics.</a:t>
            </a:r>
          </a:p>
        </p:txBody>
      </p:sp>
      <p:sp>
        <p:nvSpPr>
          <p:cNvPr id="7" name="TextBox 6"/>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matrix shows two pairs sitting at a perfect V = 1.000. I noted that and moved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66928" y="475488"/>
            <a:ext cx="457200" cy="457200"/>
          </a:xfrm>
          <a:prstGeom prst="ellipse">
            <a:avLst/>
          </a:prstGeom>
          <a:solidFill>
            <a:srgbClr val="FFCC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1A1A1A"/>
                </a:solidFill>
                <a:latin typeface="Cambria"/>
              </a:rPr>
              <a:t>1</a:t>
            </a:r>
          </a:p>
        </p:txBody>
      </p:sp>
      <p:sp>
        <p:nvSpPr>
          <p:cNvPr id="3" name="TextBox 2"/>
          <p:cNvSpPr txBox="1"/>
          <p:nvPr/>
        </p:nvSpPr>
        <p:spPr>
          <a:xfrm>
            <a:off x="1225296" y="457200"/>
            <a:ext cx="10399471"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feature that broke the coefficients</a:t>
            </a:r>
          </a:p>
        </p:txBody>
      </p:sp>
      <p:sp>
        <p:nvSpPr>
          <p:cNvPr id="4" name="TextBox 3"/>
          <p:cNvSpPr txBox="1"/>
          <p:nvPr/>
        </p:nvSpPr>
        <p:spPr>
          <a:xfrm>
            <a:off x="566928" y="1280160"/>
            <a:ext cx="5760720" cy="1280160"/>
          </a:xfrm>
          <a:prstGeom prst="rect">
            <a:avLst/>
          </a:prstGeom>
          <a:noFill/>
        </p:spPr>
        <p:txBody>
          <a:bodyPr wrap="square" lIns="0" rIns="0" tIns="0" bIns="0">
            <a:spAutoFit/>
          </a:bodyPr>
          <a:lstStyle/>
          <a:p>
            <a:pPr algn="l">
              <a:lnSpc>
                <a:spcPct val="120000"/>
              </a:lnSpc>
              <a:spcAft>
                <a:spcPts val="700"/>
              </a:spcAft>
            </a:pPr>
            <a:r>
              <a:rPr sz="1300" b="0">
                <a:solidFill>
                  <a:srgbClr val="595959"/>
                </a:solidFill>
                <a:latin typeface="Calibri"/>
              </a:rPr>
              <a:t>A socioeconomic pressure score, one point each for owing money, falling behind on tuition, and holding no scholarship. It ranked first on mutual information, ahead of every raw column in the file.</a:t>
            </a:r>
          </a:p>
          <a:p>
            <a:pPr algn="l">
              <a:lnSpc>
                <a:spcPct val="120000"/>
              </a:lnSpc>
              <a:spcAft>
                <a:spcPts val="700"/>
              </a:spcAft>
            </a:pPr>
            <a:r>
              <a:rPr sz="1300" b="0">
                <a:solidFill>
                  <a:srgbClr val="595959"/>
                </a:solidFill>
                <a:latin typeface="Calibri"/>
              </a:rPr>
              <a:t>Then the model said owing the school money makes a student less likely to drop out.</a:t>
            </a:r>
          </a:p>
        </p:txBody>
      </p:sp>
      <p:sp>
        <p:nvSpPr>
          <p:cNvPr id="5" name="Rectangle 4"/>
          <p:cNvSpPr/>
          <p:nvPr/>
        </p:nvSpPr>
        <p:spPr>
          <a:xfrm>
            <a:off x="566928" y="2788920"/>
            <a:ext cx="5760720" cy="914400"/>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300" b="1">
                <a:solidFill>
                  <a:srgbClr val="1A1A1A"/>
                </a:solidFill>
                <a:latin typeface="Courier New"/>
              </a:rPr>
              <a:t>pressure − Debtor + Tuition + Scholarship = [2]</a:t>
            </a:r>
          </a:p>
          <a:p>
            <a:pPr algn="l"/>
            <a:r>
              <a:rPr sz="1100">
                <a:solidFill>
                  <a:srgbClr val="595959"/>
                </a:solidFill>
                <a:latin typeface="Calibri"/>
              </a:rPr>
              <a:t>One value. Exactly 2, on all 2,904 training rows. The score was three columns the matrix already held.</a:t>
            </a:r>
          </a:p>
        </p:txBody>
      </p:sp>
      <p:graphicFrame>
        <p:nvGraphicFramePr>
          <p:cNvPr id="6" name="Table 5"/>
          <p:cNvGraphicFramePr>
            <a:graphicFrameLocks noGrp="1"/>
          </p:cNvGraphicFramePr>
          <p:nvPr/>
        </p:nvGraphicFramePr>
        <p:xfrm>
          <a:off x="566928" y="4023360"/>
          <a:ext cx="5760720" cy="1243584"/>
        </p:xfrm>
        <a:graphic>
          <a:graphicData uri="http://schemas.openxmlformats.org/drawingml/2006/table">
            <a:tbl>
              <a:tblPr>
                <a:tableStyleId>{5C22544A-7EE6-4342-B048-85BDC9FD1C3A}</a:tableStyleId>
              </a:tblPr>
              <a:tblGrid>
                <a:gridCol w="3456432"/>
                <a:gridCol w="1152144"/>
                <a:gridCol w="1152144"/>
              </a:tblGrid>
              <a:tr h="310896">
                <a:tc>
                  <a:txBody>
                    <a:bodyPr wrap="square"/>
                    <a:lstStyle/>
                    <a:p>
                      <a:pPr algn="l"/>
                      <a:r>
                        <a:rPr sz="1000" b="1">
                          <a:solidFill>
                            <a:srgbClr val="FFFFFF"/>
                          </a:solidFill>
                          <a:latin typeface="Calibri"/>
                        </a:rPr>
                        <a:t>Design matrix</a:t>
                      </a:r>
                    </a:p>
                  </a:txBody>
                  <a:tcPr marL="64008" marR="64008" marT="9144" marB="9144" anchor="ctr">
                    <a:solidFill>
                      <a:srgbClr val="1A1A1A"/>
                    </a:solidFill>
                  </a:tcPr>
                </a:tc>
                <a:tc>
                  <a:txBody>
                    <a:bodyPr wrap="square"/>
                    <a:lstStyle/>
                    <a:p>
                      <a:pPr algn="r"/>
                      <a:r>
                        <a:rPr sz="1000" b="1">
                          <a:solidFill>
                            <a:srgbClr val="FFFFFF"/>
                          </a:solidFill>
                          <a:latin typeface="Calibri"/>
                        </a:rPr>
                        <a:t>Old</a:t>
                      </a:r>
                    </a:p>
                  </a:txBody>
                  <a:tcPr marL="64008" marR="64008" marT="9144" marB="9144" anchor="ctr">
                    <a:solidFill>
                      <a:srgbClr val="1A1A1A"/>
                    </a:solidFill>
                  </a:tcPr>
                </a:tc>
                <a:tc>
                  <a:txBody>
                    <a:bodyPr wrap="square"/>
                    <a:lstStyle/>
                    <a:p>
                      <a:pPr algn="r"/>
                      <a:r>
                        <a:rPr sz="1000" b="1">
                          <a:solidFill>
                            <a:srgbClr val="FFFFFF"/>
                          </a:solidFill>
                          <a:latin typeface="Calibri"/>
                        </a:rPr>
                        <a:t>Fixed</a:t>
                      </a:r>
                    </a:p>
                  </a:txBody>
                  <a:tcPr marL="64008" marR="64008" marT="9144" marB="9144" anchor="ctr">
                    <a:solidFill>
                      <a:srgbClr val="1A1A1A"/>
                    </a:solidFill>
                  </a:tcPr>
                </a:tc>
              </a:tr>
              <a:tr h="310896">
                <a:tc>
                  <a:txBody>
                    <a:bodyPr wrap="square"/>
                    <a:lstStyle/>
                    <a:p>
                      <a:pPr algn="l"/>
                      <a:r>
                        <a:rPr sz="1100" b="0">
                          <a:solidFill>
                            <a:srgbClr val="1A1A1A"/>
                          </a:solidFill>
                          <a:latin typeface="Calibri"/>
                        </a:rPr>
                        <a:t>Columns</a:t>
                      </a:r>
                    </a:p>
                  </a:txBody>
                  <a:tcPr marL="64008" marR="64008" marT="9144" marB="9144" anchor="ctr">
                    <a:solidFill>
                      <a:srgbClr val="FFFFFF"/>
                    </a:solidFill>
                  </a:tcPr>
                </a:tc>
                <a:tc>
                  <a:txBody>
                    <a:bodyPr wrap="square"/>
                    <a:lstStyle/>
                    <a:p>
                      <a:pPr algn="r"/>
                      <a:r>
                        <a:rPr sz="1100" b="0">
                          <a:solidFill>
                            <a:srgbClr val="595959"/>
                          </a:solidFill>
                          <a:latin typeface="Calibri"/>
                        </a:rPr>
                        <a:t>216</a:t>
                      </a:r>
                    </a:p>
                  </a:txBody>
                  <a:tcPr marL="64008" marR="64008" marT="9144" marB="9144" anchor="ctr">
                    <a:solidFill>
                      <a:srgbClr val="FFFFFF"/>
                    </a:solidFill>
                  </a:tcPr>
                </a:tc>
                <a:tc>
                  <a:txBody>
                    <a:bodyPr wrap="square"/>
                    <a:lstStyle/>
                    <a:p>
                      <a:pPr algn="r"/>
                      <a:r>
                        <a:rPr sz="1100" b="0">
                          <a:solidFill>
                            <a:srgbClr val="595959"/>
                          </a:solidFill>
                          <a:latin typeface="Calibri"/>
                        </a:rPr>
                        <a:t>84</a:t>
                      </a:r>
                    </a:p>
                  </a:txBody>
                  <a:tcPr marL="64008" marR="64008" marT="9144" marB="9144" anchor="ctr">
                    <a:solidFill>
                      <a:srgbClr val="FFFFFF"/>
                    </a:solidFill>
                  </a:tcPr>
                </a:tc>
              </a:tr>
              <a:tr h="310896">
                <a:tc>
                  <a:txBody>
                    <a:bodyPr wrap="square"/>
                    <a:lstStyle/>
                    <a:p>
                      <a:pPr algn="l"/>
                      <a:r>
                        <a:rPr sz="1100" b="0">
                          <a:solidFill>
                            <a:srgbClr val="1A1A1A"/>
                          </a:solidFill>
                          <a:latin typeface="Calibri"/>
                        </a:rPr>
                        <a:t>One-hot blocks</a:t>
                      </a:r>
                    </a:p>
                  </a:txBody>
                  <a:tcPr marL="64008" marR="64008" marT="9144" marB="9144" anchor="ctr">
                    <a:solidFill>
                      <a:srgbClr val="F2F2F2"/>
                    </a:solidFill>
                  </a:tcPr>
                </a:tc>
                <a:tc>
                  <a:txBody>
                    <a:bodyPr wrap="square"/>
                    <a:lstStyle/>
                    <a:p>
                      <a:pPr algn="r"/>
                      <a:r>
                        <a:rPr sz="1100" b="0">
                          <a:solidFill>
                            <a:srgbClr val="595959"/>
                          </a:solidFill>
                          <a:latin typeface="Calibri"/>
                        </a:rPr>
                        <a:t>9</a:t>
                      </a:r>
                    </a:p>
                  </a:txBody>
                  <a:tcPr marL="64008" marR="64008" marT="9144" marB="9144" anchor="ctr">
                    <a:solidFill>
                      <a:srgbClr val="F2F2F2"/>
                    </a:solidFill>
                  </a:tcPr>
                </a:tc>
                <a:tc>
                  <a:txBody>
                    <a:bodyPr wrap="square"/>
                    <a:lstStyle/>
                    <a:p>
                      <a:pPr algn="r"/>
                      <a:r>
                        <a:rPr sz="1100" b="0">
                          <a:solidFill>
                            <a:srgbClr val="595959"/>
                          </a:solidFill>
                          <a:latin typeface="Calibri"/>
                        </a:rPr>
                        <a:t>6</a:t>
                      </a:r>
                    </a:p>
                  </a:txBody>
                  <a:tcPr marL="64008" marR="64008" marT="9144" marB="9144" anchor="ctr">
                    <a:solidFill>
                      <a:srgbClr val="F2F2F2"/>
                    </a:solidFill>
                  </a:tcPr>
                </a:tc>
              </a:tr>
              <a:tr h="310896">
                <a:tc>
                  <a:txBody>
                    <a:bodyPr wrap="square"/>
                    <a:lstStyle/>
                    <a:p>
                      <a:pPr algn="l"/>
                      <a:r>
                        <a:rPr sz="1100" b="0">
                          <a:solidFill>
                            <a:srgbClr val="1A1A1A"/>
                          </a:solidFill>
                          <a:latin typeface="Calibri"/>
                        </a:rPr>
                        <a:t>Exact linear dependencies</a:t>
                      </a:r>
                    </a:p>
                  </a:txBody>
                  <a:tcPr marL="64008" marR="64008" marT="9144" marB="9144" anchor="ctr">
                    <a:solidFill>
                      <a:srgbClr val="FFFFFF"/>
                    </a:solidFill>
                  </a:tcPr>
                </a:tc>
                <a:tc>
                  <a:txBody>
                    <a:bodyPr wrap="square"/>
                    <a:lstStyle/>
                    <a:p>
                      <a:pPr algn="r"/>
                      <a:r>
                        <a:rPr sz="1100" b="0">
                          <a:solidFill>
                            <a:srgbClr val="595959"/>
                          </a:solidFill>
                          <a:latin typeface="Calibri"/>
                        </a:rPr>
                        <a:t>19</a:t>
                      </a:r>
                    </a:p>
                  </a:txBody>
                  <a:tcPr marL="64008" marR="64008" marT="9144" marB="9144" anchor="ctr">
                    <a:solidFill>
                      <a:srgbClr val="FFFFFF"/>
                    </a:solidFill>
                  </a:tcPr>
                </a:tc>
                <a:tc>
                  <a:txBody>
                    <a:bodyPr wrap="square"/>
                    <a:lstStyle/>
                    <a:p>
                      <a:pPr algn="r"/>
                      <a:r>
                        <a:rPr sz="1100" b="0">
                          <a:solidFill>
                            <a:srgbClr val="595959"/>
                          </a:solidFill>
                          <a:latin typeface="Calibri"/>
                        </a:rPr>
                        <a:t>6</a:t>
                      </a:r>
                    </a:p>
                  </a:txBody>
                  <a:tcPr marL="64008" marR="64008" marT="9144" marB="9144" anchor="ctr">
                    <a:solidFill>
                      <a:srgbClr val="FFFFFF"/>
                    </a:solidFill>
                  </a:tcPr>
                </a:tc>
              </a:tr>
            </a:tbl>
          </a:graphicData>
        </a:graphic>
      </p:graphicFrame>
      <p:sp>
        <p:nvSpPr>
          <p:cNvPr id="7" name="TextBox 6"/>
          <p:cNvSpPr txBox="1"/>
          <p:nvPr/>
        </p:nvSpPr>
        <p:spPr>
          <a:xfrm>
            <a:off x="566928" y="5440680"/>
            <a:ext cx="5760720" cy="731520"/>
          </a:xfrm>
          <a:prstGeom prst="rect">
            <a:avLst/>
          </a:prstGeom>
          <a:noFill/>
        </p:spPr>
        <p:txBody>
          <a:bodyPr wrap="square" lIns="0" rIns="0" tIns="0" bIns="0">
            <a:spAutoFit/>
          </a:bodyPr>
          <a:lstStyle/>
          <a:p>
            <a:pPr algn="l">
              <a:lnSpc>
                <a:spcPct val="115000"/>
              </a:lnSpc>
              <a:spcAft>
                <a:spcPts val="600"/>
              </a:spcAft>
            </a:pPr>
            <a:r>
              <a:rPr sz="1200" b="1">
                <a:solidFill>
                  <a:srgbClr val="1A1A1A"/>
                </a:solidFill>
                <a:latin typeface="Calibri"/>
              </a:rPr>
              <a:t>Slide 4 said collinearity was fine. VIF said so.</a:t>
            </a:r>
            <a:r>
              <a:rPr sz="1200" b="0">
                <a:solidFill>
                  <a:srgbClr val="595959"/>
                </a:solidFill>
                <a:latin typeface="Calibri"/>
              </a:rPr>
              <a:t> VIF only reads the six numerics. It never saw the one-hot columns, and it never saw a feature built after it ran.</a:t>
            </a:r>
          </a:p>
        </p:txBody>
      </p:sp>
      <p:sp>
        <p:nvSpPr>
          <p:cNvPr id="8" name="TextBox 7"/>
          <p:cNvSpPr txBox="1"/>
          <p:nvPr/>
        </p:nvSpPr>
        <p:spPr>
          <a:xfrm>
            <a:off x="6720840" y="1280160"/>
            <a:ext cx="4892040" cy="457200"/>
          </a:xfrm>
          <a:prstGeom prst="rect">
            <a:avLst/>
          </a:prstGeom>
          <a:noFill/>
        </p:spPr>
        <p:txBody>
          <a:bodyPr wrap="square" lIns="0" rIns="0" tIns="0" bIns="0">
            <a:spAutoFit/>
          </a:bodyPr>
          <a:lstStyle/>
          <a:p>
            <a:pPr algn="l">
              <a:lnSpc>
                <a:spcPct val="120000"/>
              </a:lnSpc>
              <a:spcAft>
                <a:spcPts val="600"/>
              </a:spcAft>
            </a:pPr>
            <a:r>
              <a:rPr sz="1300" b="0">
                <a:solidFill>
                  <a:srgbClr val="595959"/>
                </a:solidFill>
                <a:latin typeface="Calibri"/>
              </a:rPr>
              <a:t>Same model, same data. The only change is whether the score sits in the matrix.</a:t>
            </a:r>
          </a:p>
        </p:txBody>
      </p:sp>
      <p:graphicFrame>
        <p:nvGraphicFramePr>
          <p:cNvPr id="9" name="Table 8"/>
          <p:cNvGraphicFramePr>
            <a:graphicFrameLocks noGrp="1"/>
          </p:cNvGraphicFramePr>
          <p:nvPr/>
        </p:nvGraphicFramePr>
        <p:xfrm>
          <a:off x="6720840" y="1874519"/>
          <a:ext cx="4892039" cy="1389888"/>
        </p:xfrm>
        <a:graphic>
          <a:graphicData uri="http://schemas.openxmlformats.org/drawingml/2006/table">
            <a:tbl>
              <a:tblPr>
                <a:tableStyleId>{5C22544A-7EE6-4342-B048-85BDC9FD1C3A}</a:tableStyleId>
              </a:tblPr>
              <a:tblGrid>
                <a:gridCol w="1956816"/>
                <a:gridCol w="893329"/>
                <a:gridCol w="893329"/>
                <a:gridCol w="1148565"/>
              </a:tblGrid>
              <a:tr h="347472">
                <a:tc>
                  <a:txBody>
                    <a:bodyPr wrap="square"/>
                    <a:lstStyle/>
                    <a:p>
                      <a:pPr algn="l"/>
                      <a:r>
                        <a:rPr sz="1000" b="1">
                          <a:solidFill>
                            <a:srgbClr val="FFFFFF"/>
                          </a:solidFill>
                          <a:latin typeface="Calibri"/>
                        </a:rPr>
                        <a:t>Coefficient</a:t>
                      </a:r>
                    </a:p>
                  </a:txBody>
                  <a:tcPr marL="64008" marR="64008" marT="9144" marB="9144" anchor="ctr">
                    <a:solidFill>
                      <a:srgbClr val="1A1A1A"/>
                    </a:solidFill>
                  </a:tcPr>
                </a:tc>
                <a:tc>
                  <a:txBody>
                    <a:bodyPr wrap="square"/>
                    <a:lstStyle/>
                    <a:p>
                      <a:pPr algn="r"/>
                      <a:r>
                        <a:rPr sz="1000" b="1">
                          <a:solidFill>
                            <a:srgbClr val="FFFFFF"/>
                          </a:solidFill>
                          <a:latin typeface="Calibri"/>
                        </a:rPr>
                        <a:t>Score in</a:t>
                      </a:r>
                    </a:p>
                  </a:txBody>
                  <a:tcPr marL="64008" marR="64008" marT="9144" marB="9144" anchor="ctr">
                    <a:solidFill>
                      <a:srgbClr val="1A1A1A"/>
                    </a:solidFill>
                  </a:tcPr>
                </a:tc>
                <a:tc>
                  <a:txBody>
                    <a:bodyPr wrap="square"/>
                    <a:lstStyle/>
                    <a:p>
                      <a:pPr algn="r"/>
                      <a:r>
                        <a:rPr sz="1000" b="1">
                          <a:solidFill>
                            <a:srgbClr val="FFFFFF"/>
                          </a:solidFill>
                          <a:latin typeface="Calibri"/>
                        </a:rPr>
                        <a:t>Score out</a:t>
                      </a:r>
                    </a:p>
                  </a:txBody>
                  <a:tcPr marL="64008" marR="64008" marT="9144" marB="9144" anchor="ctr">
                    <a:solidFill>
                      <a:srgbClr val="1A1A1A"/>
                    </a:solidFill>
                  </a:tcPr>
                </a:tc>
                <a:tc>
                  <a:txBody>
                    <a:bodyPr wrap="square"/>
                    <a:lstStyle/>
                    <a:p>
                      <a:pPr algn="r"/>
                      <a:r>
                        <a:rPr sz="1000" b="1">
                          <a:solidFill>
                            <a:srgbClr val="FFFFFF"/>
                          </a:solidFill>
                          <a:latin typeface="Calibri"/>
                        </a:rPr>
                        <a:t>Real rate</a:t>
                      </a:r>
                    </a:p>
                  </a:txBody>
                  <a:tcPr marL="64008" marR="64008" marT="9144" marB="9144" anchor="ctr">
                    <a:solidFill>
                      <a:srgbClr val="1A1A1A"/>
                    </a:solidFill>
                  </a:tcPr>
                </a:tc>
              </a:tr>
              <a:tr h="347472">
                <a:tc>
                  <a:txBody>
                    <a:bodyPr wrap="square"/>
                    <a:lstStyle/>
                    <a:p>
                      <a:pPr algn="l"/>
                      <a:r>
                        <a:rPr sz="1100" b="0">
                          <a:solidFill>
                            <a:srgbClr val="1A1A1A"/>
                          </a:solidFill>
                          <a:latin typeface="Calibri"/>
                        </a:rPr>
                        <a:t>Debtor</a:t>
                      </a:r>
                    </a:p>
                  </a:txBody>
                  <a:tcPr marL="64008" marR="64008" marT="9144" marB="9144" anchor="ctr">
                    <a:solidFill>
                      <a:srgbClr val="FFFFFF"/>
                    </a:solidFill>
                  </a:tcPr>
                </a:tc>
                <a:tc>
                  <a:txBody>
                    <a:bodyPr wrap="square"/>
                    <a:lstStyle/>
                    <a:p>
                      <a:pPr algn="r"/>
                      <a:r>
                        <a:rPr sz="1100" b="0">
                          <a:solidFill>
                            <a:srgbClr val="595959"/>
                          </a:solidFill>
                          <a:latin typeface="Calibri"/>
                        </a:rPr>
                        <a:t>−0.465</a:t>
                      </a:r>
                    </a:p>
                  </a:txBody>
                  <a:tcPr marL="64008" marR="64008" marT="9144" marB="9144" anchor="ctr">
                    <a:solidFill>
                      <a:srgbClr val="FFFFFF"/>
                    </a:solidFill>
                  </a:tcPr>
                </a:tc>
                <a:tc>
                  <a:txBody>
                    <a:bodyPr wrap="square"/>
                    <a:lstStyle/>
                    <a:p>
                      <a:pPr algn="r"/>
                      <a:r>
                        <a:rPr sz="1100" b="0">
                          <a:solidFill>
                            <a:srgbClr val="595959"/>
                          </a:solidFill>
                          <a:latin typeface="Calibri"/>
                        </a:rPr>
                        <a:t>+1.006</a:t>
                      </a:r>
                    </a:p>
                  </a:txBody>
                  <a:tcPr marL="64008" marR="64008" marT="9144" marB="9144" anchor="ctr">
                    <a:solidFill>
                      <a:srgbClr val="FFFFFF"/>
                    </a:solidFill>
                  </a:tcPr>
                </a:tc>
                <a:tc>
                  <a:txBody>
                    <a:bodyPr wrap="square"/>
                    <a:lstStyle/>
                    <a:p>
                      <a:pPr algn="r"/>
                      <a:r>
                        <a:rPr sz="1100" b="0">
                          <a:solidFill>
                            <a:srgbClr val="595959"/>
                          </a:solidFill>
                          <a:latin typeface="Calibri"/>
                        </a:rPr>
                        <a:t>76% vs 34%</a:t>
                      </a:r>
                    </a:p>
                  </a:txBody>
                  <a:tcPr marL="64008" marR="64008" marT="9144" marB="9144" anchor="ctr">
                    <a:solidFill>
                      <a:srgbClr val="FFFFFF"/>
                    </a:solidFill>
                  </a:tcPr>
                </a:tc>
              </a:tr>
              <a:tr h="347472">
                <a:tc>
                  <a:txBody>
                    <a:bodyPr wrap="square"/>
                    <a:lstStyle/>
                    <a:p>
                      <a:pPr algn="l"/>
                      <a:r>
                        <a:rPr sz="1100" b="0">
                          <a:solidFill>
                            <a:srgbClr val="1A1A1A"/>
                          </a:solidFill>
                          <a:latin typeface="Calibri"/>
                        </a:rPr>
                        <a:t>Scholarship holder</a:t>
                      </a:r>
                    </a:p>
                  </a:txBody>
                  <a:tcPr marL="64008" marR="64008" marT="9144" marB="9144" anchor="ctr">
                    <a:solidFill>
                      <a:srgbClr val="F2F2F2"/>
                    </a:solidFill>
                  </a:tcPr>
                </a:tc>
                <a:tc>
                  <a:txBody>
                    <a:bodyPr wrap="square"/>
                    <a:lstStyle/>
                    <a:p>
                      <a:pPr algn="r"/>
                      <a:r>
                        <a:rPr sz="1100" b="0">
                          <a:solidFill>
                            <a:srgbClr val="595959"/>
                          </a:solidFill>
                          <a:latin typeface="Calibri"/>
                        </a:rPr>
                        <a:t>+0.138</a:t>
                      </a:r>
                    </a:p>
                  </a:txBody>
                  <a:tcPr marL="64008" marR="64008" marT="9144" marB="9144" anchor="ctr">
                    <a:solidFill>
                      <a:srgbClr val="F2F2F2"/>
                    </a:solidFill>
                  </a:tcPr>
                </a:tc>
                <a:tc>
                  <a:txBody>
                    <a:bodyPr wrap="square"/>
                    <a:lstStyle/>
                    <a:p>
                      <a:pPr algn="r"/>
                      <a:r>
                        <a:rPr sz="1100" b="0">
                          <a:solidFill>
                            <a:srgbClr val="595959"/>
                          </a:solidFill>
                          <a:latin typeface="Calibri"/>
                        </a:rPr>
                        <a:t>−1.344</a:t>
                      </a:r>
                    </a:p>
                  </a:txBody>
                  <a:tcPr marL="64008" marR="64008" marT="9144" marB="9144" anchor="ctr">
                    <a:solidFill>
                      <a:srgbClr val="F2F2F2"/>
                    </a:solidFill>
                  </a:tcPr>
                </a:tc>
                <a:tc>
                  <a:txBody>
                    <a:bodyPr wrap="square"/>
                    <a:lstStyle/>
                    <a:p>
                      <a:pPr algn="r"/>
                      <a:r>
                        <a:rPr sz="1100" b="0">
                          <a:solidFill>
                            <a:srgbClr val="595959"/>
                          </a:solidFill>
                          <a:latin typeface="Calibri"/>
                        </a:rPr>
                        <a:t>14% vs 49%</a:t>
                      </a:r>
                    </a:p>
                  </a:txBody>
                  <a:tcPr marL="64008" marR="64008" marT="9144" marB="9144" anchor="ctr">
                    <a:solidFill>
                      <a:srgbClr val="F2F2F2"/>
                    </a:solidFill>
                  </a:tcPr>
                </a:tc>
              </a:tr>
              <a:tr h="347472">
                <a:tc>
                  <a:txBody>
                    <a:bodyPr wrap="square"/>
                    <a:lstStyle/>
                    <a:p>
                      <a:pPr algn="l"/>
                      <a:r>
                        <a:rPr sz="1100" b="0">
                          <a:solidFill>
                            <a:srgbClr val="1A1A1A"/>
                          </a:solidFill>
                          <a:latin typeface="Calibri"/>
                        </a:rPr>
                        <a:t>Tuition fees up to date</a:t>
                      </a:r>
                    </a:p>
                  </a:txBody>
                  <a:tcPr marL="64008" marR="64008" marT="9144" marB="9144" anchor="ctr">
                    <a:solidFill>
                      <a:srgbClr val="FFFFFF"/>
                    </a:solidFill>
                  </a:tcPr>
                </a:tc>
                <a:tc>
                  <a:txBody>
                    <a:bodyPr wrap="square"/>
                    <a:lstStyle/>
                    <a:p>
                      <a:pPr algn="r"/>
                      <a:r>
                        <a:rPr sz="1100" b="0">
                          <a:solidFill>
                            <a:srgbClr val="595959"/>
                          </a:solidFill>
                          <a:latin typeface="Calibri"/>
                        </a:rPr>
                        <a:t>−1.480</a:t>
                      </a:r>
                    </a:p>
                  </a:txBody>
                  <a:tcPr marL="64008" marR="64008" marT="9144" marB="9144" anchor="ctr">
                    <a:solidFill>
                      <a:srgbClr val="FFFFFF"/>
                    </a:solidFill>
                  </a:tcPr>
                </a:tc>
                <a:tc>
                  <a:txBody>
                    <a:bodyPr wrap="square"/>
                    <a:lstStyle/>
                    <a:p>
                      <a:pPr algn="r"/>
                      <a:r>
                        <a:rPr sz="1100" b="0">
                          <a:solidFill>
                            <a:srgbClr val="595959"/>
                          </a:solidFill>
                          <a:latin typeface="Calibri"/>
                        </a:rPr>
                        <a:t>−2.913</a:t>
                      </a:r>
                    </a:p>
                  </a:txBody>
                  <a:tcPr marL="64008" marR="64008" marT="9144" marB="9144" anchor="ctr">
                    <a:solidFill>
                      <a:srgbClr val="FFFFFF"/>
                    </a:solidFill>
                  </a:tcPr>
                </a:tc>
                <a:tc>
                  <a:txBody>
                    <a:bodyPr wrap="square"/>
                    <a:lstStyle/>
                    <a:p>
                      <a:pPr algn="r"/>
                      <a:r>
                        <a:rPr sz="1100" b="0">
                          <a:solidFill>
                            <a:srgbClr val="595959"/>
                          </a:solidFill>
                          <a:latin typeface="Calibri"/>
                        </a:rPr>
                        <a:t>31% vs 94%</a:t>
                      </a:r>
                    </a:p>
                  </a:txBody>
                  <a:tcPr marL="64008" marR="64008" marT="9144" marB="9144" anchor="ctr">
                    <a:solidFill>
                      <a:srgbClr val="FFFFFF"/>
                    </a:solidFill>
                  </a:tcPr>
                </a:tc>
              </a:tr>
            </a:tbl>
          </a:graphicData>
        </a:graphic>
      </p:graphicFrame>
      <p:sp>
        <p:nvSpPr>
          <p:cNvPr id="10" name="TextBox 9"/>
          <p:cNvSpPr txBox="1"/>
          <p:nvPr/>
        </p:nvSpPr>
        <p:spPr>
          <a:xfrm>
            <a:off x="6720840" y="3474720"/>
            <a:ext cx="4892040" cy="1828800"/>
          </a:xfrm>
          <a:prstGeom prst="rect">
            <a:avLst/>
          </a:prstGeom>
          <a:noFill/>
        </p:spPr>
        <p:txBody>
          <a:bodyPr wrap="square" lIns="0" rIns="0" tIns="0" bIns="0">
            <a:spAutoFit/>
          </a:bodyPr>
          <a:lstStyle/>
          <a:p>
            <a:pPr algn="l">
              <a:lnSpc>
                <a:spcPct val="120000"/>
              </a:lnSpc>
              <a:spcAft>
                <a:spcPts val="700"/>
              </a:spcAft>
            </a:pPr>
            <a:r>
              <a:rPr sz="1300" b="0">
                <a:solidFill>
                  <a:srgbClr val="595959"/>
                </a:solidFill>
                <a:latin typeface="Calibri"/>
              </a:rPr>
              <a:t>Two signs flip. The model reads owing money as protective and a scholarship as a risk. The data says the opposite, loudly.</a:t>
            </a:r>
          </a:p>
          <a:p>
            <a:pPr algn="l">
              <a:lnSpc>
                <a:spcPct val="120000"/>
              </a:lnSpc>
              <a:spcAft>
                <a:spcPts val="700"/>
              </a:spcAft>
            </a:pPr>
            <a:r>
              <a:rPr sz="1300" b="0">
                <a:solidFill>
                  <a:srgbClr val="595959"/>
                </a:solidFill>
                <a:latin typeface="Calibri"/>
              </a:rPr>
              <a:t>Accuracy never moved. The score carried no information the model did not already have. What it did was make the model unreadable, and every explanation in Step 5 is read off these coefficients.</a:t>
            </a:r>
          </a:p>
        </p:txBody>
      </p:sp>
      <p:sp>
        <p:nvSpPr>
          <p:cNvPr id="11" name="TextBox 10"/>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A feature that adds no information cannot help a model, but it can destroy its ability to explain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Features that replace, instead of repeat</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A feature built from columns that stay in the matrix adds nothing to a linear model. It earns its place only by replacing its sources.</a:t>
            </a:r>
          </a:p>
        </p:txBody>
      </p:sp>
      <p:sp>
        <p:nvSpPr>
          <p:cNvPr id="4" name="TextBox 3"/>
          <p:cNvSpPr txBox="1"/>
          <p:nvPr/>
        </p:nvSpPr>
        <p:spPr>
          <a:xfrm>
            <a:off x="566928" y="1691640"/>
            <a:ext cx="6309360" cy="1371600"/>
          </a:xfrm>
          <a:prstGeom prst="rect">
            <a:avLst/>
          </a:prstGeom>
          <a:noFill/>
        </p:spPr>
        <p:txBody>
          <a:bodyPr wrap="square" lIns="0" rIns="0" tIns="0" bIns="0">
            <a:spAutoFit/>
          </a:bodyPr>
          <a:lstStyle/>
          <a:p>
            <a:pPr algn="l">
              <a:lnSpc>
                <a:spcPct val="120000"/>
              </a:lnSpc>
              <a:spcAft>
                <a:spcPts val="700"/>
              </a:spcAft>
            </a:pPr>
            <a:r>
              <a:rPr sz="1300" b="0">
                <a:solidFill>
                  <a:srgbClr val="595959"/>
                </a:solidFill>
                <a:latin typeface="Calibri"/>
              </a:rPr>
              <a:t>The same rank check caught two more repeats, both already flagged at V = 1.000 and both waved past.</a:t>
            </a:r>
          </a:p>
          <a:p>
            <a:pPr algn="l">
              <a:lnSpc>
                <a:spcPct val="120000"/>
              </a:lnSpc>
              <a:spcAft>
                <a:spcPts val="700"/>
              </a:spcAft>
            </a:pPr>
            <a:r>
              <a:rPr sz="1300" b="1">
                <a:solidFill>
                  <a:srgbClr val="1A1A1A"/>
                </a:solidFill>
                <a:latin typeface="Calibri"/>
              </a:rPr>
              <a:t>International</a:t>
            </a:r>
            <a:r>
              <a:rPr sz="1300" b="0">
                <a:solidFill>
                  <a:srgbClr val="595959"/>
                </a:solidFill>
                <a:latin typeface="Calibri"/>
              </a:rPr>
              <a:t> equals (Nacionality != 1) on 100 percent of rows. The same column twice.</a:t>
            </a:r>
          </a:p>
          <a:p>
            <a:pPr algn="l">
              <a:lnSpc>
                <a:spcPct val="120000"/>
              </a:lnSpc>
              <a:spcAft>
                <a:spcPts val="700"/>
              </a:spcAft>
            </a:pPr>
            <a:r>
              <a:rPr sz="1300" b="1">
                <a:solidFill>
                  <a:srgbClr val="1A1A1A"/>
                </a:solidFill>
                <a:latin typeface="Calibri"/>
              </a:rPr>
              <a:t>Daytime attendance</a:t>
            </a:r>
            <a:r>
              <a:rPr sz="1300" b="0">
                <a:solidFill>
                  <a:srgbClr val="595959"/>
                </a:solidFill>
                <a:latin typeface="Calibri"/>
              </a:rPr>
              <a:t> is decided entirely by Course. Zero of 17 courses run both a day and an evening class.</a:t>
            </a:r>
          </a:p>
        </p:txBody>
      </p:sp>
      <p:sp>
        <p:nvSpPr>
          <p:cNvPr id="5" name="TextBox 4"/>
          <p:cNvSpPr txBox="1"/>
          <p:nvPr/>
        </p:nvSpPr>
        <p:spPr>
          <a:xfrm>
            <a:off x="566928" y="3246120"/>
            <a:ext cx="6309360" cy="1097280"/>
          </a:xfrm>
          <a:prstGeom prst="rect">
            <a:avLst/>
          </a:prstGeom>
          <a:noFill/>
        </p:spPr>
        <p:txBody>
          <a:bodyPr wrap="square" lIns="0" rIns="0" tIns="0" bIns="0">
            <a:spAutoFit/>
          </a:bodyPr>
          <a:lstStyle/>
          <a:p>
            <a:pPr algn="l">
              <a:lnSpc>
                <a:spcPct val="120000"/>
              </a:lnSpc>
              <a:spcAft>
                <a:spcPts val="700"/>
              </a:spcAft>
            </a:pPr>
            <a:r>
              <a:rPr sz="1300" b="0">
                <a:solidFill>
                  <a:srgbClr val="595959"/>
                </a:solidFill>
                <a:latin typeface="Calibri"/>
              </a:rPr>
              <a:t>Five engineered features replace their sources. Four weak columns come out. Then the cost gets measured, on training folds, rather than assumed.</a:t>
            </a:r>
          </a:p>
          <a:p>
            <a:pPr algn="l">
              <a:lnSpc>
                <a:spcPct val="120000"/>
              </a:lnSpc>
              <a:spcAft>
                <a:spcPts val="700"/>
              </a:spcAft>
            </a:pPr>
            <a:r>
              <a:rPr sz="1300" b="1">
                <a:solidFill>
                  <a:srgbClr val="1A1A1A"/>
                </a:solidFill>
                <a:latin typeface="Calibri"/>
              </a:rPr>
              <a:t>mature entry</a:t>
            </a:r>
            <a:r>
              <a:rPr sz="1300" b="0">
                <a:solidFill>
                  <a:srgbClr val="595959"/>
                </a:solidFill>
                <a:latin typeface="Calibri"/>
              </a:rPr>
              <a:t> lands sixth on mutual information at 0.0534, below the raw age column it bends. Mutual information sees the whole age signal, so a threshold drawn from it ranks lower, as it should.</a:t>
            </a:r>
          </a:p>
        </p:txBody>
      </p:sp>
      <p:graphicFrame>
        <p:nvGraphicFramePr>
          <p:cNvPr id="6" name="Table 5"/>
          <p:cNvGraphicFramePr>
            <a:graphicFrameLocks noGrp="1"/>
          </p:cNvGraphicFramePr>
          <p:nvPr/>
        </p:nvGraphicFramePr>
        <p:xfrm>
          <a:off x="566928" y="4709160"/>
          <a:ext cx="6309359" cy="960120"/>
        </p:xfrm>
        <a:graphic>
          <a:graphicData uri="http://schemas.openxmlformats.org/drawingml/2006/table">
            <a:tbl>
              <a:tblPr>
                <a:tableStyleId>{5C22544A-7EE6-4342-B048-85BDC9FD1C3A}</a:tableStyleId>
              </a:tblPr>
              <a:tblGrid>
                <a:gridCol w="3640015"/>
                <a:gridCol w="1456006"/>
                <a:gridCol w="1213338"/>
              </a:tblGrid>
              <a:tr h="320040">
                <a:tc>
                  <a:txBody>
                    <a:bodyPr wrap="square"/>
                    <a:lstStyle/>
                    <a:p>
                      <a:pPr algn="l"/>
                      <a:r>
                        <a:rPr sz="1000" b="1">
                          <a:solidFill>
                            <a:srgbClr val="FFFFFF"/>
                          </a:solidFill>
                          <a:latin typeface="Calibri"/>
                        </a:rPr>
                        <a:t>Feature set</a:t>
                      </a:r>
                    </a:p>
                  </a:txBody>
                  <a:tcPr marL="64008" marR="64008" marT="9144" marB="9144" anchor="ctr">
                    <a:solidFill>
                      <a:srgbClr val="1A1A1A"/>
                    </a:solidFill>
                  </a:tcPr>
                </a:tc>
                <a:tc>
                  <a:txBody>
                    <a:bodyPr wrap="square"/>
                    <a:lstStyle/>
                    <a:p>
                      <a:pPr algn="r"/>
                      <a:r>
                        <a:rPr sz="1000" b="1">
                          <a:solidFill>
                            <a:srgbClr val="FFFFFF"/>
                          </a:solidFill>
                          <a:latin typeface="Calibri"/>
                        </a:rPr>
                        <a:t>CV PR-AUC</a:t>
                      </a:r>
                    </a:p>
                  </a:txBody>
                  <a:tcPr marL="64008" marR="64008" marT="9144" marB="9144" anchor="ctr">
                    <a:solidFill>
                      <a:srgbClr val="1A1A1A"/>
                    </a:solidFill>
                  </a:tcPr>
                </a:tc>
                <a:tc>
                  <a:txBody>
                    <a:bodyPr wrap="square"/>
                    <a:lstStyle/>
                    <a:p>
                      <a:pPr algn="r"/>
                      <a:r>
                        <a:rPr sz="1000" b="1">
                          <a:solidFill>
                            <a:srgbClr val="FFFFFF"/>
                          </a:solidFill>
                          <a:latin typeface="Calibri"/>
                        </a:rPr>
                        <a:t>Columns</a:t>
                      </a:r>
                    </a:p>
                  </a:txBody>
                  <a:tcPr marL="64008" marR="64008" marT="9144" marB="9144" anchor="ctr">
                    <a:solidFill>
                      <a:srgbClr val="1A1A1A"/>
                    </a:solidFill>
                  </a:tcPr>
                </a:tc>
              </a:tr>
              <a:tr h="320040">
                <a:tc>
                  <a:txBody>
                    <a:bodyPr wrap="square"/>
                    <a:lstStyle/>
                    <a:p>
                      <a:pPr algn="l"/>
                      <a:r>
                        <a:rPr sz="1100" b="0">
                          <a:solidFill>
                            <a:srgbClr val="1A1A1A"/>
                          </a:solidFill>
                          <a:latin typeface="Calibri"/>
                        </a:rPr>
                        <a:t>Every raw feature</a:t>
                      </a:r>
                    </a:p>
                  </a:txBody>
                  <a:tcPr marL="64008" marR="64008" marT="9144" marB="9144" anchor="ctr">
                    <a:solidFill>
                      <a:srgbClr val="FFFFFF"/>
                    </a:solidFill>
                  </a:tcPr>
                </a:tc>
                <a:tc>
                  <a:txBody>
                    <a:bodyPr wrap="square"/>
                    <a:lstStyle/>
                    <a:p>
                      <a:pPr algn="r"/>
                      <a:r>
                        <a:rPr sz="1100" b="0">
                          <a:solidFill>
                            <a:srgbClr val="595959"/>
                          </a:solidFill>
                          <a:latin typeface="Calibri"/>
                        </a:rPr>
                        <a:t>0.817</a:t>
                      </a:r>
                    </a:p>
                  </a:txBody>
                  <a:tcPr marL="64008" marR="64008" marT="9144" marB="9144" anchor="ctr">
                    <a:solidFill>
                      <a:srgbClr val="FFFFFF"/>
                    </a:solidFill>
                  </a:tcPr>
                </a:tc>
                <a:tc>
                  <a:txBody>
                    <a:bodyPr wrap="square"/>
                    <a:lstStyle/>
                    <a:p>
                      <a:pPr algn="r"/>
                      <a:r>
                        <a:rPr sz="1100" b="0">
                          <a:solidFill>
                            <a:srgbClr val="595959"/>
                          </a:solidFill>
                          <a:latin typeface="Calibri"/>
                        </a:rPr>
                        <a:t>215</a:t>
                      </a:r>
                    </a:p>
                  </a:txBody>
                  <a:tcPr marL="64008" marR="64008" marT="9144" marB="9144" anchor="ctr">
                    <a:solidFill>
                      <a:srgbClr val="FFFFFF"/>
                    </a:solidFill>
                  </a:tcPr>
                </a:tc>
              </a:tr>
              <a:tr h="320040">
                <a:tc>
                  <a:txBody>
                    <a:bodyPr wrap="square"/>
                    <a:lstStyle/>
                    <a:p>
                      <a:pPr algn="l"/>
                      <a:r>
                        <a:rPr sz="1100" b="1">
                          <a:solidFill>
                            <a:srgbClr val="1A1A1A"/>
                          </a:solidFill>
                          <a:latin typeface="Calibri"/>
                        </a:rPr>
                        <a:t>Engineered and selected</a:t>
                      </a:r>
                    </a:p>
                  </a:txBody>
                  <a:tcPr marL="64008" marR="64008" marT="9144" marB="9144" anchor="ctr">
                    <a:solidFill>
                      <a:srgbClr val="FFF3CC"/>
                    </a:solidFill>
                  </a:tcPr>
                </a:tc>
                <a:tc>
                  <a:txBody>
                    <a:bodyPr wrap="square"/>
                    <a:lstStyle/>
                    <a:p>
                      <a:pPr algn="r"/>
                      <a:r>
                        <a:rPr sz="1100" b="1">
                          <a:solidFill>
                            <a:srgbClr val="1A1A1A"/>
                          </a:solidFill>
                          <a:latin typeface="Calibri"/>
                        </a:rPr>
                        <a:t>0.819</a:t>
                      </a:r>
                    </a:p>
                  </a:txBody>
                  <a:tcPr marL="64008" marR="64008" marT="9144" marB="9144" anchor="ctr">
                    <a:solidFill>
                      <a:srgbClr val="FFF3CC"/>
                    </a:solidFill>
                  </a:tcPr>
                </a:tc>
                <a:tc>
                  <a:txBody>
                    <a:bodyPr wrap="square"/>
                    <a:lstStyle/>
                    <a:p>
                      <a:pPr algn="r"/>
                      <a:r>
                        <a:rPr sz="1100" b="1">
                          <a:solidFill>
                            <a:srgbClr val="1A1A1A"/>
                          </a:solidFill>
                          <a:latin typeface="Calibri"/>
                        </a:rPr>
                        <a:t>84</a:t>
                      </a:r>
                    </a:p>
                  </a:txBody>
                  <a:tcPr marL="64008" marR="64008" marT="9144" marB="9144" anchor="ctr">
                    <a:solidFill>
                      <a:srgbClr val="FFF3CC"/>
                    </a:solidFill>
                  </a:tcPr>
                </a:tc>
              </a:tr>
            </a:tbl>
          </a:graphicData>
        </a:graphic>
      </p:graphicFrame>
      <p:sp>
        <p:nvSpPr>
          <p:cNvPr id="7" name="TextBox 6"/>
          <p:cNvSpPr txBox="1"/>
          <p:nvPr/>
        </p:nvSpPr>
        <p:spPr>
          <a:xfrm>
            <a:off x="566928" y="5760720"/>
            <a:ext cx="6309360" cy="320040"/>
          </a:xfrm>
          <a:prstGeom prst="rect">
            <a:avLst/>
          </a:prstGeom>
          <a:noFill/>
        </p:spPr>
        <p:txBody>
          <a:bodyPr wrap="square" lIns="0" rIns="0" tIns="0" bIns="0">
            <a:spAutoFit/>
          </a:bodyPr>
          <a:lstStyle/>
          <a:p>
            <a:pPr algn="l">
              <a:spcAft>
                <a:spcPts val="600"/>
              </a:spcAft>
            </a:pPr>
            <a:r>
              <a:rPr sz="1000" b="0">
                <a:solidFill>
                  <a:srgbClr val="767676"/>
                </a:solidFill>
                <a:latin typeface="Calibri"/>
              </a:rPr>
              <a:t>215, not the 216 on the last slide. The difference is the pressure score, now gone.</a:t>
            </a:r>
          </a:p>
        </p:txBody>
      </p:sp>
      <p:pic>
        <p:nvPicPr>
          <p:cNvPr id="8" name="Picture 7" descr="pca_scree.png"/>
          <p:cNvPicPr>
            <a:picLocks noChangeAspect="1"/>
          </p:cNvPicPr>
          <p:nvPr/>
        </p:nvPicPr>
        <p:blipFill>
          <a:blip r:embed="rId2"/>
          <a:stretch>
            <a:fillRect/>
          </a:stretch>
        </p:blipFill>
        <p:spPr>
          <a:xfrm>
            <a:off x="7543800" y="2286000"/>
            <a:ext cx="3840480" cy="2560320"/>
          </a:xfrm>
          <a:prstGeom prst="rect">
            <a:avLst/>
          </a:prstGeom>
        </p:spPr>
      </p:pic>
      <p:sp>
        <p:nvSpPr>
          <p:cNvPr id="9" name="TextBox 8"/>
          <p:cNvSpPr txBox="1"/>
          <p:nvPr/>
        </p:nvSpPr>
        <p:spPr>
          <a:xfrm>
            <a:off x="7543800" y="4983480"/>
            <a:ext cx="4023360" cy="1097280"/>
          </a:xfrm>
          <a:prstGeom prst="rect">
            <a:avLst/>
          </a:prstGeom>
          <a:noFill/>
        </p:spPr>
        <p:txBody>
          <a:bodyPr wrap="square" lIns="0" rIns="0" tIns="0" bIns="0">
            <a:spAutoFit/>
          </a:bodyPr>
          <a:lstStyle/>
          <a:p>
            <a:pPr algn="l">
              <a:lnSpc>
                <a:spcPct val="120000"/>
              </a:lnSpc>
              <a:spcAft>
                <a:spcPts val="600"/>
              </a:spcAft>
            </a:pPr>
            <a:r>
              <a:rPr sz="1200" b="0">
                <a:solidFill>
                  <a:srgbClr val="595959"/>
                </a:solidFill>
                <a:latin typeface="Calibri"/>
              </a:rPr>
              <a:t>PCA takes seven of nine components to reach 90 percent of the variance. Nothing to compress, which matches the low VIF. So PCA rides into Step 4 as a seventh model rather than sitting in a chart nobody consumes.</a:t>
            </a:r>
          </a:p>
        </p:txBody>
      </p:sp>
      <p:sp>
        <p:nvSpPr>
          <p:cNvPr id="10" name="TextBox 9"/>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Sixty percent of the columns gone, and the score went slightly up. Cutting 131 columns for free is the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Seven models, and whether the lead is real</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Tuned inside five-fold stratified cross-validation on the training set. The test set is scored once.</a:t>
            </a:r>
          </a:p>
        </p:txBody>
      </p:sp>
      <p:graphicFrame>
        <p:nvGraphicFramePr>
          <p:cNvPr id="4" name="Table 3"/>
          <p:cNvGraphicFramePr>
            <a:graphicFrameLocks noGrp="1"/>
          </p:cNvGraphicFramePr>
          <p:nvPr/>
        </p:nvGraphicFramePr>
        <p:xfrm>
          <a:off x="566928" y="1645920"/>
          <a:ext cx="5760719" cy="2633472"/>
        </p:xfrm>
        <a:graphic>
          <a:graphicData uri="http://schemas.openxmlformats.org/drawingml/2006/table">
            <a:tbl>
              <a:tblPr>
                <a:tableStyleId>{5C22544A-7EE6-4342-B048-85BDC9FD1C3A}</a:tableStyleId>
              </a:tblPr>
              <a:tblGrid>
                <a:gridCol w="2560320"/>
                <a:gridCol w="1083212"/>
                <a:gridCol w="1132449"/>
                <a:gridCol w="984738"/>
              </a:tblGrid>
              <a:tr h="329184">
                <a:tc>
                  <a:txBody>
                    <a:bodyPr wrap="square"/>
                    <a:lstStyle/>
                    <a:p>
                      <a:pPr algn="l"/>
                      <a:r>
                        <a:rPr sz="1000" b="1">
                          <a:solidFill>
                            <a:srgbClr val="FFFFFF"/>
                          </a:solidFill>
                          <a:latin typeface="Calibri"/>
                        </a:rPr>
                        <a:t>Model</a:t>
                      </a:r>
                    </a:p>
                  </a:txBody>
                  <a:tcPr marL="64008" marR="64008" marT="9144" marB="9144" anchor="ctr">
                    <a:solidFill>
                      <a:srgbClr val="1A1A1A"/>
                    </a:solidFill>
                  </a:tcPr>
                </a:tc>
                <a:tc>
                  <a:txBody>
                    <a:bodyPr wrap="square"/>
                    <a:lstStyle/>
                    <a:p>
                      <a:pPr algn="r"/>
                      <a:r>
                        <a:rPr sz="1000" b="1">
                          <a:solidFill>
                            <a:srgbClr val="FFFFFF"/>
                          </a:solidFill>
                          <a:latin typeface="Calibri"/>
                        </a:rPr>
                        <a:t>CV PR-AUC</a:t>
                      </a:r>
                    </a:p>
                  </a:txBody>
                  <a:tcPr marL="64008" marR="64008" marT="9144" marB="9144" anchor="ctr">
                    <a:solidFill>
                      <a:srgbClr val="1A1A1A"/>
                    </a:solidFill>
                  </a:tcPr>
                </a:tc>
                <a:tc>
                  <a:txBody>
                    <a:bodyPr wrap="square"/>
                    <a:lstStyle/>
                    <a:p>
                      <a:pPr algn="r"/>
                      <a:r>
                        <a:rPr sz="1000" b="1">
                          <a:solidFill>
                            <a:srgbClr val="FFFFFF"/>
                          </a:solidFill>
                          <a:latin typeface="Calibri"/>
                        </a:rPr>
                        <a:t>Test PR-AUC</a:t>
                      </a:r>
                    </a:p>
                  </a:txBody>
                  <a:tcPr marL="64008" marR="64008" marT="9144" marB="9144" anchor="ctr">
                    <a:solidFill>
                      <a:srgbClr val="1A1A1A"/>
                    </a:solidFill>
                  </a:tcPr>
                </a:tc>
                <a:tc>
                  <a:txBody>
                    <a:bodyPr wrap="square"/>
                    <a:lstStyle/>
                    <a:p>
                      <a:pPr algn="r"/>
                      <a:r>
                        <a:rPr sz="1000" b="1">
                          <a:solidFill>
                            <a:srgbClr val="FFFFFF"/>
                          </a:solidFill>
                          <a:latin typeface="Calibri"/>
                        </a:rPr>
                        <a:t>ROC-AUC</a:t>
                      </a:r>
                    </a:p>
                  </a:txBody>
                  <a:tcPr marL="64008" marR="64008" marT="9144" marB="9144" anchor="ctr">
                    <a:solidFill>
                      <a:srgbClr val="1A1A1A"/>
                    </a:solidFill>
                  </a:tcPr>
                </a:tc>
              </a:tr>
              <a:tr h="329184">
                <a:tc>
                  <a:txBody>
                    <a:bodyPr wrap="square"/>
                    <a:lstStyle/>
                    <a:p>
                      <a:pPr algn="l"/>
                      <a:r>
                        <a:rPr sz="1100" b="0">
                          <a:solidFill>
                            <a:srgbClr val="1A1A1A"/>
                          </a:solidFill>
                          <a:latin typeface="Calibri"/>
                        </a:rPr>
                        <a:t>XGBoost</a:t>
                      </a:r>
                    </a:p>
                  </a:txBody>
                  <a:tcPr marL="64008" marR="64008" marT="9144" marB="9144" anchor="ctr">
                    <a:solidFill>
                      <a:srgbClr val="FFFFFF"/>
                    </a:solidFill>
                  </a:tcPr>
                </a:tc>
                <a:tc>
                  <a:txBody>
                    <a:bodyPr wrap="square"/>
                    <a:lstStyle/>
                    <a:p>
                      <a:pPr algn="r"/>
                      <a:r>
                        <a:rPr sz="1100" b="0">
                          <a:solidFill>
                            <a:srgbClr val="595959"/>
                          </a:solidFill>
                          <a:latin typeface="Calibri"/>
                        </a:rPr>
                        <a:t>0.824</a:t>
                      </a:r>
                    </a:p>
                  </a:txBody>
                  <a:tcPr marL="64008" marR="64008" marT="9144" marB="9144" anchor="ctr">
                    <a:solidFill>
                      <a:srgbClr val="FFFFFF"/>
                    </a:solidFill>
                  </a:tcPr>
                </a:tc>
                <a:tc>
                  <a:txBody>
                    <a:bodyPr wrap="square"/>
                    <a:lstStyle/>
                    <a:p>
                      <a:pPr algn="r"/>
                      <a:r>
                        <a:rPr sz="1100" b="0">
                          <a:solidFill>
                            <a:srgbClr val="595959"/>
                          </a:solidFill>
                          <a:latin typeface="Calibri"/>
                        </a:rPr>
                        <a:t>0.828</a:t>
                      </a:r>
                    </a:p>
                  </a:txBody>
                  <a:tcPr marL="64008" marR="64008" marT="9144" marB="9144" anchor="ctr">
                    <a:solidFill>
                      <a:srgbClr val="FFFFFF"/>
                    </a:solidFill>
                  </a:tcPr>
                </a:tc>
                <a:tc>
                  <a:txBody>
                    <a:bodyPr wrap="square"/>
                    <a:lstStyle/>
                    <a:p>
                      <a:pPr algn="r"/>
                      <a:r>
                        <a:rPr sz="1100" b="0">
                          <a:solidFill>
                            <a:srgbClr val="595959"/>
                          </a:solidFill>
                          <a:latin typeface="Calibri"/>
                        </a:rPr>
                        <a:t>0.857</a:t>
                      </a:r>
                    </a:p>
                  </a:txBody>
                  <a:tcPr marL="64008" marR="64008" marT="9144" marB="9144" anchor="ctr">
                    <a:solidFill>
                      <a:srgbClr val="FFFFFF"/>
                    </a:solidFill>
                  </a:tcPr>
                </a:tc>
              </a:tr>
              <a:tr h="329184">
                <a:tc>
                  <a:txBody>
                    <a:bodyPr wrap="square"/>
                    <a:lstStyle/>
                    <a:p>
                      <a:pPr algn="l"/>
                      <a:r>
                        <a:rPr sz="1100" b="0">
                          <a:solidFill>
                            <a:srgbClr val="1A1A1A"/>
                          </a:solidFill>
                          <a:latin typeface="Calibri"/>
                        </a:rPr>
                        <a:t>Random forest</a:t>
                      </a:r>
                    </a:p>
                  </a:txBody>
                  <a:tcPr marL="64008" marR="64008" marT="9144" marB="9144" anchor="ctr">
                    <a:solidFill>
                      <a:srgbClr val="F2F2F2"/>
                    </a:solidFill>
                  </a:tcPr>
                </a:tc>
                <a:tc>
                  <a:txBody>
                    <a:bodyPr wrap="square"/>
                    <a:lstStyle/>
                    <a:p>
                      <a:pPr algn="r"/>
                      <a:r>
                        <a:rPr sz="1100" b="0">
                          <a:solidFill>
                            <a:srgbClr val="595959"/>
                          </a:solidFill>
                          <a:latin typeface="Calibri"/>
                        </a:rPr>
                        <a:t>0.820</a:t>
                      </a:r>
                    </a:p>
                  </a:txBody>
                  <a:tcPr marL="64008" marR="64008" marT="9144" marB="9144" anchor="ctr">
                    <a:solidFill>
                      <a:srgbClr val="F2F2F2"/>
                    </a:solidFill>
                  </a:tcPr>
                </a:tc>
                <a:tc>
                  <a:txBody>
                    <a:bodyPr wrap="square"/>
                    <a:lstStyle/>
                    <a:p>
                      <a:pPr algn="r"/>
                      <a:r>
                        <a:rPr sz="1100" b="0">
                          <a:solidFill>
                            <a:srgbClr val="595959"/>
                          </a:solidFill>
                          <a:latin typeface="Calibri"/>
                        </a:rPr>
                        <a:t>0.823</a:t>
                      </a:r>
                    </a:p>
                  </a:txBody>
                  <a:tcPr marL="64008" marR="64008" marT="9144" marB="9144" anchor="ctr">
                    <a:solidFill>
                      <a:srgbClr val="F2F2F2"/>
                    </a:solidFill>
                  </a:tcPr>
                </a:tc>
                <a:tc>
                  <a:txBody>
                    <a:bodyPr wrap="square"/>
                    <a:lstStyle/>
                    <a:p>
                      <a:pPr algn="r"/>
                      <a:r>
                        <a:rPr sz="1100" b="0">
                          <a:solidFill>
                            <a:srgbClr val="595959"/>
                          </a:solidFill>
                          <a:latin typeface="Calibri"/>
                        </a:rPr>
                        <a:t>0.855</a:t>
                      </a:r>
                    </a:p>
                  </a:txBody>
                  <a:tcPr marL="64008" marR="64008" marT="9144" marB="9144" anchor="ctr">
                    <a:solidFill>
                      <a:srgbClr val="F2F2F2"/>
                    </a:solidFill>
                  </a:tcPr>
                </a:tc>
              </a:tr>
              <a:tr h="329184">
                <a:tc>
                  <a:txBody>
                    <a:bodyPr wrap="square"/>
                    <a:lstStyle/>
                    <a:p>
                      <a:pPr algn="l"/>
                      <a:r>
                        <a:rPr sz="1100" b="1">
                          <a:solidFill>
                            <a:srgbClr val="1A1A1A"/>
                          </a:solidFill>
                          <a:latin typeface="Calibri"/>
                        </a:rPr>
                        <a:t>Logistic regression</a:t>
                      </a:r>
                    </a:p>
                  </a:txBody>
                  <a:tcPr marL="64008" marR="64008" marT="9144" marB="9144" anchor="ctr">
                    <a:solidFill>
                      <a:srgbClr val="FFF3CC"/>
                    </a:solidFill>
                  </a:tcPr>
                </a:tc>
                <a:tc>
                  <a:txBody>
                    <a:bodyPr wrap="square"/>
                    <a:lstStyle/>
                    <a:p>
                      <a:pPr algn="r"/>
                      <a:r>
                        <a:rPr sz="1100" b="1">
                          <a:solidFill>
                            <a:srgbClr val="1A1A1A"/>
                          </a:solidFill>
                          <a:latin typeface="Calibri"/>
                        </a:rPr>
                        <a:t>0.819</a:t>
                      </a:r>
                    </a:p>
                  </a:txBody>
                  <a:tcPr marL="64008" marR="64008" marT="9144" marB="9144" anchor="ctr">
                    <a:solidFill>
                      <a:srgbClr val="FFF3CC"/>
                    </a:solidFill>
                  </a:tcPr>
                </a:tc>
                <a:tc>
                  <a:txBody>
                    <a:bodyPr wrap="square"/>
                    <a:lstStyle/>
                    <a:p>
                      <a:pPr algn="r"/>
                      <a:r>
                        <a:rPr sz="1100" b="1">
                          <a:solidFill>
                            <a:srgbClr val="1A1A1A"/>
                          </a:solidFill>
                          <a:latin typeface="Calibri"/>
                        </a:rPr>
                        <a:t>0.822</a:t>
                      </a:r>
                    </a:p>
                  </a:txBody>
                  <a:tcPr marL="64008" marR="64008" marT="9144" marB="9144" anchor="ctr">
                    <a:solidFill>
                      <a:srgbClr val="FFF3CC"/>
                    </a:solidFill>
                  </a:tcPr>
                </a:tc>
                <a:tc>
                  <a:txBody>
                    <a:bodyPr wrap="square"/>
                    <a:lstStyle/>
                    <a:p>
                      <a:pPr algn="r"/>
                      <a:r>
                        <a:rPr sz="1100" b="1">
                          <a:solidFill>
                            <a:srgbClr val="1A1A1A"/>
                          </a:solidFill>
                          <a:latin typeface="Calibri"/>
                        </a:rPr>
                        <a:t>0.851</a:t>
                      </a:r>
                    </a:p>
                  </a:txBody>
                  <a:tcPr marL="64008" marR="64008" marT="9144" marB="9144" anchor="ctr">
                    <a:solidFill>
                      <a:srgbClr val="FFF3CC"/>
                    </a:solidFill>
                  </a:tcPr>
                </a:tc>
              </a:tr>
              <a:tr h="329184">
                <a:tc>
                  <a:txBody>
                    <a:bodyPr wrap="square"/>
                    <a:lstStyle/>
                    <a:p>
                      <a:pPr algn="l"/>
                      <a:r>
                        <a:rPr sz="1100" b="0">
                          <a:solidFill>
                            <a:srgbClr val="1A1A1A"/>
                          </a:solidFill>
                          <a:latin typeface="Calibri"/>
                        </a:rPr>
                        <a:t>Logistic regression + PCA</a:t>
                      </a:r>
                    </a:p>
                  </a:txBody>
                  <a:tcPr marL="64008" marR="64008" marT="9144" marB="9144" anchor="ctr">
                    <a:solidFill>
                      <a:srgbClr val="F2F2F2"/>
                    </a:solidFill>
                  </a:tcPr>
                </a:tc>
                <a:tc>
                  <a:txBody>
                    <a:bodyPr wrap="square"/>
                    <a:lstStyle/>
                    <a:p>
                      <a:pPr algn="r"/>
                      <a:r>
                        <a:rPr sz="1100" b="0">
                          <a:solidFill>
                            <a:srgbClr val="595959"/>
                          </a:solidFill>
                          <a:latin typeface="Calibri"/>
                        </a:rPr>
                        <a:t>0.818</a:t>
                      </a:r>
                    </a:p>
                  </a:txBody>
                  <a:tcPr marL="64008" marR="64008" marT="9144" marB="9144" anchor="ctr">
                    <a:solidFill>
                      <a:srgbClr val="F2F2F2"/>
                    </a:solidFill>
                  </a:tcPr>
                </a:tc>
                <a:tc>
                  <a:txBody>
                    <a:bodyPr wrap="square"/>
                    <a:lstStyle/>
                    <a:p>
                      <a:pPr algn="r"/>
                      <a:r>
                        <a:rPr sz="1100" b="0">
                          <a:solidFill>
                            <a:srgbClr val="595959"/>
                          </a:solidFill>
                          <a:latin typeface="Calibri"/>
                        </a:rPr>
                        <a:t>0.821</a:t>
                      </a:r>
                    </a:p>
                  </a:txBody>
                  <a:tcPr marL="64008" marR="64008" marT="9144" marB="9144" anchor="ctr">
                    <a:solidFill>
                      <a:srgbClr val="F2F2F2"/>
                    </a:solidFill>
                  </a:tcPr>
                </a:tc>
                <a:tc>
                  <a:txBody>
                    <a:bodyPr wrap="square"/>
                    <a:lstStyle/>
                    <a:p>
                      <a:pPr algn="r"/>
                      <a:r>
                        <a:rPr sz="1100" b="0">
                          <a:solidFill>
                            <a:srgbClr val="595959"/>
                          </a:solidFill>
                          <a:latin typeface="Calibri"/>
                        </a:rPr>
                        <a:t>0.852</a:t>
                      </a:r>
                    </a:p>
                  </a:txBody>
                  <a:tcPr marL="64008" marR="64008" marT="9144" marB="9144" anchor="ctr">
                    <a:solidFill>
                      <a:srgbClr val="F2F2F2"/>
                    </a:solidFill>
                  </a:tcPr>
                </a:tc>
              </a:tr>
              <a:tr h="329184">
                <a:tc>
                  <a:txBody>
                    <a:bodyPr wrap="square"/>
                    <a:lstStyle/>
                    <a:p>
                      <a:pPr algn="l"/>
                      <a:r>
                        <a:rPr sz="1100" b="0">
                          <a:solidFill>
                            <a:srgbClr val="1A1A1A"/>
                          </a:solidFill>
                          <a:latin typeface="Calibri"/>
                        </a:rPr>
                        <a:t>SVM</a:t>
                      </a:r>
                    </a:p>
                  </a:txBody>
                  <a:tcPr marL="64008" marR="64008" marT="9144" marB="9144" anchor="ctr">
                    <a:solidFill>
                      <a:srgbClr val="FFFFFF"/>
                    </a:solidFill>
                  </a:tcPr>
                </a:tc>
                <a:tc>
                  <a:txBody>
                    <a:bodyPr wrap="square"/>
                    <a:lstStyle/>
                    <a:p>
                      <a:pPr algn="r"/>
                      <a:r>
                        <a:rPr sz="1100" b="0">
                          <a:solidFill>
                            <a:srgbClr val="595959"/>
                          </a:solidFill>
                          <a:latin typeface="Calibri"/>
                        </a:rPr>
                        <a:t>0.808</a:t>
                      </a:r>
                    </a:p>
                  </a:txBody>
                  <a:tcPr marL="64008" marR="64008" marT="9144" marB="9144" anchor="ctr">
                    <a:solidFill>
                      <a:srgbClr val="FFFFFF"/>
                    </a:solidFill>
                  </a:tcPr>
                </a:tc>
                <a:tc>
                  <a:txBody>
                    <a:bodyPr wrap="square"/>
                    <a:lstStyle/>
                    <a:p>
                      <a:pPr algn="r"/>
                      <a:r>
                        <a:rPr sz="1100" b="0">
                          <a:solidFill>
                            <a:srgbClr val="595959"/>
                          </a:solidFill>
                          <a:latin typeface="Calibri"/>
                        </a:rPr>
                        <a:t>0.817</a:t>
                      </a:r>
                    </a:p>
                  </a:txBody>
                  <a:tcPr marL="64008" marR="64008" marT="9144" marB="9144" anchor="ctr">
                    <a:solidFill>
                      <a:srgbClr val="FFFFFF"/>
                    </a:solidFill>
                  </a:tcPr>
                </a:tc>
                <a:tc>
                  <a:txBody>
                    <a:bodyPr wrap="square"/>
                    <a:lstStyle/>
                    <a:p>
                      <a:pPr algn="r"/>
                      <a:r>
                        <a:rPr sz="1100" b="0">
                          <a:solidFill>
                            <a:srgbClr val="595959"/>
                          </a:solidFill>
                          <a:latin typeface="Calibri"/>
                        </a:rPr>
                        <a:t>0.858</a:t>
                      </a:r>
                    </a:p>
                  </a:txBody>
                  <a:tcPr marL="64008" marR="64008" marT="9144" marB="9144" anchor="ctr">
                    <a:solidFill>
                      <a:srgbClr val="FFFFFF"/>
                    </a:solidFill>
                  </a:tcPr>
                </a:tc>
              </a:tr>
              <a:tr h="329184">
                <a:tc>
                  <a:txBody>
                    <a:bodyPr wrap="square"/>
                    <a:lstStyle/>
                    <a:p>
                      <a:pPr algn="l"/>
                      <a:r>
                        <a:rPr sz="1100" b="0">
                          <a:solidFill>
                            <a:srgbClr val="1A1A1A"/>
                          </a:solidFill>
                          <a:latin typeface="Calibri"/>
                        </a:rPr>
                        <a:t>MLP (neural net)</a:t>
                      </a:r>
                    </a:p>
                  </a:txBody>
                  <a:tcPr marL="64008" marR="64008" marT="9144" marB="9144" anchor="ctr">
                    <a:solidFill>
                      <a:srgbClr val="F2F2F2"/>
                    </a:solidFill>
                  </a:tcPr>
                </a:tc>
                <a:tc>
                  <a:txBody>
                    <a:bodyPr wrap="square"/>
                    <a:lstStyle/>
                    <a:p>
                      <a:pPr algn="r"/>
                      <a:r>
                        <a:rPr sz="1100" b="0">
                          <a:solidFill>
                            <a:srgbClr val="595959"/>
                          </a:solidFill>
                          <a:latin typeface="Calibri"/>
                        </a:rPr>
                        <a:t>0.752</a:t>
                      </a:r>
                    </a:p>
                  </a:txBody>
                  <a:tcPr marL="64008" marR="64008" marT="9144" marB="9144" anchor="ctr">
                    <a:solidFill>
                      <a:srgbClr val="F2F2F2"/>
                    </a:solidFill>
                  </a:tcPr>
                </a:tc>
                <a:tc>
                  <a:txBody>
                    <a:bodyPr wrap="square"/>
                    <a:lstStyle/>
                    <a:p>
                      <a:pPr algn="r"/>
                      <a:r>
                        <a:rPr sz="1100" b="0">
                          <a:solidFill>
                            <a:srgbClr val="595959"/>
                          </a:solidFill>
                          <a:latin typeface="Calibri"/>
                        </a:rPr>
                        <a:t>0.753</a:t>
                      </a:r>
                    </a:p>
                  </a:txBody>
                  <a:tcPr marL="64008" marR="64008" marT="9144" marB="9144" anchor="ctr">
                    <a:solidFill>
                      <a:srgbClr val="F2F2F2"/>
                    </a:solidFill>
                  </a:tcPr>
                </a:tc>
                <a:tc>
                  <a:txBody>
                    <a:bodyPr wrap="square"/>
                    <a:lstStyle/>
                    <a:p>
                      <a:pPr algn="r"/>
                      <a:r>
                        <a:rPr sz="1100" b="0">
                          <a:solidFill>
                            <a:srgbClr val="595959"/>
                          </a:solidFill>
                          <a:latin typeface="Calibri"/>
                        </a:rPr>
                        <a:t>0.798</a:t>
                      </a:r>
                    </a:p>
                  </a:txBody>
                  <a:tcPr marL="64008" marR="64008" marT="9144" marB="9144" anchor="ctr">
                    <a:solidFill>
                      <a:srgbClr val="F2F2F2"/>
                    </a:solidFill>
                  </a:tcPr>
                </a:tc>
              </a:tr>
              <a:tr h="329184">
                <a:tc>
                  <a:txBody>
                    <a:bodyPr wrap="square"/>
                    <a:lstStyle/>
                    <a:p>
                      <a:pPr algn="l"/>
                      <a:r>
                        <a:rPr sz="1100" b="0">
                          <a:solidFill>
                            <a:srgbClr val="1A1A1A"/>
                          </a:solidFill>
                          <a:latin typeface="Calibri"/>
                        </a:rPr>
                        <a:t>Decision tree</a:t>
                      </a:r>
                    </a:p>
                  </a:txBody>
                  <a:tcPr marL="64008" marR="64008" marT="9144" marB="9144" anchor="ctr">
                    <a:solidFill>
                      <a:srgbClr val="FFFFFF"/>
                    </a:solidFill>
                  </a:tcPr>
                </a:tc>
                <a:tc>
                  <a:txBody>
                    <a:bodyPr wrap="square"/>
                    <a:lstStyle/>
                    <a:p>
                      <a:pPr algn="r"/>
                      <a:r>
                        <a:rPr sz="1100" b="0">
                          <a:solidFill>
                            <a:srgbClr val="595959"/>
                          </a:solidFill>
                          <a:latin typeface="Calibri"/>
                        </a:rPr>
                        <a:t>0.723</a:t>
                      </a:r>
                    </a:p>
                  </a:txBody>
                  <a:tcPr marL="64008" marR="64008" marT="9144" marB="9144" anchor="ctr">
                    <a:solidFill>
                      <a:srgbClr val="FFFFFF"/>
                    </a:solidFill>
                  </a:tcPr>
                </a:tc>
                <a:tc>
                  <a:txBody>
                    <a:bodyPr wrap="square"/>
                    <a:lstStyle/>
                    <a:p>
                      <a:pPr algn="r"/>
                      <a:r>
                        <a:rPr sz="1100" b="0">
                          <a:solidFill>
                            <a:srgbClr val="595959"/>
                          </a:solidFill>
                          <a:latin typeface="Calibri"/>
                        </a:rPr>
                        <a:t>0.699</a:t>
                      </a:r>
                    </a:p>
                  </a:txBody>
                  <a:tcPr marL="64008" marR="64008" marT="9144" marB="9144" anchor="ctr">
                    <a:solidFill>
                      <a:srgbClr val="FFFFFF"/>
                    </a:solidFill>
                  </a:tcPr>
                </a:tc>
                <a:tc>
                  <a:txBody>
                    <a:bodyPr wrap="square"/>
                    <a:lstStyle/>
                    <a:p>
                      <a:pPr algn="r"/>
                      <a:r>
                        <a:rPr sz="1100" b="0">
                          <a:solidFill>
                            <a:srgbClr val="595959"/>
                          </a:solidFill>
                          <a:latin typeface="Calibri"/>
                        </a:rPr>
                        <a:t>0.762</a:t>
                      </a:r>
                    </a:p>
                  </a:txBody>
                  <a:tcPr marL="64008" marR="64008" marT="9144" marB="9144" anchor="ctr">
                    <a:solidFill>
                      <a:srgbClr val="FFFFFF"/>
                    </a:solidFill>
                  </a:tcPr>
                </a:tc>
              </a:tr>
            </a:tbl>
          </a:graphicData>
        </a:graphic>
      </p:graphicFrame>
      <p:pic>
        <p:nvPicPr>
          <p:cNvPr id="5" name="Picture 4" descr="model_fold_noise.png"/>
          <p:cNvPicPr>
            <a:picLocks noChangeAspect="1"/>
          </p:cNvPicPr>
          <p:nvPr/>
        </p:nvPicPr>
        <p:blipFill>
          <a:blip r:embed="rId2"/>
          <a:stretch>
            <a:fillRect/>
          </a:stretch>
        </p:blipFill>
        <p:spPr>
          <a:xfrm>
            <a:off x="6675120" y="1783080"/>
            <a:ext cx="4937760" cy="1851660"/>
          </a:xfrm>
          <a:prstGeom prst="rect">
            <a:avLst/>
          </a:prstGeom>
        </p:spPr>
      </p:pic>
      <p:sp>
        <p:nvSpPr>
          <p:cNvPr id="6" name="TextBox 5"/>
          <p:cNvSpPr txBox="1"/>
          <p:nvPr/>
        </p:nvSpPr>
        <p:spPr>
          <a:xfrm>
            <a:off x="6675120" y="3703320"/>
            <a:ext cx="4937760" cy="1828800"/>
          </a:xfrm>
          <a:prstGeom prst="rect">
            <a:avLst/>
          </a:prstGeom>
          <a:noFill/>
        </p:spPr>
        <p:txBody>
          <a:bodyPr wrap="square" lIns="0" rIns="0" tIns="0" bIns="0">
            <a:spAutoFit/>
          </a:bodyPr>
          <a:lstStyle/>
          <a:p>
            <a:pPr algn="l">
              <a:lnSpc>
                <a:spcPct val="120000"/>
              </a:lnSpc>
              <a:spcAft>
                <a:spcPts val="700"/>
              </a:spcAft>
            </a:pPr>
            <a:r>
              <a:rPr sz="1300" b="1">
                <a:solidFill>
                  <a:srgbClr val="1A1A1A"/>
                </a:solidFill>
                <a:latin typeface="Calibri"/>
              </a:rPr>
              <a:t>The gap is 0.005. The folds swing by 0.020.</a:t>
            </a:r>
          </a:p>
          <a:p>
            <a:pPr algn="l">
              <a:lnSpc>
                <a:spcPct val="120000"/>
              </a:lnSpc>
              <a:spcAft>
                <a:spcPts val="700"/>
              </a:spcAft>
            </a:pPr>
            <a:r>
              <a:rPr sz="1300" b="0">
                <a:solidFill>
                  <a:srgbClr val="595959"/>
                </a:solidFill>
                <a:latin typeface="Calibri"/>
              </a:rPr>
              <a:t>Each dot is one fold. The two ranges overlap almost completely, and the distance between the means disappears inside them.</a:t>
            </a:r>
          </a:p>
          <a:p>
            <a:pPr algn="l">
              <a:lnSpc>
                <a:spcPct val="120000"/>
              </a:lnSpc>
              <a:spcAft>
                <a:spcPts val="700"/>
              </a:spcAft>
            </a:pPr>
            <a:r>
              <a:rPr sz="1300" b="0">
                <a:solidFill>
                  <a:srgbClr val="595959"/>
                </a:solidFill>
                <a:latin typeface="Calibri"/>
              </a:rPr>
              <a:t>XGBoost is not better than logistic regression here. It is tied with it, and it happened to land on top.</a:t>
            </a:r>
          </a:p>
        </p:txBody>
      </p:sp>
      <p:sp>
        <p:nvSpPr>
          <p:cNvPr id="7" name="TextBox 6"/>
          <p:cNvSpPr txBox="1"/>
          <p:nvPr/>
        </p:nvSpPr>
        <p:spPr>
          <a:xfrm>
            <a:off x="566928" y="4480560"/>
            <a:ext cx="5760720" cy="1645920"/>
          </a:xfrm>
          <a:prstGeom prst="rect">
            <a:avLst/>
          </a:prstGeom>
          <a:noFill/>
        </p:spPr>
        <p:txBody>
          <a:bodyPr wrap="square" lIns="0" rIns="0" tIns="0" bIns="0">
            <a:spAutoFit/>
          </a:bodyPr>
          <a:lstStyle/>
          <a:p>
            <a:pPr algn="l">
              <a:lnSpc>
                <a:spcPct val="120000"/>
              </a:lnSpc>
              <a:spcAft>
                <a:spcPts val="700"/>
              </a:spcAft>
            </a:pPr>
            <a:r>
              <a:rPr sz="1200" b="0">
                <a:solidFill>
                  <a:srgbClr val="595959"/>
                </a:solidFill>
                <a:latin typeface="Calibri"/>
              </a:rPr>
              <a:t>Logistic regression ships. Not because it scores highest, because it does not. When two models are tied, the tiebreak should be something that matters, and here that is whether a student can be told why they were flagged.</a:t>
            </a:r>
          </a:p>
          <a:p>
            <a:pPr algn="l">
              <a:lnSpc>
                <a:spcPct val="120000"/>
              </a:lnSpc>
              <a:spcAft>
                <a:spcPts val="700"/>
              </a:spcAft>
            </a:pPr>
            <a:r>
              <a:rPr sz="1200" b="0">
                <a:solidFill>
                  <a:srgbClr val="595959"/>
                </a:solidFill>
                <a:latin typeface="Calibri"/>
              </a:rPr>
              <a:t>PCA lands fourth, one thousandth behind. A principal component is a blend of nine columns, so a student flagged by it could never be told why in a sentence that means anything.</a:t>
            </a:r>
          </a:p>
        </p:txBody>
      </p:sp>
      <p:sp>
        <p:nvSpPr>
          <p:cNvPr id="8" name="TextBox 7"/>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200" b="0">
                <a:solidFill>
                  <a:srgbClr val="595959"/>
                </a:solidFill>
                <a:latin typeface="Calibri"/>
              </a:rPr>
              <a:t>A gap smaller than the measured noise is not a gap. This deck has to keep that standard everywhere.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threshold nobody chose</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Recall is not a property of a model. It is a property of a model and a cutoff. The default cutoff is 0.5, and nobody chose it.</a:t>
            </a:r>
          </a:p>
        </p:txBody>
      </p:sp>
      <p:graphicFrame>
        <p:nvGraphicFramePr>
          <p:cNvPr id="4" name="Table 3"/>
          <p:cNvGraphicFramePr>
            <a:graphicFrameLocks noGrp="1"/>
          </p:cNvGraphicFramePr>
          <p:nvPr/>
        </p:nvGraphicFramePr>
        <p:xfrm>
          <a:off x="566928" y="1691640"/>
          <a:ext cx="5669279" cy="1865376"/>
        </p:xfrm>
        <a:graphic>
          <a:graphicData uri="http://schemas.openxmlformats.org/drawingml/2006/table">
            <a:tbl>
              <a:tblPr>
                <a:tableStyleId>{5C22544A-7EE6-4342-B048-85BDC9FD1C3A}</a:tableStyleId>
              </a:tblPr>
              <a:tblGrid>
                <a:gridCol w="1858780"/>
                <a:gridCol w="929390"/>
                <a:gridCol w="929390"/>
                <a:gridCol w="1022329"/>
                <a:gridCol w="929390"/>
              </a:tblGrid>
              <a:tr h="310896">
                <a:tc>
                  <a:txBody>
                    <a:bodyPr wrap="square"/>
                    <a:lstStyle/>
                    <a:p>
                      <a:pPr algn="l"/>
                      <a:r>
                        <a:rPr sz="1000" b="1">
                          <a:solidFill>
                            <a:srgbClr val="FFFFFF"/>
                          </a:solidFill>
                          <a:latin typeface="Calibri"/>
                        </a:rPr>
                        <a:t>Rule</a:t>
                      </a:r>
                    </a:p>
                  </a:txBody>
                  <a:tcPr marL="64008" marR="64008" marT="9144" marB="9144" anchor="ctr">
                    <a:solidFill>
                      <a:srgbClr val="1A1A1A"/>
                    </a:solidFill>
                  </a:tcPr>
                </a:tc>
                <a:tc>
                  <a:txBody>
                    <a:bodyPr wrap="square"/>
                    <a:lstStyle/>
                    <a:p>
                      <a:pPr algn="r"/>
                      <a:r>
                        <a:rPr sz="1000" b="1">
                          <a:solidFill>
                            <a:srgbClr val="FFFFFF"/>
                          </a:solidFill>
                          <a:latin typeface="Calibri"/>
                        </a:rPr>
                        <a:t>Cutoff</a:t>
                      </a:r>
                    </a:p>
                  </a:txBody>
                  <a:tcPr marL="64008" marR="64008" marT="9144" marB="9144" anchor="ctr">
                    <a:solidFill>
                      <a:srgbClr val="1A1A1A"/>
                    </a:solidFill>
                  </a:tcPr>
                </a:tc>
                <a:tc>
                  <a:txBody>
                    <a:bodyPr wrap="square"/>
                    <a:lstStyle/>
                    <a:p>
                      <a:pPr algn="r"/>
                      <a:r>
                        <a:rPr sz="1000" b="1">
                          <a:solidFill>
                            <a:srgbClr val="FFFFFF"/>
                          </a:solidFill>
                          <a:latin typeface="Calibri"/>
                        </a:rPr>
                        <a:t>Recall</a:t>
                      </a:r>
                    </a:p>
                  </a:txBody>
                  <a:tcPr marL="64008" marR="64008" marT="9144" marB="9144" anchor="ctr">
                    <a:solidFill>
                      <a:srgbClr val="1A1A1A"/>
                    </a:solidFill>
                  </a:tcPr>
                </a:tc>
                <a:tc>
                  <a:txBody>
                    <a:bodyPr wrap="square"/>
                    <a:lstStyle/>
                    <a:p>
                      <a:pPr algn="r"/>
                      <a:r>
                        <a:rPr sz="1000" b="1">
                          <a:solidFill>
                            <a:srgbClr val="FFFFFF"/>
                          </a:solidFill>
                          <a:latin typeface="Calibri"/>
                        </a:rPr>
                        <a:t>Precision</a:t>
                      </a:r>
                    </a:p>
                  </a:txBody>
                  <a:tcPr marL="64008" marR="64008" marT="9144" marB="9144" anchor="ctr">
                    <a:solidFill>
                      <a:srgbClr val="1A1A1A"/>
                    </a:solidFill>
                  </a:tcPr>
                </a:tc>
                <a:tc>
                  <a:txBody>
                    <a:bodyPr wrap="square"/>
                    <a:lstStyle/>
                    <a:p>
                      <a:pPr algn="r"/>
                      <a:r>
                        <a:rPr sz="1000" b="1">
                          <a:solidFill>
                            <a:srgbClr val="FFFFFF"/>
                          </a:solidFill>
                          <a:latin typeface="Calibri"/>
                        </a:rPr>
                        <a:t>Flagged</a:t>
                      </a:r>
                    </a:p>
                  </a:txBody>
                  <a:tcPr marL="64008" marR="64008" marT="9144" marB="9144" anchor="ctr">
                    <a:solidFill>
                      <a:srgbClr val="1A1A1A"/>
                    </a:solidFill>
                  </a:tcPr>
                </a:tc>
              </a:tr>
              <a:tr h="310896">
                <a:tc>
                  <a:txBody>
                    <a:bodyPr wrap="square"/>
                    <a:lstStyle/>
                    <a:p>
                      <a:pPr algn="l"/>
                      <a:r>
                        <a:rPr sz="1100" b="0">
                          <a:solidFill>
                            <a:srgbClr val="1A1A1A"/>
                          </a:solidFill>
                          <a:latin typeface="Calibri"/>
                        </a:rPr>
                        <a:t>Default 0.5</a:t>
                      </a:r>
                    </a:p>
                  </a:txBody>
                  <a:tcPr marL="64008" marR="64008" marT="9144" marB="9144" anchor="ctr">
                    <a:solidFill>
                      <a:srgbClr val="FFFFFF"/>
                    </a:solidFill>
                  </a:tcPr>
                </a:tc>
                <a:tc>
                  <a:txBody>
                    <a:bodyPr wrap="square"/>
                    <a:lstStyle/>
                    <a:p>
                      <a:pPr algn="r"/>
                      <a:r>
                        <a:rPr sz="1100" b="0">
                          <a:solidFill>
                            <a:srgbClr val="595959"/>
                          </a:solidFill>
                          <a:latin typeface="Calibri"/>
                        </a:rPr>
                        <a:t>0.50</a:t>
                      </a:r>
                    </a:p>
                  </a:txBody>
                  <a:tcPr marL="64008" marR="64008" marT="9144" marB="9144" anchor="ctr">
                    <a:solidFill>
                      <a:srgbClr val="FFFFFF"/>
                    </a:solidFill>
                  </a:tcPr>
                </a:tc>
                <a:tc>
                  <a:txBody>
                    <a:bodyPr wrap="square"/>
                    <a:lstStyle/>
                    <a:p>
                      <a:pPr algn="r"/>
                      <a:r>
                        <a:rPr sz="1100" b="0">
                          <a:solidFill>
                            <a:srgbClr val="595959"/>
                          </a:solidFill>
                          <a:latin typeface="Calibri"/>
                        </a:rPr>
                        <a:t>0.750</a:t>
                      </a:r>
                    </a:p>
                  </a:txBody>
                  <a:tcPr marL="64008" marR="64008" marT="9144" marB="9144" anchor="ctr">
                    <a:solidFill>
                      <a:srgbClr val="FFFFFF"/>
                    </a:solidFill>
                  </a:tcPr>
                </a:tc>
                <a:tc>
                  <a:txBody>
                    <a:bodyPr wrap="square"/>
                    <a:lstStyle/>
                    <a:p>
                      <a:pPr algn="r"/>
                      <a:r>
                        <a:rPr sz="1100" b="0">
                          <a:solidFill>
                            <a:srgbClr val="595959"/>
                          </a:solidFill>
                          <a:latin typeface="Calibri"/>
                        </a:rPr>
                        <a:t>0.670</a:t>
                      </a:r>
                    </a:p>
                  </a:txBody>
                  <a:tcPr marL="64008" marR="64008" marT="9144" marB="9144" anchor="ctr">
                    <a:solidFill>
                      <a:srgbClr val="FFFFFF"/>
                    </a:solidFill>
                  </a:tcPr>
                </a:tc>
                <a:tc>
                  <a:txBody>
                    <a:bodyPr wrap="square"/>
                    <a:lstStyle/>
                    <a:p>
                      <a:pPr algn="r"/>
                      <a:r>
                        <a:rPr sz="1100" b="0">
                          <a:solidFill>
                            <a:srgbClr val="595959"/>
                          </a:solidFill>
                          <a:latin typeface="Calibri"/>
                        </a:rPr>
                        <a:t>43.8%</a:t>
                      </a:r>
                    </a:p>
                  </a:txBody>
                  <a:tcPr marL="64008" marR="64008" marT="9144" marB="9144" anchor="ctr">
                    <a:solidFill>
                      <a:srgbClr val="FFFFFF"/>
                    </a:solidFill>
                  </a:tcPr>
                </a:tc>
              </a:tr>
              <a:tr h="310896">
                <a:tc>
                  <a:txBody>
                    <a:bodyPr wrap="square"/>
                    <a:lstStyle/>
                    <a:p>
                      <a:pPr algn="l"/>
                      <a:r>
                        <a:rPr sz="1100" b="0">
                          <a:solidFill>
                            <a:srgbClr val="1A1A1A"/>
                          </a:solidFill>
                          <a:latin typeface="Calibri"/>
                        </a:rPr>
                        <a:t>Capacity 50%</a:t>
                      </a:r>
                    </a:p>
                  </a:txBody>
                  <a:tcPr marL="64008" marR="64008" marT="9144" marB="9144" anchor="ctr">
                    <a:solidFill>
                      <a:srgbClr val="F2F2F2"/>
                    </a:solidFill>
                  </a:tcPr>
                </a:tc>
                <a:tc>
                  <a:txBody>
                    <a:bodyPr wrap="square"/>
                    <a:lstStyle/>
                    <a:p>
                      <a:pPr algn="r"/>
                      <a:r>
                        <a:rPr sz="1100" b="0">
                          <a:solidFill>
                            <a:srgbClr val="595959"/>
                          </a:solidFill>
                          <a:latin typeface="Calibri"/>
                        </a:rPr>
                        <a:t>0.38</a:t>
                      </a:r>
                    </a:p>
                  </a:txBody>
                  <a:tcPr marL="64008" marR="64008" marT="9144" marB="9144" anchor="ctr">
                    <a:solidFill>
                      <a:srgbClr val="F2F2F2"/>
                    </a:solidFill>
                  </a:tcPr>
                </a:tc>
                <a:tc>
                  <a:txBody>
                    <a:bodyPr wrap="square"/>
                    <a:lstStyle/>
                    <a:p>
                      <a:pPr algn="r"/>
                      <a:r>
                        <a:rPr sz="1100" b="0">
                          <a:solidFill>
                            <a:srgbClr val="595959"/>
                          </a:solidFill>
                          <a:latin typeface="Calibri"/>
                        </a:rPr>
                        <a:t>0.838</a:t>
                      </a:r>
                    </a:p>
                  </a:txBody>
                  <a:tcPr marL="64008" marR="64008" marT="9144" marB="9144" anchor="ctr">
                    <a:solidFill>
                      <a:srgbClr val="F2F2F2"/>
                    </a:solidFill>
                  </a:tcPr>
                </a:tc>
                <a:tc>
                  <a:txBody>
                    <a:bodyPr wrap="square"/>
                    <a:lstStyle/>
                    <a:p>
                      <a:pPr algn="r"/>
                      <a:r>
                        <a:rPr sz="1100" b="0">
                          <a:solidFill>
                            <a:srgbClr val="595959"/>
                          </a:solidFill>
                          <a:latin typeface="Calibri"/>
                        </a:rPr>
                        <a:t>0.609</a:t>
                      </a:r>
                    </a:p>
                  </a:txBody>
                  <a:tcPr marL="64008" marR="64008" marT="9144" marB="9144" anchor="ctr">
                    <a:solidFill>
                      <a:srgbClr val="F2F2F2"/>
                    </a:solidFill>
                  </a:tcPr>
                </a:tc>
                <a:tc>
                  <a:txBody>
                    <a:bodyPr wrap="square"/>
                    <a:lstStyle/>
                    <a:p>
                      <a:pPr algn="r"/>
                      <a:r>
                        <a:rPr sz="1100" b="0">
                          <a:solidFill>
                            <a:srgbClr val="595959"/>
                          </a:solidFill>
                          <a:latin typeface="Calibri"/>
                        </a:rPr>
                        <a:t>53.9%</a:t>
                      </a:r>
                    </a:p>
                  </a:txBody>
                  <a:tcPr marL="64008" marR="64008" marT="9144" marB="9144" anchor="ctr">
                    <a:solidFill>
                      <a:srgbClr val="F2F2F2"/>
                    </a:solidFill>
                  </a:tcPr>
                </a:tc>
              </a:tr>
              <a:tr h="310896">
                <a:tc>
                  <a:txBody>
                    <a:bodyPr wrap="square"/>
                    <a:lstStyle/>
                    <a:p>
                      <a:pPr algn="l"/>
                      <a:r>
                        <a:rPr sz="1100" b="1">
                          <a:solidFill>
                            <a:srgbClr val="1A1A1A"/>
                          </a:solidFill>
                          <a:latin typeface="Calibri"/>
                        </a:rPr>
                        <a:t>Capacity 45%</a:t>
                      </a:r>
                    </a:p>
                  </a:txBody>
                  <a:tcPr marL="64008" marR="64008" marT="9144" marB="9144" anchor="ctr">
                    <a:solidFill>
                      <a:srgbClr val="FFF3CC"/>
                    </a:solidFill>
                  </a:tcPr>
                </a:tc>
                <a:tc>
                  <a:txBody>
                    <a:bodyPr wrap="square"/>
                    <a:lstStyle/>
                    <a:p>
                      <a:pPr algn="r"/>
                      <a:r>
                        <a:rPr sz="1100" b="1">
                          <a:solidFill>
                            <a:srgbClr val="1A1A1A"/>
                          </a:solidFill>
                          <a:latin typeface="Calibri"/>
                        </a:rPr>
                        <a:t>0.45</a:t>
                      </a:r>
                    </a:p>
                  </a:txBody>
                  <a:tcPr marL="64008" marR="64008" marT="9144" marB="9144" anchor="ctr">
                    <a:solidFill>
                      <a:srgbClr val="FFF3CC"/>
                    </a:solidFill>
                  </a:tcPr>
                </a:tc>
                <a:tc>
                  <a:txBody>
                    <a:bodyPr wrap="square"/>
                    <a:lstStyle/>
                    <a:p>
                      <a:pPr algn="r"/>
                      <a:r>
                        <a:rPr sz="1100" b="1">
                          <a:solidFill>
                            <a:srgbClr val="1A1A1A"/>
                          </a:solidFill>
                          <a:latin typeface="Calibri"/>
                        </a:rPr>
                        <a:t>0.796</a:t>
                      </a:r>
                    </a:p>
                  </a:txBody>
                  <a:tcPr marL="64008" marR="64008" marT="9144" marB="9144" anchor="ctr">
                    <a:solidFill>
                      <a:srgbClr val="FFF3CC"/>
                    </a:solidFill>
                  </a:tcPr>
                </a:tc>
                <a:tc>
                  <a:txBody>
                    <a:bodyPr wrap="square"/>
                    <a:lstStyle/>
                    <a:p>
                      <a:pPr algn="r"/>
                      <a:r>
                        <a:rPr sz="1100" b="1">
                          <a:solidFill>
                            <a:srgbClr val="1A1A1A"/>
                          </a:solidFill>
                          <a:latin typeface="Calibri"/>
                        </a:rPr>
                        <a:t>0.644</a:t>
                      </a:r>
                    </a:p>
                  </a:txBody>
                  <a:tcPr marL="64008" marR="64008" marT="9144" marB="9144" anchor="ctr">
                    <a:solidFill>
                      <a:srgbClr val="FFF3CC"/>
                    </a:solidFill>
                  </a:tcPr>
                </a:tc>
                <a:tc>
                  <a:txBody>
                    <a:bodyPr wrap="square"/>
                    <a:lstStyle/>
                    <a:p>
                      <a:pPr algn="r"/>
                      <a:r>
                        <a:rPr sz="1100" b="1">
                          <a:solidFill>
                            <a:srgbClr val="1A1A1A"/>
                          </a:solidFill>
                          <a:latin typeface="Calibri"/>
                        </a:rPr>
                        <a:t>48.3%</a:t>
                      </a:r>
                    </a:p>
                  </a:txBody>
                  <a:tcPr marL="64008" marR="64008" marT="9144" marB="9144" anchor="ctr">
                    <a:solidFill>
                      <a:srgbClr val="FFF3CC"/>
                    </a:solidFill>
                  </a:tcPr>
                </a:tc>
              </a:tr>
              <a:tr h="310896">
                <a:tc>
                  <a:txBody>
                    <a:bodyPr wrap="square"/>
                    <a:lstStyle/>
                    <a:p>
                      <a:pPr algn="l"/>
                      <a:r>
                        <a:rPr sz="1100" b="0">
                          <a:solidFill>
                            <a:srgbClr val="1A1A1A"/>
                          </a:solidFill>
                          <a:latin typeface="Calibri"/>
                        </a:rPr>
                        <a:t>Capacity 40%</a:t>
                      </a:r>
                    </a:p>
                  </a:txBody>
                  <a:tcPr marL="64008" marR="64008" marT="9144" marB="9144" anchor="ctr">
                    <a:solidFill>
                      <a:srgbClr val="F2F2F2"/>
                    </a:solidFill>
                  </a:tcPr>
                </a:tc>
                <a:tc>
                  <a:txBody>
                    <a:bodyPr wrap="square"/>
                    <a:lstStyle/>
                    <a:p>
                      <a:pPr algn="r"/>
                      <a:r>
                        <a:rPr sz="1100" b="0">
                          <a:solidFill>
                            <a:srgbClr val="595959"/>
                          </a:solidFill>
                          <a:latin typeface="Calibri"/>
                        </a:rPr>
                        <a:t>0.50</a:t>
                      </a:r>
                    </a:p>
                  </a:txBody>
                  <a:tcPr marL="64008" marR="64008" marT="9144" marB="9144" anchor="ctr">
                    <a:solidFill>
                      <a:srgbClr val="F2F2F2"/>
                    </a:solidFill>
                  </a:tcPr>
                </a:tc>
                <a:tc>
                  <a:txBody>
                    <a:bodyPr wrap="square"/>
                    <a:lstStyle/>
                    <a:p>
                      <a:pPr algn="r"/>
                      <a:r>
                        <a:rPr sz="1100" b="0">
                          <a:solidFill>
                            <a:srgbClr val="595959"/>
                          </a:solidFill>
                          <a:latin typeface="Calibri"/>
                        </a:rPr>
                        <a:t>0.750</a:t>
                      </a:r>
                    </a:p>
                  </a:txBody>
                  <a:tcPr marL="64008" marR="64008" marT="9144" marB="9144" anchor="ctr">
                    <a:solidFill>
                      <a:srgbClr val="F2F2F2"/>
                    </a:solidFill>
                  </a:tcPr>
                </a:tc>
                <a:tc>
                  <a:txBody>
                    <a:bodyPr wrap="square"/>
                    <a:lstStyle/>
                    <a:p>
                      <a:pPr algn="r"/>
                      <a:r>
                        <a:rPr sz="1100" b="0">
                          <a:solidFill>
                            <a:srgbClr val="595959"/>
                          </a:solidFill>
                          <a:latin typeface="Calibri"/>
                        </a:rPr>
                        <a:t>0.670</a:t>
                      </a:r>
                    </a:p>
                  </a:txBody>
                  <a:tcPr marL="64008" marR="64008" marT="9144" marB="9144" anchor="ctr">
                    <a:solidFill>
                      <a:srgbClr val="F2F2F2"/>
                    </a:solidFill>
                  </a:tcPr>
                </a:tc>
                <a:tc>
                  <a:txBody>
                    <a:bodyPr wrap="square"/>
                    <a:lstStyle/>
                    <a:p>
                      <a:pPr algn="r"/>
                      <a:r>
                        <a:rPr sz="1100" b="0">
                          <a:solidFill>
                            <a:srgbClr val="595959"/>
                          </a:solidFill>
                          <a:latin typeface="Calibri"/>
                        </a:rPr>
                        <a:t>43.8%</a:t>
                      </a:r>
                    </a:p>
                  </a:txBody>
                  <a:tcPr marL="64008" marR="64008" marT="9144" marB="9144" anchor="ctr">
                    <a:solidFill>
                      <a:srgbClr val="F2F2F2"/>
                    </a:solidFill>
                  </a:tcPr>
                </a:tc>
              </a:tr>
              <a:tr h="310896">
                <a:tc>
                  <a:txBody>
                    <a:bodyPr wrap="square"/>
                    <a:lstStyle/>
                    <a:p>
                      <a:pPr algn="l"/>
                      <a:r>
                        <a:rPr sz="1100" b="0">
                          <a:solidFill>
                            <a:srgbClr val="1A1A1A"/>
                          </a:solidFill>
                          <a:latin typeface="Calibri"/>
                        </a:rPr>
                        <a:t>Capacity 35%</a:t>
                      </a:r>
                    </a:p>
                  </a:txBody>
                  <a:tcPr marL="64008" marR="64008" marT="9144" marB="9144" anchor="ctr">
                    <a:solidFill>
                      <a:srgbClr val="FFFFFF"/>
                    </a:solidFill>
                  </a:tcPr>
                </a:tc>
                <a:tc>
                  <a:txBody>
                    <a:bodyPr wrap="square"/>
                    <a:lstStyle/>
                    <a:p>
                      <a:pPr algn="r"/>
                      <a:r>
                        <a:rPr sz="1100" b="0">
                          <a:solidFill>
                            <a:srgbClr val="595959"/>
                          </a:solidFill>
                          <a:latin typeface="Calibri"/>
                        </a:rPr>
                        <a:t>0.57</a:t>
                      </a:r>
                    </a:p>
                  </a:txBody>
                  <a:tcPr marL="64008" marR="64008" marT="9144" marB="9144" anchor="ctr">
                    <a:solidFill>
                      <a:srgbClr val="FFFFFF"/>
                    </a:solidFill>
                  </a:tcPr>
                </a:tc>
                <a:tc>
                  <a:txBody>
                    <a:bodyPr wrap="square"/>
                    <a:lstStyle/>
                    <a:p>
                      <a:pPr algn="r"/>
                      <a:r>
                        <a:rPr sz="1100" b="0">
                          <a:solidFill>
                            <a:srgbClr val="595959"/>
                          </a:solidFill>
                          <a:latin typeface="Calibri"/>
                        </a:rPr>
                        <a:t>0.697</a:t>
                      </a:r>
                    </a:p>
                  </a:txBody>
                  <a:tcPr marL="64008" marR="64008" marT="9144" marB="9144" anchor="ctr">
                    <a:solidFill>
                      <a:srgbClr val="FFFFFF"/>
                    </a:solidFill>
                  </a:tcPr>
                </a:tc>
                <a:tc>
                  <a:txBody>
                    <a:bodyPr wrap="square"/>
                    <a:lstStyle/>
                    <a:p>
                      <a:pPr algn="r"/>
                      <a:r>
                        <a:rPr sz="1100" b="0">
                          <a:solidFill>
                            <a:srgbClr val="595959"/>
                          </a:solidFill>
                          <a:latin typeface="Calibri"/>
                        </a:rPr>
                        <a:t>0.723</a:t>
                      </a:r>
                    </a:p>
                  </a:txBody>
                  <a:tcPr marL="64008" marR="64008" marT="9144" marB="9144" anchor="ctr">
                    <a:solidFill>
                      <a:srgbClr val="FFFFFF"/>
                    </a:solidFill>
                  </a:tcPr>
                </a:tc>
                <a:tc>
                  <a:txBody>
                    <a:bodyPr wrap="square"/>
                    <a:lstStyle/>
                    <a:p>
                      <a:pPr algn="r"/>
                      <a:r>
                        <a:rPr sz="1100" b="0">
                          <a:solidFill>
                            <a:srgbClr val="595959"/>
                          </a:solidFill>
                          <a:latin typeface="Calibri"/>
                        </a:rPr>
                        <a:t>37.7%</a:t>
                      </a:r>
                    </a:p>
                  </a:txBody>
                  <a:tcPr marL="64008" marR="64008" marT="9144" marB="9144" anchor="ctr">
                    <a:solidFill>
                      <a:srgbClr val="FFFFFF"/>
                    </a:solidFill>
                  </a:tcPr>
                </a:tc>
              </a:tr>
            </a:tbl>
          </a:graphicData>
        </a:graphic>
      </p:graphicFrame>
      <p:sp>
        <p:nvSpPr>
          <p:cNvPr id="5" name="TextBox 4"/>
          <p:cNvSpPr txBox="1"/>
          <p:nvPr/>
        </p:nvSpPr>
        <p:spPr>
          <a:xfrm>
            <a:off x="566928" y="3703320"/>
            <a:ext cx="5669280" cy="1097280"/>
          </a:xfrm>
          <a:prstGeom prst="rect">
            <a:avLst/>
          </a:prstGeom>
          <a:noFill/>
        </p:spPr>
        <p:txBody>
          <a:bodyPr wrap="square" lIns="0" rIns="0" tIns="0" bIns="0">
            <a:spAutoFit/>
          </a:bodyPr>
          <a:lstStyle/>
          <a:p>
            <a:pPr algn="l">
              <a:lnSpc>
                <a:spcPct val="120000"/>
              </a:lnSpc>
              <a:spcAft>
                <a:spcPts val="600"/>
              </a:spcAft>
            </a:pPr>
            <a:r>
              <a:rPr sz="1300" b="1">
                <a:solidFill>
                  <a:srgbClr val="1A1A1A"/>
                </a:solidFill>
                <a:latin typeface="Calibri"/>
              </a:rPr>
              <a:t>The default is capacity 40 percent.</a:t>
            </a:r>
            <a:r>
              <a:rPr sz="1300" b="0">
                <a:solidFill>
                  <a:srgbClr val="595959"/>
                </a:solidFill>
                <a:latin typeface="Calibri"/>
              </a:rPr>
              <a:t> A staffing decision made by accident, by a library default. Move it to 45 percent and recall climbs to 0.796 on the same model and the same data.</a:t>
            </a:r>
          </a:p>
        </p:txBody>
      </p:sp>
      <p:graphicFrame>
        <p:nvGraphicFramePr>
          <p:cNvPr id="6" name="Table 5"/>
          <p:cNvGraphicFramePr>
            <a:graphicFrameLocks noGrp="1"/>
          </p:cNvGraphicFramePr>
          <p:nvPr/>
        </p:nvGraphicFramePr>
        <p:xfrm>
          <a:off x="566928" y="4800600"/>
          <a:ext cx="5669278" cy="1243584"/>
        </p:xfrm>
        <a:graphic>
          <a:graphicData uri="http://schemas.openxmlformats.org/drawingml/2006/table">
            <a:tbl>
              <a:tblPr>
                <a:tableStyleId>{5C22544A-7EE6-4342-B048-85BDC9FD1C3A}</a:tableStyleId>
              </a:tblPr>
              <a:tblGrid>
                <a:gridCol w="1649245"/>
                <a:gridCol w="1236933"/>
                <a:gridCol w="1030778"/>
                <a:gridCol w="1752322"/>
              </a:tblGrid>
              <a:tr h="310896">
                <a:tc>
                  <a:txBody>
                    <a:bodyPr wrap="square"/>
                    <a:lstStyle/>
                    <a:p>
                      <a:pPr algn="l"/>
                      <a:r>
                        <a:rPr sz="1000" b="1">
                          <a:solidFill>
                            <a:srgbClr val="FFFFFF"/>
                          </a:solidFill>
                          <a:latin typeface="Calibri"/>
                        </a:rPr>
                        <a:t>Outreach cost</a:t>
                      </a:r>
                    </a:p>
                  </a:txBody>
                  <a:tcPr marL="64008" marR="64008" marT="9144" marB="9144" anchor="ctr">
                    <a:solidFill>
                      <a:srgbClr val="1A1A1A"/>
                    </a:solidFill>
                  </a:tcPr>
                </a:tc>
                <a:tc>
                  <a:txBody>
                    <a:bodyPr wrap="square"/>
                    <a:lstStyle/>
                    <a:p>
                      <a:pPr algn="r"/>
                      <a:r>
                        <a:rPr sz="1000" b="1">
                          <a:solidFill>
                            <a:srgbClr val="FFFFFF"/>
                          </a:solidFill>
                          <a:latin typeface="Calibri"/>
                        </a:rPr>
                        <a:t>Best cutoff</a:t>
                      </a:r>
                    </a:p>
                  </a:txBody>
                  <a:tcPr marL="64008" marR="64008" marT="9144" marB="9144" anchor="ctr">
                    <a:solidFill>
                      <a:srgbClr val="1A1A1A"/>
                    </a:solidFill>
                  </a:tcPr>
                </a:tc>
                <a:tc>
                  <a:txBody>
                    <a:bodyPr wrap="square"/>
                    <a:lstStyle/>
                    <a:p>
                      <a:pPr algn="r"/>
                      <a:r>
                        <a:rPr sz="1000" b="1">
                          <a:solidFill>
                            <a:srgbClr val="FFFFFF"/>
                          </a:solidFill>
                          <a:latin typeface="Calibri"/>
                        </a:rPr>
                        <a:t>Flagged</a:t>
                      </a:r>
                    </a:p>
                  </a:txBody>
                  <a:tcPr marL="64008" marR="64008" marT="9144" marB="9144" anchor="ctr">
                    <a:solidFill>
                      <a:srgbClr val="1A1A1A"/>
                    </a:solidFill>
                  </a:tcPr>
                </a:tc>
                <a:tc>
                  <a:txBody>
                    <a:bodyPr wrap="square"/>
                    <a:lstStyle/>
                    <a:p>
                      <a:pPr algn="r"/>
                      <a:r>
                        <a:rPr sz="1000" b="1">
                          <a:solidFill>
                            <a:srgbClr val="FFFFFF"/>
                          </a:solidFill>
                          <a:latin typeface="Calibri"/>
                        </a:rPr>
                        <a:t>Value per 1,000</a:t>
                      </a:r>
                    </a:p>
                  </a:txBody>
                  <a:tcPr marL="64008" marR="64008" marT="9144" marB="9144" anchor="ctr">
                    <a:solidFill>
                      <a:srgbClr val="1A1A1A"/>
                    </a:solidFill>
                  </a:tcPr>
                </a:tc>
              </a:tr>
              <a:tr h="310896">
                <a:tc>
                  <a:txBody>
                    <a:bodyPr wrap="square"/>
                    <a:lstStyle/>
                    <a:p>
                      <a:pPr algn="l"/>
                      <a:r>
                        <a:rPr sz="1100" b="0">
                          <a:solidFill>
                            <a:srgbClr val="1A1A1A"/>
                          </a:solidFill>
                          <a:latin typeface="Calibri"/>
                        </a:rPr>
                        <a:t>50 EUR</a:t>
                      </a:r>
                    </a:p>
                  </a:txBody>
                  <a:tcPr marL="64008" marR="64008" marT="9144" marB="9144" anchor="ctr">
                    <a:solidFill>
                      <a:srgbClr val="FFFFFF"/>
                    </a:solidFill>
                  </a:tcPr>
                </a:tc>
                <a:tc>
                  <a:txBody>
                    <a:bodyPr wrap="square"/>
                    <a:lstStyle/>
                    <a:p>
                      <a:pPr algn="r"/>
                      <a:r>
                        <a:rPr sz="1100" b="0">
                          <a:solidFill>
                            <a:srgbClr val="595959"/>
                          </a:solidFill>
                          <a:latin typeface="Calibri"/>
                        </a:rPr>
                        <a:t>0.08</a:t>
                      </a:r>
                    </a:p>
                  </a:txBody>
                  <a:tcPr marL="64008" marR="64008" marT="9144" marB="9144" anchor="ctr">
                    <a:solidFill>
                      <a:srgbClr val="FFFFFF"/>
                    </a:solidFill>
                  </a:tcPr>
                </a:tc>
                <a:tc>
                  <a:txBody>
                    <a:bodyPr wrap="square"/>
                    <a:lstStyle/>
                    <a:p>
                      <a:pPr algn="r"/>
                      <a:r>
                        <a:rPr sz="1100" b="0">
                          <a:solidFill>
                            <a:srgbClr val="595959"/>
                          </a:solidFill>
                          <a:latin typeface="Calibri"/>
                        </a:rPr>
                        <a:t>93.1%</a:t>
                      </a:r>
                    </a:p>
                  </a:txBody>
                  <a:tcPr marL="64008" marR="64008" marT="9144" marB="9144" anchor="ctr">
                    <a:solidFill>
                      <a:srgbClr val="FFFFFF"/>
                    </a:solidFill>
                  </a:tcPr>
                </a:tc>
                <a:tc>
                  <a:txBody>
                    <a:bodyPr wrap="square"/>
                    <a:lstStyle/>
                    <a:p>
                      <a:pPr algn="r"/>
                      <a:r>
                        <a:rPr sz="1100" b="0">
                          <a:solidFill>
                            <a:srgbClr val="595959"/>
                          </a:solidFill>
                          <a:latin typeface="Calibri"/>
                        </a:rPr>
                        <a:t>199,022 EUR</a:t>
                      </a:r>
                    </a:p>
                  </a:txBody>
                  <a:tcPr marL="64008" marR="64008" marT="9144" marB="9144" anchor="ctr">
                    <a:solidFill>
                      <a:srgbClr val="FFFFFF"/>
                    </a:solidFill>
                  </a:tcPr>
                </a:tc>
              </a:tr>
              <a:tr h="310896">
                <a:tc>
                  <a:txBody>
                    <a:bodyPr wrap="square"/>
                    <a:lstStyle/>
                    <a:p>
                      <a:pPr algn="l"/>
                      <a:r>
                        <a:rPr sz="1100" b="0">
                          <a:solidFill>
                            <a:srgbClr val="1A1A1A"/>
                          </a:solidFill>
                          <a:latin typeface="Calibri"/>
                        </a:rPr>
                        <a:t>150 EUR</a:t>
                      </a:r>
                    </a:p>
                  </a:txBody>
                  <a:tcPr marL="64008" marR="64008" marT="9144" marB="9144" anchor="ctr">
                    <a:solidFill>
                      <a:srgbClr val="F2F2F2"/>
                    </a:solidFill>
                  </a:tcPr>
                </a:tc>
                <a:tc>
                  <a:txBody>
                    <a:bodyPr wrap="square"/>
                    <a:lstStyle/>
                    <a:p>
                      <a:pPr algn="r"/>
                      <a:r>
                        <a:rPr sz="1100" b="0">
                          <a:solidFill>
                            <a:srgbClr val="595959"/>
                          </a:solidFill>
                          <a:latin typeface="Calibri"/>
                        </a:rPr>
                        <a:t>0.34</a:t>
                      </a:r>
                    </a:p>
                  </a:txBody>
                  <a:tcPr marL="64008" marR="64008" marT="9144" marB="9144" anchor="ctr">
                    <a:solidFill>
                      <a:srgbClr val="F2F2F2"/>
                    </a:solidFill>
                  </a:tcPr>
                </a:tc>
                <a:tc>
                  <a:txBody>
                    <a:bodyPr wrap="square"/>
                    <a:lstStyle/>
                    <a:p>
                      <a:pPr algn="r"/>
                      <a:r>
                        <a:rPr sz="1100" b="0">
                          <a:solidFill>
                            <a:srgbClr val="595959"/>
                          </a:solidFill>
                          <a:latin typeface="Calibri"/>
                        </a:rPr>
                        <a:t>59.4%</a:t>
                      </a:r>
                    </a:p>
                  </a:txBody>
                  <a:tcPr marL="64008" marR="64008" marT="9144" marB="9144" anchor="ctr">
                    <a:solidFill>
                      <a:srgbClr val="F2F2F2"/>
                    </a:solidFill>
                  </a:tcPr>
                </a:tc>
                <a:tc>
                  <a:txBody>
                    <a:bodyPr wrap="square"/>
                    <a:lstStyle/>
                    <a:p>
                      <a:pPr algn="r"/>
                      <a:r>
                        <a:rPr sz="1100" b="0">
                          <a:solidFill>
                            <a:srgbClr val="595959"/>
                          </a:solidFill>
                          <a:latin typeface="Calibri"/>
                        </a:rPr>
                        <a:t>125,289 EUR</a:t>
                      </a:r>
                    </a:p>
                  </a:txBody>
                  <a:tcPr marL="64008" marR="64008" marT="9144" marB="9144" anchor="ctr">
                    <a:solidFill>
                      <a:srgbClr val="F2F2F2"/>
                    </a:solidFill>
                  </a:tcPr>
                </a:tc>
              </a:tr>
              <a:tr h="310896">
                <a:tc>
                  <a:txBody>
                    <a:bodyPr wrap="square"/>
                    <a:lstStyle/>
                    <a:p>
                      <a:pPr algn="l"/>
                      <a:r>
                        <a:rPr sz="1100" b="0">
                          <a:solidFill>
                            <a:srgbClr val="1A1A1A"/>
                          </a:solidFill>
                          <a:latin typeface="Calibri"/>
                        </a:rPr>
                        <a:t>300 EUR</a:t>
                      </a:r>
                    </a:p>
                  </a:txBody>
                  <a:tcPr marL="64008" marR="64008" marT="9144" marB="9144" anchor="ctr">
                    <a:solidFill>
                      <a:srgbClr val="FFFFFF"/>
                    </a:solidFill>
                  </a:tcPr>
                </a:tc>
                <a:tc>
                  <a:txBody>
                    <a:bodyPr wrap="square"/>
                    <a:lstStyle/>
                    <a:p>
                      <a:pPr algn="r"/>
                      <a:r>
                        <a:rPr sz="1100" b="0">
                          <a:solidFill>
                            <a:srgbClr val="595959"/>
                          </a:solidFill>
                          <a:latin typeface="Calibri"/>
                        </a:rPr>
                        <a:t>0.61</a:t>
                      </a:r>
                    </a:p>
                  </a:txBody>
                  <a:tcPr marL="64008" marR="64008" marT="9144" marB="9144" anchor="ctr">
                    <a:solidFill>
                      <a:srgbClr val="FFFFFF"/>
                    </a:solidFill>
                  </a:tcPr>
                </a:tc>
                <a:tc>
                  <a:txBody>
                    <a:bodyPr wrap="square"/>
                    <a:lstStyle/>
                    <a:p>
                      <a:pPr algn="r"/>
                      <a:r>
                        <a:rPr sz="1100" b="0">
                          <a:solidFill>
                            <a:srgbClr val="595959"/>
                          </a:solidFill>
                          <a:latin typeface="Calibri"/>
                        </a:rPr>
                        <a:t>34.4%</a:t>
                      </a:r>
                    </a:p>
                  </a:txBody>
                  <a:tcPr marL="64008" marR="64008" marT="9144" marB="9144" anchor="ctr">
                    <a:solidFill>
                      <a:srgbClr val="FFFFFF"/>
                    </a:solidFill>
                  </a:tcPr>
                </a:tc>
                <a:tc>
                  <a:txBody>
                    <a:bodyPr wrap="square"/>
                    <a:lstStyle/>
                    <a:p>
                      <a:pPr algn="r"/>
                      <a:r>
                        <a:rPr sz="1100" b="0">
                          <a:solidFill>
                            <a:srgbClr val="595959"/>
                          </a:solidFill>
                          <a:latin typeface="Calibri"/>
                        </a:rPr>
                        <a:t>58,967 EUR</a:t>
                      </a:r>
                    </a:p>
                  </a:txBody>
                  <a:tcPr marL="64008" marR="64008" marT="9144" marB="9144" anchor="ctr">
                    <a:solidFill>
                      <a:srgbClr val="FFFFFF"/>
                    </a:solidFill>
                  </a:tcPr>
                </a:tc>
              </a:tr>
            </a:tbl>
          </a:graphicData>
        </a:graphic>
      </p:graphicFrame>
      <p:pic>
        <p:nvPicPr>
          <p:cNvPr id="7" name="Picture 6" descr="expected_value.png"/>
          <p:cNvPicPr>
            <a:picLocks noChangeAspect="1"/>
          </p:cNvPicPr>
          <p:nvPr/>
        </p:nvPicPr>
        <p:blipFill>
          <a:blip r:embed="rId2"/>
          <a:stretch>
            <a:fillRect/>
          </a:stretch>
        </p:blipFill>
        <p:spPr>
          <a:xfrm>
            <a:off x="6675120" y="1737360"/>
            <a:ext cx="4937760" cy="2323652"/>
          </a:xfrm>
          <a:prstGeom prst="rect">
            <a:avLst/>
          </a:prstGeom>
        </p:spPr>
      </p:pic>
      <p:sp>
        <p:nvSpPr>
          <p:cNvPr id="8" name="TextBox 7"/>
          <p:cNvSpPr txBox="1"/>
          <p:nvPr/>
        </p:nvSpPr>
        <p:spPr>
          <a:xfrm>
            <a:off x="6675120" y="4114800"/>
            <a:ext cx="4937760" cy="2011680"/>
          </a:xfrm>
          <a:prstGeom prst="rect">
            <a:avLst/>
          </a:prstGeom>
          <a:noFill/>
        </p:spPr>
        <p:txBody>
          <a:bodyPr wrap="square" lIns="0" rIns="0" tIns="0" bIns="0">
            <a:spAutoFit/>
          </a:bodyPr>
          <a:lstStyle/>
          <a:p>
            <a:pPr algn="l">
              <a:lnSpc>
                <a:spcPct val="120000"/>
              </a:lnSpc>
              <a:spcAft>
                <a:spcPts val="600"/>
              </a:spcAft>
            </a:pPr>
            <a:r>
              <a:rPr sz="1200" b="0">
                <a:solidFill>
                  <a:srgbClr val="595959"/>
                </a:solidFill>
                <a:latin typeface="Calibri"/>
              </a:rPr>
              <a:t>The chart caught me being sloppy, and the table had let me get away with it. I had written that staff time runs out long before the economics do.</a:t>
            </a:r>
          </a:p>
          <a:p>
            <a:pPr algn="l">
              <a:lnSpc>
                <a:spcPct val="120000"/>
              </a:lnSpc>
              <a:spcAft>
                <a:spcPts val="600"/>
              </a:spcAft>
            </a:pPr>
            <a:r>
              <a:rPr sz="1200" b="1">
                <a:solidFill>
                  <a:srgbClr val="1A1A1A"/>
                </a:solidFill>
                <a:latin typeface="Calibri"/>
              </a:rPr>
              <a:t>The 300 EUR curve peaks at 0.61, tighter than the capacity line.</a:t>
            </a:r>
          </a:p>
          <a:p>
            <a:pPr algn="l">
              <a:lnSpc>
                <a:spcPct val="120000"/>
              </a:lnSpc>
              <a:spcAft>
                <a:spcPts val="600"/>
              </a:spcAft>
            </a:pPr>
            <a:r>
              <a:rPr sz="1200" b="0">
                <a:solidFill>
                  <a:srgbClr val="595959"/>
                </a:solidFill>
                <a:latin typeface="Calibri"/>
              </a:rPr>
              <a:t>Staff capacity binds at 50 and 150 EUR per contact. At 300 EUR the money binds first, and the economics want fewer flags than the team could handle.</a:t>
            </a:r>
          </a:p>
          <a:p>
            <a:pPr algn="l">
              <a:lnSpc>
                <a:spcPct val="120000"/>
              </a:lnSpc>
              <a:spcAft>
                <a:spcPts val="600"/>
              </a:spcAft>
            </a:pPr>
            <a:r>
              <a:rPr sz="1200" b="1">
                <a:solidFill>
                  <a:srgbClr val="1A1A1A"/>
                </a:solidFill>
                <a:latin typeface="Calibri"/>
              </a:rPr>
              <a:t>At the deployed 0.445 the value holds, 171,942 / 123,595 / 51,074 per 1,000. At 150 EUR that is 1,700 below the best case, so capacity is nearly free.</a:t>
            </a:r>
          </a:p>
        </p:txBody>
      </p:sp>
      <p:sp>
        <p:nvSpPr>
          <p:cNvPr id="9" name="TextBox 8"/>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ranked list is the product. The binary flag is not. The cutoff goes at 0.445, to audit fairness and report one honest number.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66928" y="475488"/>
            <a:ext cx="457200" cy="457200"/>
          </a:xfrm>
          <a:prstGeom prst="ellipse">
            <a:avLst/>
          </a:prstGeom>
          <a:solidFill>
            <a:srgbClr val="FFCC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1A1A1A"/>
                </a:solidFill>
                <a:latin typeface="Cambria"/>
              </a:rPr>
              <a:t>2</a:t>
            </a:r>
          </a:p>
        </p:txBody>
      </p:sp>
      <p:sp>
        <p:nvSpPr>
          <p:cNvPr id="3" name="TextBox 2"/>
          <p:cNvSpPr txBox="1"/>
          <p:nvPr/>
        </p:nvSpPr>
        <p:spPr>
          <a:xfrm>
            <a:off x="1225296" y="457200"/>
            <a:ext cx="10399471"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SHAP ranked columns, not features</a:t>
            </a:r>
          </a:p>
        </p:txBody>
      </p:sp>
      <p:sp>
        <p:nvSpPr>
          <p:cNvPr id="4" name="TextBox 3"/>
          <p:cNvSpPr txBox="1"/>
          <p:nvPr/>
        </p:nvSpPr>
        <p:spPr>
          <a:xfrm>
            <a:off x="566928" y="1280160"/>
            <a:ext cx="6035040" cy="914400"/>
          </a:xfrm>
          <a:prstGeom prst="rect">
            <a:avLst/>
          </a:prstGeom>
          <a:noFill/>
        </p:spPr>
        <p:txBody>
          <a:bodyPr wrap="square" lIns="0" rIns="0" tIns="0" bIns="0">
            <a:spAutoFit/>
          </a:bodyPr>
          <a:lstStyle/>
          <a:p>
            <a:pPr algn="l">
              <a:lnSpc>
                <a:spcPct val="120000"/>
              </a:lnSpc>
              <a:spcAft>
                <a:spcPts val="600"/>
              </a:spcAft>
            </a:pPr>
            <a:r>
              <a:rPr sz="1300" b="0">
                <a:solidFill>
                  <a:srgbClr val="595959"/>
                </a:solidFill>
                <a:latin typeface="Calibri"/>
              </a:rPr>
              <a:t>The first chart plotted one bar per column of the design matrix. But Course is not a column. It is seventeen one-hot columns, so its importance got chopped into seventeen small bars while a single flag kept all of its weight in one place.</a:t>
            </a:r>
          </a:p>
        </p:txBody>
      </p:sp>
      <p:graphicFrame>
        <p:nvGraphicFramePr>
          <p:cNvPr id="5" name="Table 4"/>
          <p:cNvGraphicFramePr>
            <a:graphicFrameLocks noGrp="1"/>
          </p:cNvGraphicFramePr>
          <p:nvPr/>
        </p:nvGraphicFramePr>
        <p:xfrm>
          <a:off x="566928" y="2286000"/>
          <a:ext cx="6035039" cy="2048256"/>
        </p:xfrm>
        <a:graphic>
          <a:graphicData uri="http://schemas.openxmlformats.org/drawingml/2006/table">
            <a:tbl>
              <a:tblPr>
                <a:tableStyleId>{5C22544A-7EE6-4342-B048-85BDC9FD1C3A}</a:tableStyleId>
              </a:tblPr>
              <a:tblGrid>
                <a:gridCol w="2451735"/>
                <a:gridCol w="707231"/>
                <a:gridCol w="2168842"/>
                <a:gridCol w="707231"/>
              </a:tblGrid>
              <a:tr h="292608">
                <a:tc>
                  <a:txBody>
                    <a:bodyPr wrap="square"/>
                    <a:lstStyle/>
                    <a:p>
                      <a:pPr algn="l"/>
                      <a:r>
                        <a:rPr sz="1000" b="1">
                          <a:solidFill>
                            <a:srgbClr val="FFFFFF"/>
                          </a:solidFill>
                          <a:latin typeface="Calibri"/>
                        </a:rPr>
                        <a:t>Old, per encoded column</a:t>
                      </a:r>
                    </a:p>
                  </a:txBody>
                  <a:tcPr marL="64008" marR="64008" marT="9144" marB="9144" anchor="ctr">
                    <a:solidFill>
                      <a:srgbClr val="1A1A1A"/>
                    </a:solidFill>
                  </a:tcPr>
                </a:tc>
                <a:tc>
                  <a:txBody>
                    <a:bodyPr wrap="square"/>
                    <a:lstStyle/>
                    <a:p>
                      <a:pPr algn="r"/>
                      <a:r>
                        <a:rPr sz="1000" b="1">
                          <a:solidFill>
                            <a:srgbClr val="FFFFFF"/>
                          </a:solidFill>
                          <a:latin typeface="Calibri"/>
                        </a:rPr>
                        <a:t/>
                      </a:r>
                    </a:p>
                  </a:txBody>
                  <a:tcPr marL="64008" marR="64008" marT="9144" marB="9144" anchor="ctr">
                    <a:solidFill>
                      <a:srgbClr val="1A1A1A"/>
                    </a:solidFill>
                  </a:tcPr>
                </a:tc>
                <a:tc>
                  <a:txBody>
                    <a:bodyPr wrap="square"/>
                    <a:lstStyle/>
                    <a:p>
                      <a:pPr algn="r"/>
                      <a:r>
                        <a:rPr sz="1000" b="1">
                          <a:solidFill>
                            <a:srgbClr val="FFFFFF"/>
                          </a:solidFill>
                          <a:latin typeface="Calibri"/>
                        </a:rPr>
                        <a:t>Fixed, summed by feature</a:t>
                      </a:r>
                    </a:p>
                  </a:txBody>
                  <a:tcPr marL="64008" marR="64008" marT="9144" marB="9144" anchor="ctr">
                    <a:solidFill>
                      <a:srgbClr val="1A1A1A"/>
                    </a:solidFill>
                  </a:tcPr>
                </a:tc>
                <a:tc>
                  <a:txBody>
                    <a:bodyPr wrap="square"/>
                    <a:lstStyle/>
                    <a:p>
                      <a:pPr algn="r"/>
                      <a:r>
                        <a:rPr sz="1000" b="1">
                          <a:solidFill>
                            <a:srgbClr val="FFFFFF"/>
                          </a:solidFill>
                          <a:latin typeface="Calibri"/>
                        </a:rPr>
                        <a:t/>
                      </a:r>
                    </a:p>
                  </a:txBody>
                  <a:tcPr marL="64008" marR="64008" marT="9144" marB="9144" anchor="ctr">
                    <a:solidFill>
                      <a:srgbClr val="1A1A1A"/>
                    </a:solidFill>
                  </a:tcPr>
                </a:tc>
              </a:tr>
              <a:tr h="292608">
                <a:tc>
                  <a:txBody>
                    <a:bodyPr wrap="square"/>
                    <a:lstStyle/>
                    <a:p>
                      <a:pPr algn="l"/>
                      <a:r>
                        <a:rPr sz="1000" b="0">
                          <a:solidFill>
                            <a:srgbClr val="1A1A1A"/>
                          </a:solidFill>
                          <a:latin typeface="Calibri"/>
                        </a:rPr>
                        <a:t>flag__Tuition fees up to date</a:t>
                      </a:r>
                    </a:p>
                  </a:txBody>
                  <a:tcPr marL="64008" marR="64008" marT="9144" marB="9144" anchor="ctr">
                    <a:solidFill>
                      <a:srgbClr val="FFFFFF"/>
                    </a:solidFill>
                  </a:tcPr>
                </a:tc>
                <a:tc>
                  <a:txBody>
                    <a:bodyPr wrap="square"/>
                    <a:lstStyle/>
                    <a:p>
                      <a:pPr algn="r"/>
                      <a:r>
                        <a:rPr sz="1000" b="0">
                          <a:solidFill>
                            <a:srgbClr val="595959"/>
                          </a:solidFill>
                          <a:latin typeface="Calibri"/>
                        </a:rPr>
                        <a:t>0.680</a:t>
                      </a:r>
                    </a:p>
                  </a:txBody>
                  <a:tcPr marL="64008" marR="64008" marT="9144" marB="9144" anchor="ctr">
                    <a:solidFill>
                      <a:srgbClr val="FFFFFF"/>
                    </a:solidFill>
                  </a:tcPr>
                </a:tc>
                <a:tc>
                  <a:txBody>
                    <a:bodyPr wrap="square"/>
                    <a:lstStyle/>
                    <a:p>
                      <a:pPr algn="r"/>
                      <a:r>
                        <a:rPr sz="1000" b="0">
                          <a:solidFill>
                            <a:srgbClr val="595959"/>
                          </a:solidFill>
                          <a:latin typeface="Calibri"/>
                        </a:rPr>
                        <a:t>Course</a:t>
                      </a:r>
                    </a:p>
                  </a:txBody>
                  <a:tcPr marL="64008" marR="64008" marT="9144" marB="9144" anchor="ctr">
                    <a:solidFill>
                      <a:srgbClr val="FFFFFF"/>
                    </a:solidFill>
                  </a:tcPr>
                </a:tc>
                <a:tc>
                  <a:txBody>
                    <a:bodyPr wrap="square"/>
                    <a:lstStyle/>
                    <a:p>
                      <a:pPr algn="r"/>
                      <a:r>
                        <a:rPr sz="1000" b="0">
                          <a:solidFill>
                            <a:srgbClr val="595959"/>
                          </a:solidFill>
                          <a:latin typeface="Calibri"/>
                        </a:rPr>
                        <a:t>1.126</a:t>
                      </a:r>
                    </a:p>
                  </a:txBody>
                  <a:tcPr marL="64008" marR="64008" marT="9144" marB="9144" anchor="ctr">
                    <a:solidFill>
                      <a:srgbClr val="FFFFFF"/>
                    </a:solidFill>
                  </a:tcPr>
                </a:tc>
              </a:tr>
              <a:tr h="292608">
                <a:tc>
                  <a:txBody>
                    <a:bodyPr wrap="square"/>
                    <a:lstStyle/>
                    <a:p>
                      <a:pPr algn="l"/>
                      <a:r>
                        <a:rPr sz="1000" b="0">
                          <a:solidFill>
                            <a:srgbClr val="1A1A1A"/>
                          </a:solidFill>
                          <a:latin typeface="Calibri"/>
                        </a:rPr>
                        <a:t>flag__Scholarship holder</a:t>
                      </a:r>
                    </a:p>
                  </a:txBody>
                  <a:tcPr marL="64008" marR="64008" marT="9144" marB="9144" anchor="ctr">
                    <a:solidFill>
                      <a:srgbClr val="F2F2F2"/>
                    </a:solidFill>
                  </a:tcPr>
                </a:tc>
                <a:tc>
                  <a:txBody>
                    <a:bodyPr wrap="square"/>
                    <a:lstStyle/>
                    <a:p>
                      <a:pPr algn="r"/>
                      <a:r>
                        <a:rPr sz="1000" b="0">
                          <a:solidFill>
                            <a:srgbClr val="595959"/>
                          </a:solidFill>
                          <a:latin typeface="Calibri"/>
                        </a:rPr>
                        <a:t>0.507</a:t>
                      </a:r>
                    </a:p>
                  </a:txBody>
                  <a:tcPr marL="64008" marR="64008" marT="9144" marB="9144" anchor="ctr">
                    <a:solidFill>
                      <a:srgbClr val="F2F2F2"/>
                    </a:solidFill>
                  </a:tcPr>
                </a:tc>
                <a:tc>
                  <a:txBody>
                    <a:bodyPr wrap="square"/>
                    <a:lstStyle/>
                    <a:p>
                      <a:pPr algn="r"/>
                      <a:r>
                        <a:rPr sz="1000" b="0">
                          <a:solidFill>
                            <a:srgbClr val="595959"/>
                          </a:solidFill>
                          <a:latin typeface="Calibri"/>
                        </a:rPr>
                        <a:t>Tuition fees up to date</a:t>
                      </a:r>
                    </a:p>
                  </a:txBody>
                  <a:tcPr marL="64008" marR="64008" marT="9144" marB="9144" anchor="ctr">
                    <a:solidFill>
                      <a:srgbClr val="F2F2F2"/>
                    </a:solidFill>
                  </a:tcPr>
                </a:tc>
                <a:tc>
                  <a:txBody>
                    <a:bodyPr wrap="square"/>
                    <a:lstStyle/>
                    <a:p>
                      <a:pPr algn="r"/>
                      <a:r>
                        <a:rPr sz="1000" b="0">
                          <a:solidFill>
                            <a:srgbClr val="595959"/>
                          </a:solidFill>
                          <a:latin typeface="Calibri"/>
                        </a:rPr>
                        <a:t>0.680</a:t>
                      </a:r>
                    </a:p>
                  </a:txBody>
                  <a:tcPr marL="64008" marR="64008" marT="9144" marB="9144" anchor="ctr">
                    <a:solidFill>
                      <a:srgbClr val="F2F2F2"/>
                    </a:solidFill>
                  </a:tcPr>
                </a:tc>
              </a:tr>
              <a:tr h="292608">
                <a:tc>
                  <a:txBody>
                    <a:bodyPr wrap="square"/>
                    <a:lstStyle/>
                    <a:p>
                      <a:pPr algn="l"/>
                      <a:r>
                        <a:rPr sz="1000" b="0">
                          <a:solidFill>
                            <a:srgbClr val="1A1A1A"/>
                          </a:solidFill>
                          <a:latin typeface="Calibri"/>
                        </a:rPr>
                        <a:t>flag__mature entry</a:t>
                      </a:r>
                    </a:p>
                  </a:txBody>
                  <a:tcPr marL="64008" marR="64008" marT="9144" marB="9144" anchor="ctr">
                    <a:solidFill>
                      <a:srgbClr val="FFFFFF"/>
                    </a:solidFill>
                  </a:tcPr>
                </a:tc>
                <a:tc>
                  <a:txBody>
                    <a:bodyPr wrap="square"/>
                    <a:lstStyle/>
                    <a:p>
                      <a:pPr algn="r"/>
                      <a:r>
                        <a:rPr sz="1000" b="0">
                          <a:solidFill>
                            <a:srgbClr val="595959"/>
                          </a:solidFill>
                          <a:latin typeface="Calibri"/>
                        </a:rPr>
                        <a:t>0.436</a:t>
                      </a:r>
                    </a:p>
                  </a:txBody>
                  <a:tcPr marL="64008" marR="64008" marT="9144" marB="9144" anchor="ctr">
                    <a:solidFill>
                      <a:srgbClr val="FFFFFF"/>
                    </a:solidFill>
                  </a:tcPr>
                </a:tc>
                <a:tc>
                  <a:txBody>
                    <a:bodyPr wrap="square"/>
                    <a:lstStyle/>
                    <a:p>
                      <a:pPr algn="r"/>
                      <a:r>
                        <a:rPr sz="1000" b="0">
                          <a:solidFill>
                            <a:srgbClr val="595959"/>
                          </a:solidFill>
                          <a:latin typeface="Calibri"/>
                        </a:rPr>
                        <a:t>mother isco</a:t>
                      </a:r>
                    </a:p>
                  </a:txBody>
                  <a:tcPr marL="64008" marR="64008" marT="9144" marB="9144" anchor="ctr">
                    <a:solidFill>
                      <a:srgbClr val="FFFFFF"/>
                    </a:solidFill>
                  </a:tcPr>
                </a:tc>
                <a:tc>
                  <a:txBody>
                    <a:bodyPr wrap="square"/>
                    <a:lstStyle/>
                    <a:p>
                      <a:pPr algn="r"/>
                      <a:r>
                        <a:rPr sz="1000" b="0">
                          <a:solidFill>
                            <a:srgbClr val="595959"/>
                          </a:solidFill>
                          <a:latin typeface="Calibri"/>
                        </a:rPr>
                        <a:t>0.509</a:t>
                      </a:r>
                    </a:p>
                  </a:txBody>
                  <a:tcPr marL="64008" marR="64008" marT="9144" marB="9144" anchor="ctr">
                    <a:solidFill>
                      <a:srgbClr val="FFFFFF"/>
                    </a:solidFill>
                  </a:tcPr>
                </a:tc>
              </a:tr>
              <a:tr h="292608">
                <a:tc>
                  <a:txBody>
                    <a:bodyPr wrap="square"/>
                    <a:lstStyle/>
                    <a:p>
                      <a:pPr algn="l"/>
                      <a:r>
                        <a:rPr sz="1000" b="0">
                          <a:solidFill>
                            <a:srgbClr val="1A1A1A"/>
                          </a:solidFill>
                          <a:latin typeface="Calibri"/>
                        </a:rPr>
                        <a:t>flag__Gender</a:t>
                      </a:r>
                    </a:p>
                  </a:txBody>
                  <a:tcPr marL="64008" marR="64008" marT="9144" marB="9144" anchor="ctr">
                    <a:solidFill>
                      <a:srgbClr val="F2F2F2"/>
                    </a:solidFill>
                  </a:tcPr>
                </a:tc>
                <a:tc>
                  <a:txBody>
                    <a:bodyPr wrap="square"/>
                    <a:lstStyle/>
                    <a:p>
                      <a:pPr algn="r"/>
                      <a:r>
                        <a:rPr sz="1000" b="0">
                          <a:solidFill>
                            <a:srgbClr val="595959"/>
                          </a:solidFill>
                          <a:latin typeface="Calibri"/>
                        </a:rPr>
                        <a:t>0.301</a:t>
                      </a:r>
                    </a:p>
                  </a:txBody>
                  <a:tcPr marL="64008" marR="64008" marT="9144" marB="9144" anchor="ctr">
                    <a:solidFill>
                      <a:srgbClr val="F2F2F2"/>
                    </a:solidFill>
                  </a:tcPr>
                </a:tc>
                <a:tc>
                  <a:txBody>
                    <a:bodyPr wrap="square"/>
                    <a:lstStyle/>
                    <a:p>
                      <a:pPr algn="r"/>
                      <a:r>
                        <a:rPr sz="1000" b="0">
                          <a:solidFill>
                            <a:srgbClr val="595959"/>
                          </a:solidFill>
                          <a:latin typeface="Calibri"/>
                        </a:rPr>
                        <a:t>Scholarship holder</a:t>
                      </a:r>
                    </a:p>
                  </a:txBody>
                  <a:tcPr marL="64008" marR="64008" marT="9144" marB="9144" anchor="ctr">
                    <a:solidFill>
                      <a:srgbClr val="F2F2F2"/>
                    </a:solidFill>
                  </a:tcPr>
                </a:tc>
                <a:tc>
                  <a:txBody>
                    <a:bodyPr wrap="square"/>
                    <a:lstStyle/>
                    <a:p>
                      <a:pPr algn="r"/>
                      <a:r>
                        <a:rPr sz="1000" b="0">
                          <a:solidFill>
                            <a:srgbClr val="595959"/>
                          </a:solidFill>
                          <a:latin typeface="Calibri"/>
                        </a:rPr>
                        <a:t>0.507</a:t>
                      </a:r>
                    </a:p>
                  </a:txBody>
                  <a:tcPr marL="64008" marR="64008" marT="9144" marB="9144" anchor="ctr">
                    <a:solidFill>
                      <a:srgbClr val="F2F2F2"/>
                    </a:solidFill>
                  </a:tcPr>
                </a:tc>
              </a:tr>
              <a:tr h="292608">
                <a:tc>
                  <a:txBody>
                    <a:bodyPr wrap="square"/>
                    <a:lstStyle/>
                    <a:p>
                      <a:pPr algn="l"/>
                      <a:r>
                        <a:rPr sz="1000" b="1">
                          <a:solidFill>
                            <a:srgbClr val="1A1A1A"/>
                          </a:solidFill>
                          <a:latin typeface="Calibri"/>
                        </a:rPr>
                        <a:t>cat__Course_9500</a:t>
                      </a:r>
                    </a:p>
                  </a:txBody>
                  <a:tcPr marL="64008" marR="64008" marT="9144" marB="9144" anchor="ctr">
                    <a:solidFill>
                      <a:srgbClr val="FFF3CC"/>
                    </a:solidFill>
                  </a:tcPr>
                </a:tc>
                <a:tc>
                  <a:txBody>
                    <a:bodyPr wrap="square"/>
                    <a:lstStyle/>
                    <a:p>
                      <a:pPr algn="r"/>
                      <a:r>
                        <a:rPr sz="1000" b="1">
                          <a:solidFill>
                            <a:srgbClr val="1A1A1A"/>
                          </a:solidFill>
                          <a:latin typeface="Calibri"/>
                        </a:rPr>
                        <a:t>0.284</a:t>
                      </a:r>
                    </a:p>
                  </a:txBody>
                  <a:tcPr marL="64008" marR="64008" marT="9144" marB="9144" anchor="ctr">
                    <a:solidFill>
                      <a:srgbClr val="FFF3CC"/>
                    </a:solidFill>
                  </a:tcPr>
                </a:tc>
                <a:tc>
                  <a:txBody>
                    <a:bodyPr wrap="square"/>
                    <a:lstStyle/>
                    <a:p>
                      <a:pPr algn="r"/>
                      <a:r>
                        <a:rPr sz="1000" b="1">
                          <a:solidFill>
                            <a:srgbClr val="1A1A1A"/>
                          </a:solidFill>
                          <a:latin typeface="Calibri"/>
                        </a:rPr>
                        <a:t>mature entry</a:t>
                      </a:r>
                    </a:p>
                  </a:txBody>
                  <a:tcPr marL="64008" marR="64008" marT="9144" marB="9144" anchor="ctr">
                    <a:solidFill>
                      <a:srgbClr val="FFF3CC"/>
                    </a:solidFill>
                  </a:tcPr>
                </a:tc>
                <a:tc>
                  <a:txBody>
                    <a:bodyPr wrap="square"/>
                    <a:lstStyle/>
                    <a:p>
                      <a:pPr algn="r"/>
                      <a:r>
                        <a:rPr sz="1000" b="1">
                          <a:solidFill>
                            <a:srgbClr val="1A1A1A"/>
                          </a:solidFill>
                          <a:latin typeface="Calibri"/>
                        </a:rPr>
                        <a:t>0.436</a:t>
                      </a:r>
                    </a:p>
                  </a:txBody>
                  <a:tcPr marL="64008" marR="64008" marT="9144" marB="9144" anchor="ctr">
                    <a:solidFill>
                      <a:srgbClr val="FFF3CC"/>
                    </a:solidFill>
                  </a:tcPr>
                </a:tc>
              </a:tr>
              <a:tr h="292608">
                <a:tc>
                  <a:txBody>
                    <a:bodyPr wrap="square"/>
                    <a:lstStyle/>
                    <a:p>
                      <a:pPr algn="l"/>
                      <a:r>
                        <a:rPr sz="1000" b="0">
                          <a:solidFill>
                            <a:srgbClr val="1A1A1A"/>
                          </a:solidFill>
                          <a:latin typeface="Calibri"/>
                        </a:rPr>
                        <a:t>num__Admission grade</a:t>
                      </a:r>
                    </a:p>
                  </a:txBody>
                  <a:tcPr marL="64008" marR="64008" marT="9144" marB="9144" anchor="ctr">
                    <a:solidFill>
                      <a:srgbClr val="F2F2F2"/>
                    </a:solidFill>
                  </a:tcPr>
                </a:tc>
                <a:tc>
                  <a:txBody>
                    <a:bodyPr wrap="square"/>
                    <a:lstStyle/>
                    <a:p>
                      <a:pPr algn="r"/>
                      <a:r>
                        <a:rPr sz="1000" b="0">
                          <a:solidFill>
                            <a:srgbClr val="595959"/>
                          </a:solidFill>
                          <a:latin typeface="Calibri"/>
                        </a:rPr>
                        <a:t>0.245</a:t>
                      </a:r>
                    </a:p>
                  </a:txBody>
                  <a:tcPr marL="64008" marR="64008" marT="9144" marB="9144" anchor="ctr">
                    <a:solidFill>
                      <a:srgbClr val="F2F2F2"/>
                    </a:solidFill>
                  </a:tcPr>
                </a:tc>
                <a:tc>
                  <a:txBody>
                    <a:bodyPr wrap="square"/>
                    <a:lstStyle/>
                    <a:p>
                      <a:pPr algn="r"/>
                      <a:r>
                        <a:rPr sz="1000" b="0">
                          <a:solidFill>
                            <a:srgbClr val="595959"/>
                          </a:solidFill>
                          <a:latin typeface="Calibri"/>
                        </a:rPr>
                        <a:t>Gender</a:t>
                      </a:r>
                    </a:p>
                  </a:txBody>
                  <a:tcPr marL="64008" marR="64008" marT="9144" marB="9144" anchor="ctr">
                    <a:solidFill>
                      <a:srgbClr val="F2F2F2"/>
                    </a:solidFill>
                  </a:tcPr>
                </a:tc>
                <a:tc>
                  <a:txBody>
                    <a:bodyPr wrap="square"/>
                    <a:lstStyle/>
                    <a:p>
                      <a:pPr algn="r"/>
                      <a:r>
                        <a:rPr sz="1000" b="0">
                          <a:solidFill>
                            <a:srgbClr val="595959"/>
                          </a:solidFill>
                          <a:latin typeface="Calibri"/>
                        </a:rPr>
                        <a:t>0.301</a:t>
                      </a:r>
                    </a:p>
                  </a:txBody>
                  <a:tcPr marL="64008" marR="64008" marT="9144" marB="9144" anchor="ctr">
                    <a:solidFill>
                      <a:srgbClr val="F2F2F2"/>
                    </a:solidFill>
                  </a:tcPr>
                </a:tc>
              </a:tr>
            </a:tbl>
          </a:graphicData>
        </a:graphic>
      </p:graphicFrame>
      <p:sp>
        <p:nvSpPr>
          <p:cNvPr id="6" name="TextBox 5"/>
          <p:cNvSpPr txBox="1"/>
          <p:nvPr/>
        </p:nvSpPr>
        <p:spPr>
          <a:xfrm>
            <a:off x="566928" y="4434840"/>
            <a:ext cx="6035040" cy="1097280"/>
          </a:xfrm>
          <a:prstGeom prst="rect">
            <a:avLst/>
          </a:prstGeom>
          <a:noFill/>
        </p:spPr>
        <p:txBody>
          <a:bodyPr wrap="square" lIns="0" rIns="0" tIns="0" bIns="0">
            <a:spAutoFit/>
          </a:bodyPr>
          <a:lstStyle/>
          <a:p>
            <a:pPr algn="l">
              <a:lnSpc>
                <a:spcPct val="120000"/>
              </a:lnSpc>
              <a:spcAft>
                <a:spcPts val="600"/>
              </a:spcAft>
            </a:pPr>
            <a:r>
              <a:rPr sz="1300" b="1">
                <a:solidFill>
                  <a:srgbClr val="1A1A1A"/>
                </a:solidFill>
                <a:latin typeface="Calibri"/>
              </a:rPr>
              <a:t>cat__Course_9500 is the proof.</a:t>
            </a:r>
            <a:r>
              <a:rPr sz="1300" b="0">
                <a:solidFill>
                  <a:srgbClr val="595959"/>
                </a:solidFill>
                <a:latin typeface="Calibri"/>
              </a:rPr>
              <a:t> The largest single fragment of the strongest feature in the model sat fifth, behind three binary flags. Mother's occupation did not appear at all.</a:t>
            </a:r>
          </a:p>
        </p:txBody>
      </p:sp>
      <p:pic>
        <p:nvPicPr>
          <p:cNvPr id="7" name="Picture 6" descr="shap_importance.png"/>
          <p:cNvPicPr>
            <a:picLocks noChangeAspect="1"/>
          </p:cNvPicPr>
          <p:nvPr/>
        </p:nvPicPr>
        <p:blipFill>
          <a:blip r:embed="rId2"/>
          <a:stretch>
            <a:fillRect/>
          </a:stretch>
        </p:blipFill>
        <p:spPr>
          <a:xfrm>
            <a:off x="6812280" y="1280160"/>
            <a:ext cx="4846320" cy="3028950"/>
          </a:xfrm>
          <a:prstGeom prst="rect">
            <a:avLst/>
          </a:prstGeom>
        </p:spPr>
      </p:pic>
      <p:pic>
        <p:nvPicPr>
          <p:cNvPr id="8" name="Picture 7" descr="pdp.png"/>
          <p:cNvPicPr>
            <a:picLocks noChangeAspect="1"/>
          </p:cNvPicPr>
          <p:nvPr/>
        </p:nvPicPr>
        <p:blipFill>
          <a:blip r:embed="rId3"/>
          <a:stretch>
            <a:fillRect/>
          </a:stretch>
        </p:blipFill>
        <p:spPr>
          <a:xfrm>
            <a:off x="6812280" y="4526280"/>
            <a:ext cx="4846320" cy="1762298"/>
          </a:xfrm>
          <a:prstGeom prst="rect">
            <a:avLst/>
          </a:prstGeom>
        </p:spPr>
      </p:pic>
      <p:sp>
        <p:nvSpPr>
          <p:cNvPr id="9" name="TextBox 8"/>
          <p:cNvSpPr txBox="1"/>
          <p:nvPr/>
        </p:nvSpPr>
        <p:spPr>
          <a:xfrm>
            <a:off x="6812280" y="6382512"/>
            <a:ext cx="4846320" cy="365760"/>
          </a:xfrm>
          <a:prstGeom prst="rect">
            <a:avLst/>
          </a:prstGeom>
          <a:noFill/>
        </p:spPr>
        <p:txBody>
          <a:bodyPr wrap="square" lIns="0" rIns="0" tIns="0" bIns="0">
            <a:spAutoFit/>
          </a:bodyPr>
          <a:lstStyle/>
          <a:p>
            <a:pPr algn="l">
              <a:spcAft>
                <a:spcPts val="600"/>
              </a:spcAft>
            </a:pPr>
            <a:r>
              <a:rPr sz="900" b="0">
                <a:solidFill>
                  <a:srgbClr val="767676"/>
                </a:solidFill>
                <a:latin typeface="Calibri"/>
              </a:rPr>
              <a:t>Partial dependence with ICE. The lines run parallel, a check passing rather than a finding.</a:t>
            </a:r>
          </a:p>
        </p:txBody>
      </p:sp>
      <p:sp>
        <p:nvSpPr>
          <p:cNvPr id="10" name="TextBox 9"/>
          <p:cNvSpPr txBox="1"/>
          <p:nvPr/>
        </p:nvSpPr>
        <p:spPr>
          <a:xfrm>
            <a:off x="566928" y="5623560"/>
            <a:ext cx="6035040" cy="91440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Course far ahead at 1.126. Neither a course nor a parent's occupation is a warning a student can act on. The model substantially finds students who started from further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66928" y="475488"/>
            <a:ext cx="457200" cy="457200"/>
          </a:xfrm>
          <a:prstGeom prst="ellipse">
            <a:avLst/>
          </a:prstGeom>
          <a:solidFill>
            <a:srgbClr val="FFCC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1A1A1A"/>
                </a:solidFill>
                <a:latin typeface="Cambria"/>
              </a:rPr>
              <a:t>3</a:t>
            </a:r>
          </a:p>
        </p:txBody>
      </p:sp>
      <p:sp>
        <p:nvSpPr>
          <p:cNvPr id="3" name="TextBox 2"/>
          <p:cNvSpPr txBox="1"/>
          <p:nvPr/>
        </p:nvSpPr>
        <p:spPr>
          <a:xfrm>
            <a:off x="1225296" y="457200"/>
            <a:ext cx="10399471"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Demographic parity asked the wrong question</a:t>
            </a:r>
          </a:p>
        </p:txBody>
      </p:sp>
      <p:sp>
        <p:nvSpPr>
          <p:cNvPr id="4" name="TextBox 3"/>
          <p:cNvSpPr txBox="1"/>
          <p:nvPr/>
        </p:nvSpPr>
        <p:spPr>
          <a:xfrm>
            <a:off x="566928" y="1280160"/>
            <a:ext cx="11057839" cy="822960"/>
          </a:xfrm>
          <a:prstGeom prst="rect">
            <a:avLst/>
          </a:prstGeom>
          <a:noFill/>
        </p:spPr>
        <p:txBody>
          <a:bodyPr wrap="square" lIns="0" rIns="0" tIns="0" bIns="0">
            <a:spAutoFit/>
          </a:bodyPr>
          <a:lstStyle/>
          <a:p>
            <a:pPr algn="l">
              <a:lnSpc>
                <a:spcPct val="120000"/>
              </a:lnSpc>
              <a:spcAft>
                <a:spcPts val="600"/>
              </a:spcAft>
            </a:pPr>
            <a:r>
              <a:rPr sz="1300" b="0">
                <a:solidFill>
                  <a:srgbClr val="595959"/>
                </a:solidFill>
                <a:latin typeface="Calibri"/>
              </a:rPr>
              <a:t>Debtors drop out at 76 percent against 34. Demanding the model flag both groups equally is demanding it be wrong on purpose. So the real-world gap goes into the table, next to the metric. If the flagging gap is about the size of the outcome gap, the model reports a disparity. If it is bigger, the model makes one.</a:t>
            </a:r>
          </a:p>
        </p:txBody>
      </p:sp>
      <p:graphicFrame>
        <p:nvGraphicFramePr>
          <p:cNvPr id="5" name="Table 4"/>
          <p:cNvGraphicFramePr>
            <a:graphicFrameLocks noGrp="1"/>
          </p:cNvGraphicFramePr>
          <p:nvPr/>
        </p:nvGraphicFramePr>
        <p:xfrm>
          <a:off x="566928" y="2286000"/>
          <a:ext cx="6766557" cy="1783080"/>
        </p:xfrm>
        <a:graphic>
          <a:graphicData uri="http://schemas.openxmlformats.org/drawingml/2006/table">
            <a:tbl>
              <a:tblPr>
                <a:tableStyleId>{5C22544A-7EE6-4342-B048-85BDC9FD1C3A}</a:tableStyleId>
              </a:tblPr>
              <a:tblGrid>
                <a:gridCol w="1655129"/>
                <a:gridCol w="973605"/>
                <a:gridCol w="1217007"/>
                <a:gridCol w="876245"/>
                <a:gridCol w="973605"/>
                <a:gridCol w="1070966"/>
              </a:tblGrid>
              <a:tr h="356616">
                <a:tc>
                  <a:txBody>
                    <a:bodyPr wrap="square"/>
                    <a:lstStyle/>
                    <a:p>
                      <a:pPr algn="l"/>
                      <a:r>
                        <a:rPr sz="1000" b="1">
                          <a:solidFill>
                            <a:srgbClr val="FFFFFF"/>
                          </a:solidFill>
                          <a:latin typeface="Calibri"/>
                        </a:rPr>
                        <a:t>Attribute</a:t>
                      </a:r>
                    </a:p>
                  </a:txBody>
                  <a:tcPr marL="64008" marR="64008" marT="9144" marB="9144" anchor="ctr">
                    <a:solidFill>
                      <a:srgbClr val="1A1A1A"/>
                    </a:solidFill>
                  </a:tcPr>
                </a:tc>
                <a:tc>
                  <a:txBody>
                    <a:bodyPr wrap="square"/>
                    <a:lstStyle/>
                    <a:p>
                      <a:pPr algn="r"/>
                      <a:r>
                        <a:rPr sz="1000" b="1">
                          <a:solidFill>
                            <a:srgbClr val="FFFFFF"/>
                          </a:solidFill>
                          <a:latin typeface="Calibri"/>
                        </a:rPr>
                        <a:t>Real gap</a:t>
                      </a:r>
                    </a:p>
                  </a:txBody>
                  <a:tcPr marL="64008" marR="64008" marT="9144" marB="9144" anchor="ctr">
                    <a:solidFill>
                      <a:srgbClr val="1A1A1A"/>
                    </a:solidFill>
                  </a:tcPr>
                </a:tc>
                <a:tc>
                  <a:txBody>
                    <a:bodyPr wrap="square"/>
                    <a:lstStyle/>
                    <a:p>
                      <a:pPr algn="r"/>
                      <a:r>
                        <a:rPr sz="1000" b="1">
                          <a:solidFill>
                            <a:srgbClr val="FFFFFF"/>
                          </a:solidFill>
                          <a:latin typeface="Calibri"/>
                        </a:rPr>
                        <a:t>Flagging gap</a:t>
                      </a:r>
                    </a:p>
                  </a:txBody>
                  <a:tcPr marL="64008" marR="64008" marT="9144" marB="9144" anchor="ctr">
                    <a:solidFill>
                      <a:srgbClr val="1A1A1A"/>
                    </a:solidFill>
                  </a:tcPr>
                </a:tc>
                <a:tc>
                  <a:txBody>
                    <a:bodyPr wrap="square"/>
                    <a:lstStyle/>
                    <a:p>
                      <a:pPr algn="r"/>
                      <a:r>
                        <a:rPr sz="1000" b="1">
                          <a:solidFill>
                            <a:srgbClr val="FFFFFF"/>
                          </a:solidFill>
                          <a:latin typeface="Calibri"/>
                        </a:rPr>
                        <a:t>DI ratio</a:t>
                      </a:r>
                    </a:p>
                  </a:txBody>
                  <a:tcPr marL="64008" marR="64008" marT="9144" marB="9144" anchor="ctr">
                    <a:solidFill>
                      <a:srgbClr val="1A1A1A"/>
                    </a:solidFill>
                  </a:tcPr>
                </a:tc>
                <a:tc>
                  <a:txBody>
                    <a:bodyPr wrap="square"/>
                    <a:lstStyle/>
                    <a:p>
                      <a:pPr algn="r"/>
                      <a:r>
                        <a:rPr sz="1000" b="1">
                          <a:solidFill>
                            <a:srgbClr val="FFFFFF"/>
                          </a:solidFill>
                          <a:latin typeface="Calibri"/>
                        </a:rPr>
                        <a:t>Error gap</a:t>
                      </a:r>
                    </a:p>
                  </a:txBody>
                  <a:tcPr marL="64008" marR="64008" marT="9144" marB="9144" anchor="ctr">
                    <a:solidFill>
                      <a:srgbClr val="1A1A1A"/>
                    </a:solidFill>
                  </a:tcPr>
                </a:tc>
                <a:tc>
                  <a:txBody>
                    <a:bodyPr wrap="square"/>
                    <a:lstStyle/>
                    <a:p>
                      <a:pPr algn="r"/>
                      <a:r>
                        <a:rPr sz="1000" b="1">
                          <a:solidFill>
                            <a:srgbClr val="FFFFFF"/>
                          </a:solidFill>
                          <a:latin typeface="Calibri"/>
                        </a:rPr>
                        <a:t>Recall gap</a:t>
                      </a:r>
                    </a:p>
                  </a:txBody>
                  <a:tcPr marL="64008" marR="64008" marT="9144" marB="9144" anchor="ctr">
                    <a:solidFill>
                      <a:srgbClr val="1A1A1A"/>
                    </a:solidFill>
                  </a:tcPr>
                </a:tc>
              </a:tr>
              <a:tr h="356616">
                <a:tc>
                  <a:txBody>
                    <a:bodyPr wrap="square"/>
                    <a:lstStyle/>
                    <a:p>
                      <a:pPr algn="l"/>
                      <a:r>
                        <a:rPr sz="1100" b="1">
                          <a:solidFill>
                            <a:srgbClr val="1A1A1A"/>
                          </a:solidFill>
                          <a:latin typeface="Calibri"/>
                        </a:rPr>
                        <a:t>Gender</a:t>
                      </a:r>
                    </a:p>
                  </a:txBody>
                  <a:tcPr marL="64008" marR="64008" marT="9144" marB="9144" anchor="ctr">
                    <a:solidFill>
                      <a:srgbClr val="FFF3CC"/>
                    </a:solidFill>
                  </a:tcPr>
                </a:tc>
                <a:tc>
                  <a:txBody>
                    <a:bodyPr wrap="square"/>
                    <a:lstStyle/>
                    <a:p>
                      <a:pPr algn="r"/>
                      <a:r>
                        <a:rPr sz="1100" b="1">
                          <a:solidFill>
                            <a:srgbClr val="1A1A1A"/>
                          </a:solidFill>
                          <a:latin typeface="Calibri"/>
                        </a:rPr>
                        <a:t>0.238</a:t>
                      </a:r>
                    </a:p>
                  </a:txBody>
                  <a:tcPr marL="64008" marR="64008" marT="9144" marB="9144" anchor="ctr">
                    <a:solidFill>
                      <a:srgbClr val="FFF3CC"/>
                    </a:solidFill>
                  </a:tcPr>
                </a:tc>
                <a:tc>
                  <a:txBody>
                    <a:bodyPr wrap="square"/>
                    <a:lstStyle/>
                    <a:p>
                      <a:pPr algn="r"/>
                      <a:r>
                        <a:rPr sz="1100" b="1">
                          <a:solidFill>
                            <a:srgbClr val="1A1A1A"/>
                          </a:solidFill>
                          <a:latin typeface="Calibri"/>
                        </a:rPr>
                        <a:t>0.350</a:t>
                      </a:r>
                    </a:p>
                  </a:txBody>
                  <a:tcPr marL="64008" marR="64008" marT="9144" marB="9144" anchor="ctr">
                    <a:solidFill>
                      <a:srgbClr val="FFF3CC"/>
                    </a:solidFill>
                  </a:tcPr>
                </a:tc>
                <a:tc>
                  <a:txBody>
                    <a:bodyPr wrap="square"/>
                    <a:lstStyle/>
                    <a:p>
                      <a:pPr algn="r"/>
                      <a:r>
                        <a:rPr sz="1100" b="1">
                          <a:solidFill>
                            <a:srgbClr val="1A1A1A"/>
                          </a:solidFill>
                          <a:latin typeface="Calibri"/>
                        </a:rPr>
                        <a:t>0.496</a:t>
                      </a:r>
                    </a:p>
                  </a:txBody>
                  <a:tcPr marL="64008" marR="64008" marT="9144" marB="9144" anchor="ctr">
                    <a:solidFill>
                      <a:srgbClr val="FFF3CC"/>
                    </a:solidFill>
                  </a:tcPr>
                </a:tc>
                <a:tc>
                  <a:txBody>
                    <a:bodyPr wrap="square"/>
                    <a:lstStyle/>
                    <a:p>
                      <a:pPr algn="r"/>
                      <a:r>
                        <a:rPr sz="1100" b="1">
                          <a:solidFill>
                            <a:srgbClr val="1A1A1A"/>
                          </a:solidFill>
                          <a:latin typeface="Calibri"/>
                        </a:rPr>
                        <a:t>0.290</a:t>
                      </a:r>
                    </a:p>
                  </a:txBody>
                  <a:tcPr marL="64008" marR="64008" marT="9144" marB="9144" anchor="ctr">
                    <a:solidFill>
                      <a:srgbClr val="FFF3CC"/>
                    </a:solidFill>
                  </a:tcPr>
                </a:tc>
                <a:tc>
                  <a:txBody>
                    <a:bodyPr wrap="square"/>
                    <a:lstStyle/>
                    <a:p>
                      <a:pPr algn="r"/>
                      <a:r>
                        <a:rPr sz="1100" b="1">
                          <a:solidFill>
                            <a:srgbClr val="1A1A1A"/>
                          </a:solidFill>
                          <a:latin typeface="Calibri"/>
                        </a:rPr>
                        <a:t>0.177</a:t>
                      </a:r>
                    </a:p>
                  </a:txBody>
                  <a:tcPr marL="64008" marR="64008" marT="9144" marB="9144" anchor="ctr">
                    <a:solidFill>
                      <a:srgbClr val="FFF3CC"/>
                    </a:solidFill>
                  </a:tcPr>
                </a:tc>
              </a:tr>
              <a:tr h="356616">
                <a:tc>
                  <a:txBody>
                    <a:bodyPr wrap="square"/>
                    <a:lstStyle/>
                    <a:p>
                      <a:pPr algn="l"/>
                      <a:r>
                        <a:rPr sz="1100" b="0">
                          <a:solidFill>
                            <a:srgbClr val="1A1A1A"/>
                          </a:solidFill>
                          <a:latin typeface="Calibri"/>
                        </a:rPr>
                        <a:t>Scholarship</a:t>
                      </a:r>
                    </a:p>
                  </a:txBody>
                  <a:tcPr marL="64008" marR="64008" marT="9144" marB="9144" anchor="ctr">
                    <a:solidFill>
                      <a:srgbClr val="F2F2F2"/>
                    </a:solidFill>
                  </a:tcPr>
                </a:tc>
                <a:tc>
                  <a:txBody>
                    <a:bodyPr wrap="square"/>
                    <a:lstStyle/>
                    <a:p>
                      <a:pPr algn="r"/>
                      <a:r>
                        <a:rPr sz="1100" b="0">
                          <a:solidFill>
                            <a:srgbClr val="595959"/>
                          </a:solidFill>
                          <a:latin typeface="Calibri"/>
                        </a:rPr>
                        <a:t>0.318</a:t>
                      </a:r>
                    </a:p>
                  </a:txBody>
                  <a:tcPr marL="64008" marR="64008" marT="9144" marB="9144" anchor="ctr">
                    <a:solidFill>
                      <a:srgbClr val="F2F2F2"/>
                    </a:solidFill>
                  </a:tcPr>
                </a:tc>
                <a:tc>
                  <a:txBody>
                    <a:bodyPr wrap="square"/>
                    <a:lstStyle/>
                    <a:p>
                      <a:pPr algn="r"/>
                      <a:r>
                        <a:rPr sz="1100" b="0">
                          <a:solidFill>
                            <a:srgbClr val="595959"/>
                          </a:solidFill>
                          <a:latin typeface="Calibri"/>
                        </a:rPr>
                        <a:t>0.500</a:t>
                      </a:r>
                    </a:p>
                  </a:txBody>
                  <a:tcPr marL="64008" marR="64008" marT="9144" marB="9144" anchor="ctr">
                    <a:solidFill>
                      <a:srgbClr val="F2F2F2"/>
                    </a:solidFill>
                  </a:tcPr>
                </a:tc>
                <a:tc>
                  <a:txBody>
                    <a:bodyPr wrap="square"/>
                    <a:lstStyle/>
                    <a:p>
                      <a:pPr algn="r"/>
                      <a:r>
                        <a:rPr sz="1100" b="0">
                          <a:solidFill>
                            <a:srgbClr val="595959"/>
                          </a:solidFill>
                          <a:latin typeface="Calibri"/>
                        </a:rPr>
                        <a:t>0.171</a:t>
                      </a:r>
                    </a:p>
                  </a:txBody>
                  <a:tcPr marL="64008" marR="64008" marT="9144" marB="9144" anchor="ctr">
                    <a:solidFill>
                      <a:srgbClr val="F2F2F2"/>
                    </a:solidFill>
                  </a:tcPr>
                </a:tc>
                <a:tc>
                  <a:txBody>
                    <a:bodyPr wrap="square"/>
                    <a:lstStyle/>
                    <a:p>
                      <a:pPr algn="r"/>
                      <a:r>
                        <a:rPr sz="1100" b="0">
                          <a:solidFill>
                            <a:srgbClr val="595959"/>
                          </a:solidFill>
                          <a:latin typeface="Calibri"/>
                        </a:rPr>
                        <a:t>0.385</a:t>
                      </a:r>
                    </a:p>
                  </a:txBody>
                  <a:tcPr marL="64008" marR="64008" marT="9144" marB="9144" anchor="ctr">
                    <a:solidFill>
                      <a:srgbClr val="F2F2F2"/>
                    </a:solidFill>
                  </a:tcPr>
                </a:tc>
                <a:tc>
                  <a:txBody>
                    <a:bodyPr wrap="square"/>
                    <a:lstStyle/>
                    <a:p>
                      <a:pPr algn="r"/>
                      <a:r>
                        <a:rPr sz="1100" b="0">
                          <a:solidFill>
                            <a:srgbClr val="595959"/>
                          </a:solidFill>
                          <a:latin typeface="Calibri"/>
                        </a:rPr>
                        <a:t>0.283</a:t>
                      </a:r>
                    </a:p>
                  </a:txBody>
                  <a:tcPr marL="64008" marR="64008" marT="9144" marB="9144" anchor="ctr">
                    <a:solidFill>
                      <a:srgbClr val="F2F2F2"/>
                    </a:solidFill>
                  </a:tcPr>
                </a:tc>
              </a:tr>
              <a:tr h="356616">
                <a:tc>
                  <a:txBody>
                    <a:bodyPr wrap="square"/>
                    <a:lstStyle/>
                    <a:p>
                      <a:pPr algn="l"/>
                      <a:r>
                        <a:rPr sz="1100" b="0">
                          <a:solidFill>
                            <a:srgbClr val="1A1A1A"/>
                          </a:solidFill>
                          <a:latin typeface="Calibri"/>
                        </a:rPr>
                        <a:t>Debtor</a:t>
                      </a:r>
                    </a:p>
                  </a:txBody>
                  <a:tcPr marL="64008" marR="64008" marT="9144" marB="9144" anchor="ctr">
                    <a:solidFill>
                      <a:srgbClr val="FFFFFF"/>
                    </a:solidFill>
                  </a:tcPr>
                </a:tc>
                <a:tc>
                  <a:txBody>
                    <a:bodyPr wrap="square"/>
                    <a:lstStyle/>
                    <a:p>
                      <a:pPr algn="r"/>
                      <a:r>
                        <a:rPr sz="1100" b="0">
                          <a:solidFill>
                            <a:srgbClr val="595959"/>
                          </a:solidFill>
                          <a:latin typeface="Calibri"/>
                        </a:rPr>
                        <a:t>0.392</a:t>
                      </a:r>
                    </a:p>
                  </a:txBody>
                  <a:tcPr marL="64008" marR="64008" marT="9144" marB="9144" anchor="ctr">
                    <a:solidFill>
                      <a:srgbClr val="FFFFFF"/>
                    </a:solidFill>
                  </a:tcPr>
                </a:tc>
                <a:tc>
                  <a:txBody>
                    <a:bodyPr wrap="square"/>
                    <a:lstStyle/>
                    <a:p>
                      <a:pPr algn="r"/>
                      <a:r>
                        <a:rPr sz="1100" b="0">
                          <a:solidFill>
                            <a:srgbClr val="595959"/>
                          </a:solidFill>
                          <a:latin typeface="Calibri"/>
                        </a:rPr>
                        <a:t>0.369</a:t>
                      </a:r>
                    </a:p>
                  </a:txBody>
                  <a:tcPr marL="64008" marR="64008" marT="9144" marB="9144" anchor="ctr">
                    <a:solidFill>
                      <a:srgbClr val="FFFFFF"/>
                    </a:solidFill>
                  </a:tcPr>
                </a:tc>
                <a:tc>
                  <a:txBody>
                    <a:bodyPr wrap="square"/>
                    <a:lstStyle/>
                    <a:p>
                      <a:pPr algn="r"/>
                      <a:r>
                        <a:rPr sz="1100" b="0">
                          <a:solidFill>
                            <a:srgbClr val="595959"/>
                          </a:solidFill>
                          <a:latin typeface="Calibri"/>
                        </a:rPr>
                        <a:t>0.545</a:t>
                      </a:r>
                    </a:p>
                  </a:txBody>
                  <a:tcPr marL="64008" marR="64008" marT="9144" marB="9144" anchor="ctr">
                    <a:solidFill>
                      <a:srgbClr val="FFFFFF"/>
                    </a:solidFill>
                  </a:tcPr>
                </a:tc>
                <a:tc>
                  <a:txBody>
                    <a:bodyPr wrap="square"/>
                    <a:lstStyle/>
                    <a:p>
                      <a:pPr algn="r"/>
                      <a:r>
                        <a:rPr sz="1100" b="0">
                          <a:solidFill>
                            <a:srgbClr val="595959"/>
                          </a:solidFill>
                          <a:latin typeface="Calibri"/>
                        </a:rPr>
                        <a:t>0.199</a:t>
                      </a:r>
                    </a:p>
                  </a:txBody>
                  <a:tcPr marL="64008" marR="64008" marT="9144" marB="9144" anchor="ctr">
                    <a:solidFill>
                      <a:srgbClr val="FFFFFF"/>
                    </a:solidFill>
                  </a:tcPr>
                </a:tc>
                <a:tc>
                  <a:txBody>
                    <a:bodyPr wrap="square"/>
                    <a:lstStyle/>
                    <a:p>
                      <a:pPr algn="r"/>
                      <a:r>
                        <a:rPr sz="1100" b="0">
                          <a:solidFill>
                            <a:srgbClr val="595959"/>
                          </a:solidFill>
                          <a:latin typeface="Calibri"/>
                        </a:rPr>
                        <a:t>0.199</a:t>
                      </a:r>
                    </a:p>
                  </a:txBody>
                  <a:tcPr marL="64008" marR="64008" marT="9144" marB="9144" anchor="ctr">
                    <a:solidFill>
                      <a:srgbClr val="FFFFFF"/>
                    </a:solidFill>
                  </a:tcPr>
                </a:tc>
              </a:tr>
              <a:tr h="356616">
                <a:tc>
                  <a:txBody>
                    <a:bodyPr wrap="square"/>
                    <a:lstStyle/>
                    <a:p>
                      <a:pPr algn="l"/>
                      <a:r>
                        <a:rPr sz="1100" b="0">
                          <a:solidFill>
                            <a:srgbClr val="1A1A1A"/>
                          </a:solidFill>
                          <a:latin typeface="Calibri"/>
                        </a:rPr>
                        <a:t>Age band</a:t>
                      </a:r>
                    </a:p>
                  </a:txBody>
                  <a:tcPr marL="64008" marR="64008" marT="9144" marB="9144" anchor="ctr">
                    <a:solidFill>
                      <a:srgbClr val="F2F2F2"/>
                    </a:solidFill>
                  </a:tcPr>
                </a:tc>
                <a:tc>
                  <a:txBody>
                    <a:bodyPr wrap="square"/>
                    <a:lstStyle/>
                    <a:p>
                      <a:pPr algn="r"/>
                      <a:r>
                        <a:rPr sz="1100" b="0">
                          <a:solidFill>
                            <a:srgbClr val="595959"/>
                          </a:solidFill>
                          <a:latin typeface="Calibri"/>
                        </a:rPr>
                        <a:t>0.433</a:t>
                      </a:r>
                    </a:p>
                  </a:txBody>
                  <a:tcPr marL="64008" marR="64008" marT="9144" marB="9144" anchor="ctr">
                    <a:solidFill>
                      <a:srgbClr val="F2F2F2"/>
                    </a:solidFill>
                  </a:tcPr>
                </a:tc>
                <a:tc>
                  <a:txBody>
                    <a:bodyPr wrap="square"/>
                    <a:lstStyle/>
                    <a:p>
                      <a:pPr algn="r"/>
                      <a:r>
                        <a:rPr sz="1100" b="0">
                          <a:solidFill>
                            <a:srgbClr val="595959"/>
                          </a:solidFill>
                          <a:latin typeface="Calibri"/>
                        </a:rPr>
                        <a:t>0.558</a:t>
                      </a:r>
                    </a:p>
                  </a:txBody>
                  <a:tcPr marL="64008" marR="64008" marT="9144" marB="9144" anchor="ctr">
                    <a:solidFill>
                      <a:srgbClr val="F2F2F2"/>
                    </a:solidFill>
                  </a:tcPr>
                </a:tc>
                <a:tc>
                  <a:txBody>
                    <a:bodyPr wrap="square"/>
                    <a:lstStyle/>
                    <a:p>
                      <a:pPr algn="r"/>
                      <a:r>
                        <a:rPr sz="1100" b="0">
                          <a:solidFill>
                            <a:srgbClr val="595959"/>
                          </a:solidFill>
                          <a:latin typeface="Calibri"/>
                        </a:rPr>
                        <a:t>0.369</a:t>
                      </a:r>
                    </a:p>
                  </a:txBody>
                  <a:tcPr marL="64008" marR="64008" marT="9144" marB="9144" anchor="ctr">
                    <a:solidFill>
                      <a:srgbClr val="F2F2F2"/>
                    </a:solidFill>
                  </a:tcPr>
                </a:tc>
                <a:tc>
                  <a:txBody>
                    <a:bodyPr wrap="square"/>
                    <a:lstStyle/>
                    <a:p>
                      <a:pPr algn="r"/>
                      <a:r>
                        <a:rPr sz="1100" b="0">
                          <a:solidFill>
                            <a:srgbClr val="595959"/>
                          </a:solidFill>
                          <a:latin typeface="Calibri"/>
                        </a:rPr>
                        <a:t>0.572</a:t>
                      </a:r>
                    </a:p>
                  </a:txBody>
                  <a:tcPr marL="64008" marR="64008" marT="9144" marB="9144" anchor="ctr">
                    <a:solidFill>
                      <a:srgbClr val="F2F2F2"/>
                    </a:solidFill>
                  </a:tcPr>
                </a:tc>
                <a:tc>
                  <a:txBody>
                    <a:bodyPr wrap="square"/>
                    <a:lstStyle/>
                    <a:p>
                      <a:pPr algn="r"/>
                      <a:r>
                        <a:rPr sz="1100" b="0">
                          <a:solidFill>
                            <a:srgbClr val="595959"/>
                          </a:solidFill>
                          <a:latin typeface="Calibri"/>
                        </a:rPr>
                        <a:t>0.253</a:t>
                      </a:r>
                    </a:p>
                  </a:txBody>
                  <a:tcPr marL="64008" marR="64008" marT="9144" marB="9144" anchor="ctr">
                    <a:solidFill>
                      <a:srgbClr val="F2F2F2"/>
                    </a:solidFill>
                  </a:tcPr>
                </a:tc>
              </a:tr>
            </a:tbl>
          </a:graphicData>
        </a:graphic>
      </p:graphicFrame>
      <p:sp>
        <p:nvSpPr>
          <p:cNvPr id="6" name="TextBox 5"/>
          <p:cNvSpPr txBox="1"/>
          <p:nvPr/>
        </p:nvSpPr>
        <p:spPr>
          <a:xfrm>
            <a:off x="566928" y="4297680"/>
            <a:ext cx="6766560" cy="1645920"/>
          </a:xfrm>
          <a:prstGeom prst="rect">
            <a:avLst/>
          </a:prstGeom>
          <a:noFill/>
        </p:spPr>
        <p:txBody>
          <a:bodyPr wrap="square" lIns="0" rIns="0" tIns="0" bIns="0">
            <a:spAutoFit/>
          </a:bodyPr>
          <a:lstStyle/>
          <a:p>
            <a:pPr algn="l">
              <a:lnSpc>
                <a:spcPct val="120000"/>
              </a:lnSpc>
              <a:spcAft>
                <a:spcPts val="800"/>
              </a:spcAft>
            </a:pPr>
            <a:r>
              <a:rPr sz="1300" b="1">
                <a:solidFill>
                  <a:srgbClr val="1A1A1A"/>
                </a:solidFill>
                <a:latin typeface="Calibri"/>
              </a:rPr>
              <a:t>Debtor. </a:t>
            </a:r>
            <a:r>
              <a:rPr sz="1300" b="0">
                <a:solidFill>
                  <a:srgbClr val="595959"/>
                </a:solidFill>
                <a:latin typeface="Calibri"/>
              </a:rPr>
              <a:t>Real gap 0.392, flagging gap 0.369. The model's disparity is smaller than the one in the world. Its DI ratio of 0.545 sits below the 0.8 line, and the old audit called that a failure. It is not.</a:t>
            </a:r>
          </a:p>
          <a:p>
            <a:pPr algn="l">
              <a:lnSpc>
                <a:spcPct val="120000"/>
              </a:lnSpc>
              <a:spcAft>
                <a:spcPts val="800"/>
              </a:spcAft>
            </a:pPr>
            <a:r>
              <a:rPr sz="1300" b="1">
                <a:solidFill>
                  <a:srgbClr val="1A1A1A"/>
                </a:solidFill>
                <a:latin typeface="Calibri"/>
              </a:rPr>
              <a:t>Gender. </a:t>
            </a:r>
            <a:r>
              <a:rPr sz="1300" b="0">
                <a:solidFill>
                  <a:srgbClr val="595959"/>
                </a:solidFill>
                <a:latin typeface="Calibri"/>
              </a:rPr>
              <a:t>Real gap 0.238, flagging gap 0.350. The gap the model creates is bigger than the gap in the world. That is amplification.</a:t>
            </a:r>
          </a:p>
        </p:txBody>
      </p:sp>
      <p:sp>
        <p:nvSpPr>
          <p:cNvPr id="7" name="Rectangle 6"/>
          <p:cNvSpPr/>
          <p:nvPr/>
        </p:nvSpPr>
        <p:spPr>
          <a:xfrm>
            <a:off x="8915400" y="2267712"/>
            <a:ext cx="118872" cy="118872"/>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89136" y="2231136"/>
            <a:ext cx="1097280" cy="182880"/>
          </a:xfrm>
          <a:prstGeom prst="rect">
            <a:avLst/>
          </a:prstGeom>
          <a:noFill/>
        </p:spPr>
        <p:txBody>
          <a:bodyPr wrap="square" lIns="0" rIns="0" tIns="0" bIns="0">
            <a:spAutoFit/>
          </a:bodyPr>
          <a:lstStyle/>
          <a:p>
            <a:pPr algn="l">
              <a:spcAft>
                <a:spcPts val="0"/>
              </a:spcAft>
            </a:pPr>
            <a:r>
              <a:rPr sz="900" b="0">
                <a:solidFill>
                  <a:srgbClr val="767676"/>
                </a:solidFill>
                <a:latin typeface="Calibri"/>
              </a:rPr>
              <a:t>male</a:t>
            </a:r>
          </a:p>
        </p:txBody>
      </p:sp>
      <p:sp>
        <p:nvSpPr>
          <p:cNvPr id="9" name="Rectangle 8"/>
          <p:cNvSpPr/>
          <p:nvPr/>
        </p:nvSpPr>
        <p:spPr>
          <a:xfrm>
            <a:off x="9966960" y="2267712"/>
            <a:ext cx="118872" cy="118872"/>
          </a:xfrm>
          <a:prstGeom prst="rect">
            <a:avLst/>
          </a:prstGeom>
          <a:solidFill>
            <a:srgbClr val="A9C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0696" y="2231136"/>
            <a:ext cx="1097280" cy="182880"/>
          </a:xfrm>
          <a:prstGeom prst="rect">
            <a:avLst/>
          </a:prstGeom>
          <a:noFill/>
        </p:spPr>
        <p:txBody>
          <a:bodyPr wrap="square" lIns="0" rIns="0" tIns="0" bIns="0">
            <a:spAutoFit/>
          </a:bodyPr>
          <a:lstStyle/>
          <a:p>
            <a:pPr algn="l">
              <a:spcAft>
                <a:spcPts val="0"/>
              </a:spcAft>
            </a:pPr>
            <a:r>
              <a:rPr sz="900" b="0">
                <a:solidFill>
                  <a:srgbClr val="767676"/>
                </a:solidFill>
                <a:latin typeface="Calibri"/>
              </a:rPr>
              <a:t>female</a:t>
            </a:r>
          </a:p>
        </p:txBody>
      </p:sp>
      <p:sp>
        <p:nvSpPr>
          <p:cNvPr id="11" name="TextBox 10"/>
          <p:cNvSpPr txBox="1"/>
          <p:nvPr/>
        </p:nvSpPr>
        <p:spPr>
          <a:xfrm>
            <a:off x="7772400" y="2523744"/>
            <a:ext cx="106984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flagged</a:t>
            </a:r>
          </a:p>
        </p:txBody>
      </p:sp>
      <p:sp>
        <p:nvSpPr>
          <p:cNvPr id="12" name="Rectangle 11"/>
          <p:cNvSpPr/>
          <p:nvPr/>
        </p:nvSpPr>
        <p:spPr>
          <a:xfrm>
            <a:off x="8915400" y="2487168"/>
            <a:ext cx="1872051" cy="13716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851459" y="2464308"/>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0.694</a:t>
            </a:r>
          </a:p>
        </p:txBody>
      </p:sp>
      <p:sp>
        <p:nvSpPr>
          <p:cNvPr id="14" name="Rectangle 13"/>
          <p:cNvSpPr/>
          <p:nvPr/>
        </p:nvSpPr>
        <p:spPr>
          <a:xfrm>
            <a:off x="8915400" y="2660904"/>
            <a:ext cx="930630" cy="137160"/>
          </a:xfrm>
          <a:prstGeom prst="rect">
            <a:avLst/>
          </a:prstGeom>
          <a:solidFill>
            <a:srgbClr val="A9C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10038" y="2638044"/>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0.345</a:t>
            </a:r>
          </a:p>
        </p:txBody>
      </p:sp>
      <p:sp>
        <p:nvSpPr>
          <p:cNvPr id="16" name="TextBox 15"/>
          <p:cNvSpPr txBox="1"/>
          <p:nvPr/>
        </p:nvSpPr>
        <p:spPr>
          <a:xfrm>
            <a:off x="7772400" y="2980944"/>
            <a:ext cx="106984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dropouts found</a:t>
            </a:r>
          </a:p>
        </p:txBody>
      </p:sp>
      <p:sp>
        <p:nvSpPr>
          <p:cNvPr id="17" name="Rectangle 16"/>
          <p:cNvSpPr/>
          <p:nvPr/>
        </p:nvSpPr>
        <p:spPr>
          <a:xfrm>
            <a:off x="8915400" y="2944368"/>
            <a:ext cx="2365689" cy="13716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345097" y="2921508"/>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0.877</a:t>
            </a:r>
          </a:p>
        </p:txBody>
      </p:sp>
      <p:sp>
        <p:nvSpPr>
          <p:cNvPr id="19" name="Rectangle 18"/>
          <p:cNvSpPr/>
          <p:nvPr/>
        </p:nvSpPr>
        <p:spPr>
          <a:xfrm>
            <a:off x="8915400" y="3118104"/>
            <a:ext cx="1888235" cy="137160"/>
          </a:xfrm>
          <a:prstGeom prst="rect">
            <a:avLst/>
          </a:prstGeom>
          <a:solidFill>
            <a:srgbClr val="A9C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867643" y="3095244"/>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0.700</a:t>
            </a:r>
          </a:p>
        </p:txBody>
      </p:sp>
      <p:sp>
        <p:nvSpPr>
          <p:cNvPr id="21" name="TextBox 20"/>
          <p:cNvSpPr txBox="1"/>
          <p:nvPr/>
        </p:nvSpPr>
        <p:spPr>
          <a:xfrm>
            <a:off x="7772400" y="3438144"/>
            <a:ext cx="106984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false alarms</a:t>
            </a:r>
          </a:p>
        </p:txBody>
      </p:sp>
      <p:sp>
        <p:nvSpPr>
          <p:cNvPr id="22" name="Rectangle 21"/>
          <p:cNvSpPr/>
          <p:nvPr/>
        </p:nvSpPr>
        <p:spPr>
          <a:xfrm>
            <a:off x="8915400" y="3401568"/>
            <a:ext cx="1308277" cy="13716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287685" y="3378708"/>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0.485</a:t>
            </a:r>
          </a:p>
        </p:txBody>
      </p:sp>
      <p:sp>
        <p:nvSpPr>
          <p:cNvPr id="24" name="Rectangle 23"/>
          <p:cNvSpPr/>
          <p:nvPr/>
        </p:nvSpPr>
        <p:spPr>
          <a:xfrm>
            <a:off x="8915400" y="3575304"/>
            <a:ext cx="526008" cy="137160"/>
          </a:xfrm>
          <a:prstGeom prst="rect">
            <a:avLst/>
          </a:prstGeom>
          <a:solidFill>
            <a:srgbClr val="A9C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5416" y="3552444"/>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0.195</a:t>
            </a:r>
          </a:p>
        </p:txBody>
      </p:sp>
      <p:sp>
        <p:nvSpPr>
          <p:cNvPr id="26" name="TextBox 25"/>
          <p:cNvSpPr txBox="1"/>
          <p:nvPr/>
        </p:nvSpPr>
        <p:spPr>
          <a:xfrm>
            <a:off x="7772400" y="3977639"/>
            <a:ext cx="3840480" cy="603504"/>
          </a:xfrm>
          <a:prstGeom prst="rect">
            <a:avLst/>
          </a:prstGeom>
          <a:noFill/>
        </p:spPr>
        <p:txBody>
          <a:bodyPr wrap="square" lIns="0" rIns="0" tIns="0" bIns="0">
            <a:spAutoFit/>
          </a:bodyPr>
          <a:lstStyle/>
          <a:p>
            <a:pPr algn="l">
              <a:spcAft>
                <a:spcPts val="0"/>
              </a:spcAft>
            </a:pPr>
            <a:r>
              <a:rPr sz="3800" b="1">
                <a:solidFill>
                  <a:srgbClr val="1A1A1A"/>
                </a:solidFill>
                <a:latin typeface="Cambria"/>
              </a:rPr>
              <a:t>3 in 10</a:t>
            </a:r>
          </a:p>
        </p:txBody>
      </p:sp>
      <p:sp>
        <p:nvSpPr>
          <p:cNvPr id="27" name="TextBox 26"/>
          <p:cNvSpPr txBox="1"/>
          <p:nvPr/>
        </p:nvSpPr>
        <p:spPr>
          <a:xfrm>
            <a:off x="7772400" y="4572000"/>
            <a:ext cx="3840480" cy="1463040"/>
          </a:xfrm>
          <a:prstGeom prst="rect">
            <a:avLst/>
          </a:prstGeom>
          <a:noFill/>
        </p:spPr>
        <p:txBody>
          <a:bodyPr wrap="square" lIns="0" rIns="0" tIns="0" bIns="0">
            <a:spAutoFit/>
          </a:bodyPr>
          <a:lstStyle/>
          <a:p>
            <a:pPr algn="l">
              <a:lnSpc>
                <a:spcPct val="120000"/>
              </a:lnSpc>
              <a:spcAft>
                <a:spcPts val="600"/>
              </a:spcAft>
            </a:pPr>
            <a:r>
              <a:rPr sz="1200" b="0">
                <a:solidFill>
                  <a:srgbClr val="595959"/>
                </a:solidFill>
                <a:latin typeface="Calibri"/>
              </a:rPr>
              <a:t>women who go on to drop out are never flagged at all. For men it is closer to one in eight. That appears in no flagging-rate metric. It only appears once you stop counting flags and start counting errors.</a:t>
            </a:r>
          </a:p>
        </p:txBody>
      </p:sp>
      <p:sp>
        <p:nvSpPr>
          <p:cNvPr id="28" name="TextBox 27"/>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That is the finding. Not that every attribute fails disparate impact, which was true and useless.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66928" y="475488"/>
            <a:ext cx="457200" cy="457200"/>
          </a:xfrm>
          <a:prstGeom prst="ellipse">
            <a:avLst/>
          </a:prstGeom>
          <a:solidFill>
            <a:srgbClr val="FFCC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1A1A1A"/>
                </a:solidFill>
                <a:latin typeface="Cambria"/>
              </a:rPr>
              <a:t>4</a:t>
            </a:r>
          </a:p>
        </p:txBody>
      </p:sp>
      <p:sp>
        <p:nvSpPr>
          <p:cNvPr id="3" name="TextBox 2"/>
          <p:cNvSpPr txBox="1"/>
          <p:nvPr/>
        </p:nvSpPr>
        <p:spPr>
          <a:xfrm>
            <a:off x="1225296" y="457200"/>
            <a:ext cx="10399471"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Rigor does not generalize on its own</a:t>
            </a:r>
          </a:p>
        </p:txBody>
      </p:sp>
      <p:sp>
        <p:nvSpPr>
          <p:cNvPr id="4" name="TextBox 3"/>
          <p:cNvSpPr txBox="1"/>
          <p:nvPr/>
        </p:nvSpPr>
        <p:spPr>
          <a:xfrm>
            <a:off x="566928" y="1280160"/>
            <a:ext cx="11057839" cy="731520"/>
          </a:xfrm>
          <a:prstGeom prst="rect">
            <a:avLst/>
          </a:prstGeom>
          <a:noFill/>
        </p:spPr>
        <p:txBody>
          <a:bodyPr wrap="square" lIns="0" rIns="0" tIns="0" bIns="0">
            <a:spAutoFit/>
          </a:bodyPr>
          <a:lstStyle/>
          <a:p>
            <a:pPr algn="l">
              <a:lnSpc>
                <a:spcPct val="120000"/>
              </a:lnSpc>
              <a:spcAft>
                <a:spcPts val="600"/>
              </a:spcAft>
            </a:pPr>
            <a:r>
              <a:rPr sz="1300" b="0">
                <a:solidFill>
                  <a:srgbClr val="595959"/>
                </a:solidFill>
                <a:latin typeface="Calibri"/>
              </a:rPr>
              <a:t>Step 4 refused to call a 0.005 lead real against a 0.020 fold swing. Then I came here and quoted fairness numbers to three decimals off a single 726-row split, without asking what the noise was. So I went back and asked. 2,000 seeded bootstrap resamples.</a:t>
            </a:r>
          </a:p>
        </p:txBody>
      </p:sp>
      <p:sp>
        <p:nvSpPr>
          <p:cNvPr id="5" name="Rectangle 4"/>
          <p:cNvSpPr/>
          <p:nvPr/>
        </p:nvSpPr>
        <p:spPr>
          <a:xfrm>
            <a:off x="566928" y="2103120"/>
            <a:ext cx="5394960" cy="960120"/>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100"/>
              </a:spcAft>
            </a:pPr>
            <a:r>
              <a:rPr sz="1200" b="1">
                <a:solidFill>
                  <a:srgbClr val="1A1A1A"/>
                </a:solidFill>
                <a:latin typeface="Courier New"/>
              </a:rPr>
              <a:t>male     n=288    dropouts 154</a:t>
            </a:r>
          </a:p>
          <a:p>
            <a:pPr algn="l">
              <a:spcAft>
                <a:spcPts val="400"/>
              </a:spcAft>
            </a:pPr>
            <a:r>
              <a:rPr sz="1200" b="1">
                <a:solidFill>
                  <a:srgbClr val="1A1A1A"/>
                </a:solidFill>
                <a:latin typeface="Courier New"/>
              </a:rPr>
              <a:t>female   n=438    dropouts 130</a:t>
            </a:r>
          </a:p>
          <a:p>
            <a:pPr algn="l"/>
            <a:r>
              <a:rPr sz="1100">
                <a:solidFill>
                  <a:srgbClr val="595959"/>
                </a:solidFill>
                <a:latin typeface="Calibri"/>
              </a:rPr>
              <a:t>Women are the majority of the test set and the minority of its dropouts. The recall gap rests on 130 students, not 726.</a:t>
            </a:r>
          </a:p>
        </p:txBody>
      </p:sp>
      <p:graphicFrame>
        <p:nvGraphicFramePr>
          <p:cNvPr id="6" name="Table 5"/>
          <p:cNvGraphicFramePr>
            <a:graphicFrameLocks noGrp="1"/>
          </p:cNvGraphicFramePr>
          <p:nvPr/>
        </p:nvGraphicFramePr>
        <p:xfrm>
          <a:off x="566928" y="3310128"/>
          <a:ext cx="5394958" cy="1353312"/>
        </p:xfrm>
        <a:graphic>
          <a:graphicData uri="http://schemas.openxmlformats.org/drawingml/2006/table">
            <a:tbl>
              <a:tblPr>
                <a:tableStyleId>{5C22544A-7EE6-4342-B048-85BDC9FD1C3A}</a:tableStyleId>
              </a:tblPr>
              <a:tblGrid>
                <a:gridCol w="1953347"/>
                <a:gridCol w="790640"/>
                <a:gridCol w="930165"/>
                <a:gridCol w="1720806"/>
              </a:tblGrid>
              <a:tr h="338328">
                <a:tc>
                  <a:txBody>
                    <a:bodyPr wrap="square"/>
                    <a:lstStyle/>
                    <a:p>
                      <a:pPr algn="l"/>
                      <a:r>
                        <a:rPr sz="1000" b="1">
                          <a:solidFill>
                            <a:srgbClr val="FFFFFF"/>
                          </a:solidFill>
                          <a:latin typeface="Calibri"/>
                        </a:rPr>
                        <a:t>Approach</a:t>
                      </a:r>
                    </a:p>
                  </a:txBody>
                  <a:tcPr marL="64008" marR="64008" marT="9144" marB="9144" anchor="ctr">
                    <a:solidFill>
                      <a:srgbClr val="1A1A1A"/>
                    </a:solidFill>
                  </a:tcPr>
                </a:tc>
                <a:tc>
                  <a:txBody>
                    <a:bodyPr wrap="square"/>
                    <a:lstStyle/>
                    <a:p>
                      <a:pPr algn="r"/>
                      <a:r>
                        <a:rPr sz="1000" b="1">
                          <a:solidFill>
                            <a:srgbClr val="FFFFFF"/>
                          </a:solidFill>
                          <a:latin typeface="Calibri"/>
                        </a:rPr>
                        <a:t>Recall</a:t>
                      </a:r>
                    </a:p>
                  </a:txBody>
                  <a:tcPr marL="64008" marR="64008" marT="9144" marB="9144" anchor="ctr">
                    <a:solidFill>
                      <a:srgbClr val="1A1A1A"/>
                    </a:solidFill>
                  </a:tcPr>
                </a:tc>
                <a:tc>
                  <a:txBody>
                    <a:bodyPr wrap="square"/>
                    <a:lstStyle/>
                    <a:p>
                      <a:pPr algn="r"/>
                      <a:r>
                        <a:rPr sz="1000" b="1">
                          <a:solidFill>
                            <a:srgbClr val="FFFFFF"/>
                          </a:solidFill>
                          <a:latin typeface="Calibri"/>
                        </a:rPr>
                        <a:t>Accuracy</a:t>
                      </a:r>
                    </a:p>
                  </a:txBody>
                  <a:tcPr marL="64008" marR="64008" marT="9144" marB="9144" anchor="ctr">
                    <a:solidFill>
                      <a:srgbClr val="1A1A1A"/>
                    </a:solidFill>
                  </a:tcPr>
                </a:tc>
                <a:tc>
                  <a:txBody>
                    <a:bodyPr wrap="square"/>
                    <a:lstStyle/>
                    <a:p>
                      <a:pPr algn="r"/>
                      <a:r>
                        <a:rPr sz="1000" b="1">
                          <a:solidFill>
                            <a:srgbClr val="FFFFFF"/>
                          </a:solidFill>
                          <a:latin typeface="Calibri"/>
                        </a:rPr>
                        <a:t>Recall gap (magnitude)</a:t>
                      </a:r>
                    </a:p>
                  </a:txBody>
                  <a:tcPr marL="64008" marR="64008" marT="9144" marB="9144" anchor="ctr">
                    <a:solidFill>
                      <a:srgbClr val="1A1A1A"/>
                    </a:solidFill>
                  </a:tcPr>
                </a:tc>
              </a:tr>
              <a:tr h="338328">
                <a:tc>
                  <a:txBody>
                    <a:bodyPr wrap="square"/>
                    <a:lstStyle/>
                    <a:p>
                      <a:pPr algn="l"/>
                      <a:r>
                        <a:rPr sz="1000" b="0">
                          <a:solidFill>
                            <a:srgbClr val="1A1A1A"/>
                          </a:solidFill>
                          <a:latin typeface="Calibri"/>
                        </a:rPr>
                        <a:t>Baseline at 0.45</a:t>
                      </a:r>
                    </a:p>
                  </a:txBody>
                  <a:tcPr marL="64008" marR="64008" marT="9144" marB="9144" anchor="ctr">
                    <a:solidFill>
                      <a:srgbClr val="FFFFFF"/>
                    </a:solidFill>
                  </a:tcPr>
                </a:tc>
                <a:tc>
                  <a:txBody>
                    <a:bodyPr wrap="square"/>
                    <a:lstStyle/>
                    <a:p>
                      <a:pPr algn="r"/>
                      <a:r>
                        <a:rPr sz="1000" b="0">
                          <a:solidFill>
                            <a:srgbClr val="595959"/>
                          </a:solidFill>
                          <a:latin typeface="Calibri"/>
                        </a:rPr>
                        <a:t>0.796</a:t>
                      </a:r>
                    </a:p>
                  </a:txBody>
                  <a:tcPr marL="64008" marR="64008" marT="9144" marB="9144" anchor="ctr">
                    <a:solidFill>
                      <a:srgbClr val="FFFFFF"/>
                    </a:solidFill>
                  </a:tcPr>
                </a:tc>
                <a:tc>
                  <a:txBody>
                    <a:bodyPr wrap="square"/>
                    <a:lstStyle/>
                    <a:p>
                      <a:pPr algn="r"/>
                      <a:r>
                        <a:rPr sz="1000" b="0">
                          <a:solidFill>
                            <a:srgbClr val="595959"/>
                          </a:solidFill>
                          <a:latin typeface="Calibri"/>
                        </a:rPr>
                        <a:t>0.748</a:t>
                      </a:r>
                    </a:p>
                  </a:txBody>
                  <a:tcPr marL="64008" marR="64008" marT="9144" marB="9144" anchor="ctr">
                    <a:solidFill>
                      <a:srgbClr val="FFFFFF"/>
                    </a:solidFill>
                  </a:tcPr>
                </a:tc>
                <a:tc>
                  <a:txBody>
                    <a:bodyPr wrap="square"/>
                    <a:lstStyle/>
                    <a:p>
                      <a:pPr algn="r"/>
                      <a:r>
                        <a:rPr sz="1000" b="0">
                          <a:solidFill>
                            <a:srgbClr val="595959"/>
                          </a:solidFill>
                          <a:latin typeface="Calibri"/>
                        </a:rPr>
                        <a:t>0.177</a:t>
                      </a:r>
                    </a:p>
                  </a:txBody>
                  <a:tcPr marL="64008" marR="64008" marT="9144" marB="9144" anchor="ctr">
                    <a:solidFill>
                      <a:srgbClr val="FFFFFF"/>
                    </a:solidFill>
                  </a:tcPr>
                </a:tc>
              </a:tr>
              <a:tr h="338328">
                <a:tc>
                  <a:txBody>
                    <a:bodyPr wrap="square"/>
                    <a:lstStyle/>
                    <a:p>
                      <a:pPr algn="l"/>
                      <a:r>
                        <a:rPr sz="1000" b="0">
                          <a:solidFill>
                            <a:srgbClr val="1A1A1A"/>
                          </a:solidFill>
                          <a:latin typeface="Calibri"/>
                        </a:rPr>
                        <a:t>Threshold optimizer</a:t>
                      </a:r>
                    </a:p>
                  </a:txBody>
                  <a:tcPr marL="64008" marR="64008" marT="9144" marB="9144" anchor="ctr">
                    <a:solidFill>
                      <a:srgbClr val="F2F2F2"/>
                    </a:solidFill>
                  </a:tcPr>
                </a:tc>
                <a:tc>
                  <a:txBody>
                    <a:bodyPr wrap="square"/>
                    <a:lstStyle/>
                    <a:p>
                      <a:pPr algn="r"/>
                      <a:r>
                        <a:rPr sz="1000" b="0">
                          <a:solidFill>
                            <a:srgbClr val="595959"/>
                          </a:solidFill>
                          <a:latin typeface="Calibri"/>
                        </a:rPr>
                        <a:t>0.609</a:t>
                      </a:r>
                    </a:p>
                  </a:txBody>
                  <a:tcPr marL="64008" marR="64008" marT="9144" marB="9144" anchor="ctr">
                    <a:solidFill>
                      <a:srgbClr val="F2F2F2"/>
                    </a:solidFill>
                  </a:tcPr>
                </a:tc>
                <a:tc>
                  <a:txBody>
                    <a:bodyPr wrap="square"/>
                    <a:lstStyle/>
                    <a:p>
                      <a:pPr algn="r"/>
                      <a:r>
                        <a:rPr sz="1000" b="0">
                          <a:solidFill>
                            <a:srgbClr val="595959"/>
                          </a:solidFill>
                          <a:latin typeface="Calibri"/>
                        </a:rPr>
                        <a:t>0.781</a:t>
                      </a:r>
                    </a:p>
                  </a:txBody>
                  <a:tcPr marL="64008" marR="64008" marT="9144" marB="9144" anchor="ctr">
                    <a:solidFill>
                      <a:srgbClr val="F2F2F2"/>
                    </a:solidFill>
                  </a:tcPr>
                </a:tc>
                <a:tc>
                  <a:txBody>
                    <a:bodyPr wrap="square"/>
                    <a:lstStyle/>
                    <a:p>
                      <a:pPr algn="r"/>
                      <a:r>
                        <a:rPr sz="1000" b="0">
                          <a:solidFill>
                            <a:srgbClr val="595959"/>
                          </a:solidFill>
                          <a:latin typeface="Calibri"/>
                        </a:rPr>
                        <a:t>0.026</a:t>
                      </a:r>
                    </a:p>
                  </a:txBody>
                  <a:tcPr marL="64008" marR="64008" marT="9144" marB="9144" anchor="ctr">
                    <a:solidFill>
                      <a:srgbClr val="F2F2F2"/>
                    </a:solidFill>
                  </a:tcPr>
                </a:tc>
              </a:tr>
              <a:tr h="338328">
                <a:tc>
                  <a:txBody>
                    <a:bodyPr wrap="square"/>
                    <a:lstStyle/>
                    <a:p>
                      <a:pPr algn="l"/>
                      <a:r>
                        <a:rPr sz="1000" b="1">
                          <a:solidFill>
                            <a:srgbClr val="1A1A1A"/>
                          </a:solidFill>
                          <a:latin typeface="Calibri"/>
                        </a:rPr>
                        <a:t>Exponentiated gradient</a:t>
                      </a:r>
                    </a:p>
                  </a:txBody>
                  <a:tcPr marL="64008" marR="64008" marT="9144" marB="9144" anchor="ctr">
                    <a:solidFill>
                      <a:srgbClr val="FFF3CC"/>
                    </a:solidFill>
                  </a:tcPr>
                </a:tc>
                <a:tc>
                  <a:txBody>
                    <a:bodyPr wrap="square"/>
                    <a:lstStyle/>
                    <a:p>
                      <a:pPr algn="r"/>
                      <a:r>
                        <a:rPr sz="1000" b="1">
                          <a:solidFill>
                            <a:srgbClr val="1A1A1A"/>
                          </a:solidFill>
                          <a:latin typeface="Calibri"/>
                        </a:rPr>
                        <a:t>0.718</a:t>
                      </a:r>
                    </a:p>
                  </a:txBody>
                  <a:tcPr marL="64008" marR="64008" marT="9144" marB="9144" anchor="ctr">
                    <a:solidFill>
                      <a:srgbClr val="FFF3CC"/>
                    </a:solidFill>
                  </a:tcPr>
                </a:tc>
                <a:tc>
                  <a:txBody>
                    <a:bodyPr wrap="square"/>
                    <a:lstStyle/>
                    <a:p>
                      <a:pPr algn="r"/>
                      <a:r>
                        <a:rPr sz="1000" b="1">
                          <a:solidFill>
                            <a:srgbClr val="1A1A1A"/>
                          </a:solidFill>
                          <a:latin typeface="Calibri"/>
                        </a:rPr>
                        <a:t>0.760</a:t>
                      </a:r>
                    </a:p>
                  </a:txBody>
                  <a:tcPr marL="64008" marR="64008" marT="9144" marB="9144" anchor="ctr">
                    <a:solidFill>
                      <a:srgbClr val="FFF3CC"/>
                    </a:solidFill>
                  </a:tcPr>
                </a:tc>
                <a:tc>
                  <a:txBody>
                    <a:bodyPr wrap="square"/>
                    <a:lstStyle/>
                    <a:p>
                      <a:pPr algn="r"/>
                      <a:r>
                        <a:rPr sz="1000" b="1">
                          <a:solidFill>
                            <a:srgbClr val="1A1A1A"/>
                          </a:solidFill>
                          <a:latin typeface="Calibri"/>
                        </a:rPr>
                        <a:t>0.009</a:t>
                      </a:r>
                    </a:p>
                  </a:txBody>
                  <a:tcPr marL="64008" marR="64008" marT="9144" marB="9144" anchor="ctr">
                    <a:solidFill>
                      <a:srgbClr val="FFF3CC"/>
                    </a:solidFill>
                  </a:tcPr>
                </a:tc>
              </a:tr>
            </a:tbl>
          </a:graphicData>
        </a:graphic>
      </p:graphicFrame>
      <p:sp>
        <p:nvSpPr>
          <p:cNvPr id="7" name="TextBox 6"/>
          <p:cNvSpPr txBox="1"/>
          <p:nvPr/>
        </p:nvSpPr>
        <p:spPr>
          <a:xfrm>
            <a:off x="6355080" y="2011680"/>
            <a:ext cx="5285232" cy="320040"/>
          </a:xfrm>
          <a:prstGeom prst="rect">
            <a:avLst/>
          </a:prstGeom>
          <a:noFill/>
        </p:spPr>
        <p:txBody>
          <a:bodyPr wrap="square" lIns="0" rIns="0" tIns="0" bIns="0">
            <a:spAutoFit/>
          </a:bodyPr>
          <a:lstStyle/>
          <a:p>
            <a:pPr algn="l">
              <a:lnSpc>
                <a:spcPct val="115000"/>
              </a:lnSpc>
              <a:spcAft>
                <a:spcPts val="0"/>
              </a:spcAft>
            </a:pPr>
            <a:r>
              <a:rPr sz="900" b="0">
                <a:solidFill>
                  <a:srgbClr val="767676"/>
                </a:solidFill>
                <a:latin typeface="Calibri"/>
              </a:rPr>
              <a:t>95% intervals, 2,000 resamples. The top three are the recall gap itself, male minus female. The bottom two compare the two mitigations against each other.</a:t>
            </a:r>
          </a:p>
        </p:txBody>
      </p:sp>
      <p:sp>
        <p:nvSpPr>
          <p:cNvPr id="8" name="Rectangle 7"/>
          <p:cNvSpPr/>
          <p:nvPr/>
        </p:nvSpPr>
        <p:spPr>
          <a:xfrm>
            <a:off x="9397218" y="2478024"/>
            <a:ext cx="9525" cy="2066544"/>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287490" y="4544568"/>
            <a:ext cx="365760" cy="182880"/>
          </a:xfrm>
          <a:prstGeom prst="rect">
            <a:avLst/>
          </a:prstGeom>
          <a:noFill/>
        </p:spPr>
        <p:txBody>
          <a:bodyPr wrap="square" lIns="0" rIns="0" tIns="0" bIns="0">
            <a:spAutoFit/>
          </a:bodyPr>
          <a:lstStyle/>
          <a:p>
            <a:pPr algn="l">
              <a:spcAft>
                <a:spcPts val="0"/>
              </a:spcAft>
            </a:pPr>
            <a:r>
              <a:rPr sz="800" b="0">
                <a:solidFill>
                  <a:srgbClr val="767676"/>
                </a:solidFill>
                <a:latin typeface="Calibri"/>
              </a:rPr>
              <a:t>0</a:t>
            </a:r>
          </a:p>
        </p:txBody>
      </p:sp>
      <p:sp>
        <p:nvSpPr>
          <p:cNvPr id="10" name="TextBox 9"/>
          <p:cNvSpPr txBox="1"/>
          <p:nvPr/>
        </p:nvSpPr>
        <p:spPr>
          <a:xfrm>
            <a:off x="6355080" y="2542032"/>
            <a:ext cx="2167128" cy="228600"/>
          </a:xfrm>
          <a:prstGeom prst="rect">
            <a:avLst/>
          </a:prstGeom>
          <a:noFill/>
        </p:spPr>
        <p:txBody>
          <a:bodyPr wrap="square" lIns="0" rIns="0" tIns="0" bIns="0">
            <a:spAutoFit/>
          </a:bodyPr>
          <a:lstStyle/>
          <a:p>
            <a:pPr algn="l">
              <a:spcAft>
                <a:spcPts val="0"/>
              </a:spcAft>
            </a:pPr>
            <a:r>
              <a:rPr sz="1000" b="0">
                <a:solidFill>
                  <a:srgbClr val="1A1A1A"/>
                </a:solidFill>
                <a:latin typeface="Calibri"/>
              </a:rPr>
              <a:t>Baseline</a:t>
            </a:r>
          </a:p>
        </p:txBody>
      </p:sp>
      <p:sp>
        <p:nvSpPr>
          <p:cNvPr id="11" name="Rectangle 10"/>
          <p:cNvSpPr/>
          <p:nvPr/>
        </p:nvSpPr>
        <p:spPr>
          <a:xfrm>
            <a:off x="9725980" y="2624328"/>
            <a:ext cx="769784" cy="41148"/>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047427" y="2585008"/>
            <a:ext cx="118872" cy="118872"/>
          </a:xfrm>
          <a:prstGeom prst="ellipse">
            <a:avLst/>
          </a:prstGeom>
          <a:solidFill>
            <a:srgbClr val="FFCC2A"/>
          </a:solidFill>
          <a:ln w="12700">
            <a:solidFill>
              <a:srgbClr val="0076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25912" y="2542032"/>
            <a:ext cx="914400" cy="228600"/>
          </a:xfrm>
          <a:prstGeom prst="rect">
            <a:avLst/>
          </a:prstGeom>
          <a:noFill/>
        </p:spPr>
        <p:txBody>
          <a:bodyPr wrap="square" lIns="0" rIns="0" tIns="0" bIns="0">
            <a:spAutoFit/>
          </a:bodyPr>
          <a:lstStyle/>
          <a:p>
            <a:pPr algn="r">
              <a:spcAft>
                <a:spcPts val="0"/>
              </a:spcAft>
            </a:pPr>
            <a:r>
              <a:rPr sz="900" b="1">
                <a:solidFill>
                  <a:srgbClr val="1A1A1A"/>
                </a:solidFill>
                <a:latin typeface="Calibri"/>
              </a:rPr>
              <a:t>real</a:t>
            </a:r>
          </a:p>
        </p:txBody>
      </p:sp>
      <p:sp>
        <p:nvSpPr>
          <p:cNvPr id="14" name="TextBox 13"/>
          <p:cNvSpPr txBox="1"/>
          <p:nvPr/>
        </p:nvSpPr>
        <p:spPr>
          <a:xfrm>
            <a:off x="6355080" y="2944368"/>
            <a:ext cx="2167128" cy="228600"/>
          </a:xfrm>
          <a:prstGeom prst="rect">
            <a:avLst/>
          </a:prstGeom>
          <a:noFill/>
        </p:spPr>
        <p:txBody>
          <a:bodyPr wrap="square" lIns="0" rIns="0" tIns="0" bIns="0">
            <a:spAutoFit/>
          </a:bodyPr>
          <a:lstStyle/>
          <a:p>
            <a:pPr algn="l">
              <a:spcAft>
                <a:spcPts val="0"/>
              </a:spcAft>
            </a:pPr>
            <a:r>
              <a:rPr sz="1000" b="0">
                <a:solidFill>
                  <a:srgbClr val="1A1A1A"/>
                </a:solidFill>
                <a:latin typeface="Calibri"/>
              </a:rPr>
              <a:t>Threshold optimizer</a:t>
            </a:r>
          </a:p>
        </p:txBody>
      </p:sp>
      <p:sp>
        <p:nvSpPr>
          <p:cNvPr id="15" name="Rectangle 14"/>
          <p:cNvSpPr/>
          <p:nvPr/>
        </p:nvSpPr>
        <p:spPr>
          <a:xfrm>
            <a:off x="8827898" y="3026664"/>
            <a:ext cx="930156" cy="41148"/>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233540" y="2987344"/>
            <a:ext cx="118872" cy="118872"/>
          </a:xfrm>
          <a:prstGeom prst="ellipse">
            <a:avLst/>
          </a:prstGeom>
          <a:solidFill>
            <a:srgbClr val="FFFFFF"/>
          </a:solidFill>
          <a:ln w="12700">
            <a:solidFill>
              <a:srgbClr val="0076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725912" y="2944368"/>
            <a:ext cx="914400" cy="228600"/>
          </a:xfrm>
          <a:prstGeom prst="rect">
            <a:avLst/>
          </a:prstGeom>
          <a:noFill/>
        </p:spPr>
        <p:txBody>
          <a:bodyPr wrap="square" lIns="0" rIns="0" tIns="0" bIns="0">
            <a:spAutoFit/>
          </a:bodyPr>
          <a:lstStyle/>
          <a:p>
            <a:pPr algn="r">
              <a:spcAft>
                <a:spcPts val="0"/>
              </a:spcAft>
            </a:pPr>
            <a:r>
              <a:rPr sz="900" b="0">
                <a:solidFill>
                  <a:srgbClr val="767676"/>
                </a:solidFill>
                <a:latin typeface="Calibri"/>
              </a:rPr>
              <a:t>spans zero</a:t>
            </a:r>
          </a:p>
        </p:txBody>
      </p:sp>
      <p:sp>
        <p:nvSpPr>
          <p:cNvPr id="18" name="TextBox 17"/>
          <p:cNvSpPr txBox="1"/>
          <p:nvPr/>
        </p:nvSpPr>
        <p:spPr>
          <a:xfrm>
            <a:off x="6355080" y="3346704"/>
            <a:ext cx="2167128" cy="228600"/>
          </a:xfrm>
          <a:prstGeom prst="rect">
            <a:avLst/>
          </a:prstGeom>
          <a:noFill/>
        </p:spPr>
        <p:txBody>
          <a:bodyPr wrap="square" lIns="0" rIns="0" tIns="0" bIns="0">
            <a:spAutoFit/>
          </a:bodyPr>
          <a:lstStyle/>
          <a:p>
            <a:pPr algn="l">
              <a:spcAft>
                <a:spcPts val="0"/>
              </a:spcAft>
            </a:pPr>
            <a:r>
              <a:rPr sz="1000" b="0">
                <a:solidFill>
                  <a:srgbClr val="1A1A1A"/>
                </a:solidFill>
                <a:latin typeface="Calibri"/>
              </a:rPr>
              <a:t>Exponentiated gradient</a:t>
            </a:r>
          </a:p>
        </p:txBody>
      </p:sp>
      <p:sp>
        <p:nvSpPr>
          <p:cNvPr id="19" name="Rectangle 18"/>
          <p:cNvSpPr/>
          <p:nvPr/>
        </p:nvSpPr>
        <p:spPr>
          <a:xfrm>
            <a:off x="8924121" y="3429000"/>
            <a:ext cx="878035" cy="41148"/>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301698" y="3389680"/>
            <a:ext cx="118872" cy="118872"/>
          </a:xfrm>
          <a:prstGeom prst="ellipse">
            <a:avLst/>
          </a:prstGeom>
          <a:solidFill>
            <a:srgbClr val="FFFFFF"/>
          </a:solidFill>
          <a:ln w="12700">
            <a:solidFill>
              <a:srgbClr val="0076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725912" y="3346704"/>
            <a:ext cx="914400" cy="228600"/>
          </a:xfrm>
          <a:prstGeom prst="rect">
            <a:avLst/>
          </a:prstGeom>
          <a:noFill/>
        </p:spPr>
        <p:txBody>
          <a:bodyPr wrap="square" lIns="0" rIns="0" tIns="0" bIns="0">
            <a:spAutoFit/>
          </a:bodyPr>
          <a:lstStyle/>
          <a:p>
            <a:pPr algn="r">
              <a:spcAft>
                <a:spcPts val="0"/>
              </a:spcAft>
            </a:pPr>
            <a:r>
              <a:rPr sz="900" b="0">
                <a:solidFill>
                  <a:srgbClr val="767676"/>
                </a:solidFill>
                <a:latin typeface="Calibri"/>
              </a:rPr>
              <a:t>spans zero</a:t>
            </a:r>
          </a:p>
        </p:txBody>
      </p:sp>
      <p:sp>
        <p:nvSpPr>
          <p:cNvPr id="22" name="TextBox 21"/>
          <p:cNvSpPr txBox="1"/>
          <p:nvPr/>
        </p:nvSpPr>
        <p:spPr>
          <a:xfrm>
            <a:off x="6355080" y="3749040"/>
            <a:ext cx="2167128" cy="228600"/>
          </a:xfrm>
          <a:prstGeom prst="rect">
            <a:avLst/>
          </a:prstGeom>
          <a:noFill/>
        </p:spPr>
        <p:txBody>
          <a:bodyPr wrap="square" lIns="0" rIns="0" tIns="0" bIns="0">
            <a:spAutoFit/>
          </a:bodyPr>
          <a:lstStyle/>
          <a:p>
            <a:pPr algn="l">
              <a:spcAft>
                <a:spcPts val="0"/>
              </a:spcAft>
            </a:pPr>
            <a:r>
              <a:rPr sz="1000" b="0">
                <a:solidFill>
                  <a:srgbClr val="1A1A1A"/>
                </a:solidFill>
                <a:latin typeface="Calibri"/>
              </a:rPr>
              <a:t>TO gap minus EG gap</a:t>
            </a:r>
          </a:p>
        </p:txBody>
      </p:sp>
      <p:sp>
        <p:nvSpPr>
          <p:cNvPr id="23" name="Rectangle 22"/>
          <p:cNvSpPr/>
          <p:nvPr/>
        </p:nvSpPr>
        <p:spPr>
          <a:xfrm>
            <a:off x="9168688" y="3831336"/>
            <a:ext cx="533236" cy="41148"/>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369856" y="3792016"/>
            <a:ext cx="118872" cy="118872"/>
          </a:xfrm>
          <a:prstGeom prst="ellipse">
            <a:avLst/>
          </a:prstGeom>
          <a:solidFill>
            <a:srgbClr val="FFFFFF"/>
          </a:solidFill>
          <a:ln w="12700">
            <a:solidFill>
              <a:srgbClr val="0076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725912" y="3749040"/>
            <a:ext cx="914400" cy="228600"/>
          </a:xfrm>
          <a:prstGeom prst="rect">
            <a:avLst/>
          </a:prstGeom>
          <a:noFill/>
        </p:spPr>
        <p:txBody>
          <a:bodyPr wrap="square" lIns="0" rIns="0" tIns="0" bIns="0">
            <a:spAutoFit/>
          </a:bodyPr>
          <a:lstStyle/>
          <a:p>
            <a:pPr algn="r">
              <a:spcAft>
                <a:spcPts val="0"/>
              </a:spcAft>
            </a:pPr>
            <a:r>
              <a:rPr sz="900" b="0">
                <a:solidFill>
                  <a:srgbClr val="767676"/>
                </a:solidFill>
                <a:latin typeface="Calibri"/>
              </a:rPr>
              <a:t>tied</a:t>
            </a:r>
          </a:p>
        </p:txBody>
      </p:sp>
      <p:sp>
        <p:nvSpPr>
          <p:cNvPr id="26" name="TextBox 25"/>
          <p:cNvSpPr txBox="1"/>
          <p:nvPr/>
        </p:nvSpPr>
        <p:spPr>
          <a:xfrm>
            <a:off x="6355080" y="4151376"/>
            <a:ext cx="2167128" cy="228600"/>
          </a:xfrm>
          <a:prstGeom prst="rect">
            <a:avLst/>
          </a:prstGeom>
          <a:noFill/>
        </p:spPr>
        <p:txBody>
          <a:bodyPr wrap="square" lIns="0" rIns="0" tIns="0" bIns="0">
            <a:spAutoFit/>
          </a:bodyPr>
          <a:lstStyle/>
          <a:p>
            <a:pPr algn="l">
              <a:spcAft>
                <a:spcPts val="0"/>
              </a:spcAft>
            </a:pPr>
            <a:r>
              <a:rPr sz="1000" b="0">
                <a:solidFill>
                  <a:srgbClr val="1A1A1A"/>
                </a:solidFill>
                <a:latin typeface="Calibri"/>
              </a:rPr>
              <a:t>EG recall minus TO recall</a:t>
            </a:r>
          </a:p>
        </p:txBody>
      </p:sp>
      <p:sp>
        <p:nvSpPr>
          <p:cNvPr id="27" name="Rectangle 26"/>
          <p:cNvSpPr/>
          <p:nvPr/>
        </p:nvSpPr>
        <p:spPr>
          <a:xfrm>
            <a:off x="9697915" y="4233672"/>
            <a:ext cx="284660" cy="41148"/>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774795" y="4194352"/>
            <a:ext cx="118872" cy="118872"/>
          </a:xfrm>
          <a:prstGeom prst="ellipse">
            <a:avLst/>
          </a:prstGeom>
          <a:solidFill>
            <a:srgbClr val="FFCC2A"/>
          </a:solidFill>
          <a:ln w="12700">
            <a:solidFill>
              <a:srgbClr val="0076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725912" y="4151376"/>
            <a:ext cx="914400" cy="228600"/>
          </a:xfrm>
          <a:prstGeom prst="rect">
            <a:avLst/>
          </a:prstGeom>
          <a:noFill/>
        </p:spPr>
        <p:txBody>
          <a:bodyPr wrap="square" lIns="0" rIns="0" tIns="0" bIns="0">
            <a:spAutoFit/>
          </a:bodyPr>
          <a:lstStyle/>
          <a:p>
            <a:pPr algn="r">
              <a:spcAft>
                <a:spcPts val="0"/>
              </a:spcAft>
            </a:pPr>
            <a:r>
              <a:rPr sz="900" b="1">
                <a:solidFill>
                  <a:srgbClr val="1A1A1A"/>
                </a:solidFill>
                <a:latin typeface="Calibri"/>
              </a:rPr>
              <a:t>real</a:t>
            </a:r>
          </a:p>
        </p:txBody>
      </p:sp>
      <p:sp>
        <p:nvSpPr>
          <p:cNvPr id="30" name="TextBox 29"/>
          <p:cNvSpPr txBox="1"/>
          <p:nvPr/>
        </p:nvSpPr>
        <p:spPr>
          <a:xfrm>
            <a:off x="6355080" y="4892040"/>
            <a:ext cx="5285232" cy="822960"/>
          </a:xfrm>
          <a:prstGeom prst="rect">
            <a:avLst/>
          </a:prstGeom>
          <a:noFill/>
        </p:spPr>
        <p:txBody>
          <a:bodyPr wrap="square" lIns="0" rIns="0" tIns="0" bIns="0">
            <a:spAutoFit/>
          </a:bodyPr>
          <a:lstStyle/>
          <a:p>
            <a:pPr algn="l">
              <a:lnSpc>
                <a:spcPct val="120000"/>
              </a:lnSpc>
              <a:spcAft>
                <a:spcPts val="600"/>
              </a:spcAft>
            </a:pPr>
            <a:r>
              <a:rPr sz="1000" b="0">
                <a:solidFill>
                  <a:srgbClr val="767676"/>
                </a:solidFill>
                <a:latin typeface="Calibri"/>
              </a:rPr>
              <a:t>One interval clears zero on the harm, and one clears it on the cost. Everything between them is a tie. The sign flips after mitigation, so the mitigation table reports magnitudes and this one is signed.</a:t>
            </a:r>
          </a:p>
        </p:txBody>
      </p:sp>
      <p:sp>
        <p:nvSpPr>
          <p:cNvPr id="31" name="TextBox 30"/>
          <p:cNvSpPr txBox="1"/>
          <p:nvPr/>
        </p:nvSpPr>
        <p:spPr>
          <a:xfrm>
            <a:off x="566928" y="4828032"/>
            <a:ext cx="5394960" cy="1371600"/>
          </a:xfrm>
          <a:prstGeom prst="rect">
            <a:avLst/>
          </a:prstGeom>
          <a:noFill/>
        </p:spPr>
        <p:txBody>
          <a:bodyPr wrap="square" lIns="0" rIns="0" tIns="0" bIns="0">
            <a:spAutoFit/>
          </a:bodyPr>
          <a:lstStyle/>
          <a:p>
            <a:pPr algn="l">
              <a:lnSpc>
                <a:spcPct val="115000"/>
              </a:lnSpc>
              <a:spcAft>
                <a:spcPts val="500"/>
              </a:spcAft>
            </a:pPr>
            <a:r>
              <a:rPr sz="1200" b="1">
                <a:solidFill>
                  <a:srgbClr val="1A1A1A"/>
                </a:solidFill>
                <a:latin typeface="Calibri"/>
              </a:rPr>
              <a:t>The harm is real.</a:t>
            </a:r>
            <a:r>
              <a:rPr sz="1200" b="0">
                <a:solidFill>
                  <a:srgbClr val="595959"/>
                </a:solidFill>
                <a:latin typeface="Calibri"/>
              </a:rPr>
              <a:t> The 0.177 gap never crosses zero across two thousand resamples.</a:t>
            </a:r>
          </a:p>
          <a:p>
            <a:pPr algn="l">
              <a:lnSpc>
                <a:spcPct val="115000"/>
              </a:lnSpc>
              <a:spcAft>
                <a:spcPts val="500"/>
              </a:spcAft>
            </a:pPr>
            <a:r>
              <a:rPr sz="1200" b="1">
                <a:solidFill>
                  <a:srgbClr val="1A1A1A"/>
                </a:solidFill>
                <a:latin typeface="Calibri"/>
              </a:rPr>
              <a:t>0.009 is not better than 0.026.</a:t>
            </a:r>
            <a:r>
              <a:rPr sz="1200" b="0">
                <a:solidFill>
                  <a:srgbClr val="595959"/>
                </a:solidFill>
                <a:latin typeface="Calibri"/>
              </a:rPr>
              <a:t> They are the same number wearing different clothes.</a:t>
            </a:r>
          </a:p>
          <a:p>
            <a:pPr algn="l">
              <a:lnSpc>
                <a:spcPct val="115000"/>
              </a:lnSpc>
              <a:spcAft>
                <a:spcPts val="500"/>
              </a:spcAft>
            </a:pPr>
            <a:r>
              <a:rPr sz="1200" b="1">
                <a:solidFill>
                  <a:srgbClr val="1A1A1A"/>
                </a:solidFill>
                <a:latin typeface="Calibri"/>
              </a:rPr>
              <a:t>One difference survives, and it is cost.</a:t>
            </a:r>
            <a:r>
              <a:rPr sz="1200" b="0">
                <a:solidFill>
                  <a:srgbClr val="595959"/>
                </a:solidFill>
                <a:latin typeface="Calibri"/>
              </a:rPr>
              <a:t> Eight points of recall against nineteen.</a:t>
            </a:r>
          </a:p>
        </p:txBody>
      </p:sp>
      <p:sp>
        <p:nvSpPr>
          <p:cNvPr id="32" name="TextBox 31"/>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threshold optimizer closed the gap largely by catching fewer people. Accuracy went up while the tool got worse at its job. Fixing a gap by helping fewer people is not a fix.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verdict, and what it costs</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726 test students at the operating threshold of 0.445.</a:t>
            </a:r>
          </a:p>
        </p:txBody>
      </p:sp>
      <p:pic>
        <p:nvPicPr>
          <p:cNvPr id="4" name="Picture 3" descr="operating_point.png"/>
          <p:cNvPicPr>
            <a:picLocks noChangeAspect="1"/>
          </p:cNvPicPr>
          <p:nvPr/>
        </p:nvPicPr>
        <p:blipFill>
          <a:blip r:embed="rId2"/>
          <a:stretch>
            <a:fillRect/>
          </a:stretch>
        </p:blipFill>
        <p:spPr>
          <a:xfrm>
            <a:off x="566928" y="1600200"/>
            <a:ext cx="6858000" cy="2504661"/>
          </a:xfrm>
          <a:prstGeom prst="rect">
            <a:avLst/>
          </a:prstGeom>
        </p:spPr>
      </p:pic>
      <p:sp>
        <p:nvSpPr>
          <p:cNvPr id="5" name="TextBox 4"/>
          <p:cNvSpPr txBox="1"/>
          <p:nvPr/>
        </p:nvSpPr>
        <p:spPr>
          <a:xfrm>
            <a:off x="566928" y="4343400"/>
            <a:ext cx="6858000" cy="1828800"/>
          </a:xfrm>
          <a:prstGeom prst="rect">
            <a:avLst/>
          </a:prstGeom>
          <a:noFill/>
        </p:spPr>
        <p:txBody>
          <a:bodyPr wrap="square" lIns="0" rIns="0" tIns="0" bIns="0">
            <a:spAutoFit/>
          </a:bodyPr>
          <a:lstStyle/>
          <a:p>
            <a:pPr algn="l">
              <a:lnSpc>
                <a:spcPct val="125000"/>
              </a:lnSpc>
              <a:spcAft>
                <a:spcPts val="800"/>
              </a:spcAft>
            </a:pPr>
            <a:r>
              <a:rPr sz="1200" b="1">
                <a:solidFill>
                  <a:srgbClr val="1A1A1A"/>
                </a:solidFill>
                <a:latin typeface="Calibri"/>
              </a:rPr>
              <a:t>Recall 0.796</a:t>
            </a:r>
            <a:r>
              <a:rPr sz="1200" b="0">
                <a:solidFill>
                  <a:srgbClr val="595959"/>
                </a:solidFill>
                <a:latin typeface="Calibri"/>
              </a:rPr>
              <a:t> at a cutoff chosen against staffing, on enrollment-time data only.</a:t>
            </a:r>
          </a:p>
          <a:p>
            <a:pPr algn="l">
              <a:lnSpc>
                <a:spcPct val="125000"/>
              </a:lnSpc>
              <a:spcAft>
                <a:spcPts val="800"/>
              </a:spcAft>
            </a:pPr>
            <a:r>
              <a:rPr sz="1200" b="1">
                <a:solidFill>
                  <a:srgbClr val="1A1A1A"/>
                </a:solidFill>
                <a:latin typeface="Calibri"/>
              </a:rPr>
              <a:t>Train PR AUC 0.840 against test 0.822</a:t>
            </a:r>
            <a:r>
              <a:rPr sz="1200" b="0">
                <a:solidFill>
                  <a:srgbClr val="595959"/>
                </a:solidFill>
                <a:latin typeface="Calibri"/>
              </a:rPr>
              <a:t>, a gap of 0.018. The model learned the pattern, not the noise.</a:t>
            </a:r>
          </a:p>
          <a:p>
            <a:pPr algn="l">
              <a:lnSpc>
                <a:spcPct val="125000"/>
              </a:lnSpc>
              <a:spcAft>
                <a:spcPts val="800"/>
              </a:spcAft>
            </a:pPr>
            <a:r>
              <a:rPr sz="1200" b="1">
                <a:solidFill>
                  <a:srgbClr val="1A1A1A"/>
                </a:solidFill>
                <a:latin typeface="Calibri"/>
              </a:rPr>
              <a:t>Gender is mitigated. Scholarship and debtor are deliberately not</a:t>
            </a:r>
            <a:r>
              <a:rPr sz="1200" b="0">
                <a:solidFill>
                  <a:srgbClr val="595959"/>
                </a:solidFill>
                <a:latin typeface="Calibri"/>
              </a:rPr>
              <a:t>, because those gaps are reported rather than invented. Age band is unresolved, error gap 0.572, and it needs its own pass.</a:t>
            </a:r>
          </a:p>
        </p:txBody>
      </p:sp>
      <p:sp>
        <p:nvSpPr>
          <p:cNvPr id="6" name="TextBox 5"/>
          <p:cNvSpPr txBox="1"/>
          <p:nvPr/>
        </p:nvSpPr>
        <p:spPr>
          <a:xfrm>
            <a:off x="7818120" y="1737360"/>
            <a:ext cx="1828800" cy="603504"/>
          </a:xfrm>
          <a:prstGeom prst="rect">
            <a:avLst/>
          </a:prstGeom>
          <a:noFill/>
        </p:spPr>
        <p:txBody>
          <a:bodyPr wrap="square" lIns="0" rIns="0" tIns="0" bIns="0">
            <a:spAutoFit/>
          </a:bodyPr>
          <a:lstStyle/>
          <a:p>
            <a:pPr algn="l">
              <a:spcAft>
                <a:spcPts val="0"/>
              </a:spcAft>
            </a:pPr>
            <a:r>
              <a:rPr sz="4400" b="1">
                <a:solidFill>
                  <a:srgbClr val="F6861F"/>
                </a:solidFill>
                <a:latin typeface="Cambria"/>
              </a:rPr>
              <a:t>226</a:t>
            </a:r>
          </a:p>
        </p:txBody>
      </p:sp>
      <p:sp>
        <p:nvSpPr>
          <p:cNvPr id="7" name="TextBox 6"/>
          <p:cNvSpPr txBox="1"/>
          <p:nvPr/>
        </p:nvSpPr>
        <p:spPr>
          <a:xfrm>
            <a:off x="7818120" y="2307336"/>
            <a:ext cx="182880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leavers caught</a:t>
            </a:r>
          </a:p>
        </p:txBody>
      </p:sp>
      <p:sp>
        <p:nvSpPr>
          <p:cNvPr id="8" name="TextBox 7"/>
          <p:cNvSpPr txBox="1"/>
          <p:nvPr/>
        </p:nvSpPr>
        <p:spPr>
          <a:xfrm>
            <a:off x="9829800" y="1737360"/>
            <a:ext cx="182880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58</a:t>
            </a:r>
          </a:p>
        </p:txBody>
      </p:sp>
      <p:sp>
        <p:nvSpPr>
          <p:cNvPr id="9" name="TextBox 8"/>
          <p:cNvSpPr txBox="1"/>
          <p:nvPr/>
        </p:nvSpPr>
        <p:spPr>
          <a:xfrm>
            <a:off x="9829800" y="2307336"/>
            <a:ext cx="182880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missed</a:t>
            </a:r>
          </a:p>
        </p:txBody>
      </p:sp>
      <p:sp>
        <p:nvSpPr>
          <p:cNvPr id="10" name="TextBox 9"/>
          <p:cNvSpPr txBox="1"/>
          <p:nvPr/>
        </p:nvSpPr>
        <p:spPr>
          <a:xfrm>
            <a:off x="7818120" y="3154680"/>
            <a:ext cx="384048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125</a:t>
            </a:r>
          </a:p>
        </p:txBody>
      </p:sp>
      <p:sp>
        <p:nvSpPr>
          <p:cNvPr id="11" name="TextBox 10"/>
          <p:cNvSpPr txBox="1"/>
          <p:nvPr/>
        </p:nvSpPr>
        <p:spPr>
          <a:xfrm>
            <a:off x="7818120" y="3724656"/>
            <a:ext cx="3840480" cy="457200"/>
          </a:xfrm>
          <a:prstGeom prst="rect">
            <a:avLst/>
          </a:prstGeom>
          <a:noFill/>
        </p:spPr>
        <p:txBody>
          <a:bodyPr wrap="square" lIns="0" rIns="0" tIns="0" bIns="0">
            <a:spAutoFit/>
          </a:bodyPr>
          <a:lstStyle/>
          <a:p>
            <a:pPr algn="l">
              <a:lnSpc>
                <a:spcPct val="115000"/>
              </a:lnSpc>
              <a:spcAft>
                <a:spcPts val="600"/>
              </a:spcAft>
            </a:pPr>
            <a:r>
              <a:rPr sz="1100" b="0">
                <a:solidFill>
                  <a:srgbClr val="767676"/>
                </a:solidFill>
                <a:latin typeface="Calibri"/>
              </a:rPr>
              <a:t>graduates contacted who were never going to leave</a:t>
            </a:r>
          </a:p>
        </p:txBody>
      </p:sp>
      <p:sp>
        <p:nvSpPr>
          <p:cNvPr id="12" name="TextBox 11"/>
          <p:cNvSpPr txBox="1"/>
          <p:nvPr/>
        </p:nvSpPr>
        <p:spPr>
          <a:xfrm>
            <a:off x="7818120" y="4343400"/>
            <a:ext cx="3840480" cy="1828800"/>
          </a:xfrm>
          <a:prstGeom prst="rect">
            <a:avLst/>
          </a:prstGeom>
          <a:noFill/>
        </p:spPr>
        <p:txBody>
          <a:bodyPr wrap="square" lIns="0" rIns="0" tIns="0" bIns="0">
            <a:spAutoFit/>
          </a:bodyPr>
          <a:lstStyle/>
          <a:p>
            <a:pPr algn="l">
              <a:lnSpc>
                <a:spcPct val="125000"/>
              </a:lnSpc>
              <a:spcAft>
                <a:spcPts val="600"/>
              </a:spcAft>
            </a:pPr>
            <a:r>
              <a:rPr sz="1200" b="0">
                <a:solidFill>
                  <a:srgbClr val="595959"/>
                </a:solidFill>
                <a:latin typeface="Calibri"/>
              </a:rPr>
              <a:t>Those 125 are the real cost of this tool. A student pulled into a retention conversation they did not need has been told, in effect, that a system thinks they are failing.</a:t>
            </a:r>
          </a:p>
        </p:txBody>
      </p:sp>
      <p:sp>
        <p:nvSpPr>
          <p:cNvPr id="13" name="TextBox 12"/>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A dropout model is not a scoreboard. It is a decision about which students get help. The right way to use this one is as a ranked prompt for a support team, checked by a person.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DocSecurity>0</DocSecurity>
  <PresentationFormat>Widescreen</PresentationFormat>
  <Slides>12</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Dropout, with a Fairness Audit</dc:title>
  <dc:subject>PGD AI/ML capstone, Pillar 5. Technical deck.</dc:subject>
  <dc:creator>jeryl.elixir.dev@outlook.com</dc:creator>
  <cp:keywords/>
  <dc:description/>
  <cp:lastModifiedBy>jeryl.elixir.dev@outlook.com</cp:lastModifiedBy>
  <cp:revision>1</cp:revision>
  <dcterms:created xsi:type="dcterms:W3CDTF">2026-07-14T06:57:18Z</dcterms:created>
  <dcterms:modified xsi:type="dcterms:W3CDTF">2026-07-14T06:57:18Z</dcterms:modified>
  <cp:category/>
  <cp:contentStatus/>
  <dc:identifier/>
  <dc:language>en-US</dc:language>
</cp:coreProperties>
</file>